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65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5388" autoAdjust="0"/>
  </p:normalViewPr>
  <p:slideViewPr>
    <p:cSldViewPr snapToGrid="0" snapToObjects="1">
      <p:cViewPr varScale="1">
        <p:scale>
          <a:sx n="112" d="100"/>
          <a:sy n="112" d="100"/>
        </p:scale>
        <p:origin x="61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8898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452151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Title and Content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9"/>
          <p:cNvSpPr txBox="1">
            <a:spLocks noGrp="1"/>
          </p:cNvSpPr>
          <p:nvPr>
            <p:ph type="body" idx="1"/>
          </p:nvPr>
        </p:nvSpPr>
        <p:spPr>
          <a:xfrm>
            <a:off x="914400" y="1314450"/>
            <a:ext cx="8001000" cy="33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3" name="Picture 2" descr="A red rectangular sign with a logo and a globe&#10;&#10;AI-generated content may be incorrect.">
            <a:extLst>
              <a:ext uri="{FF2B5EF4-FFF2-40B4-BE49-F238E27FC236}">
                <a16:creationId xmlns:a16="http://schemas.microsoft.com/office/drawing/2014/main" id="{E3B45E01-6076-AFEE-F2AB-CE7DAC5DAF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906" y="22034"/>
            <a:ext cx="652311" cy="1048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351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handigarh University Archives - Worldwide Transcript"/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37" y="1217517"/>
            <a:ext cx="2782983" cy="2782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3" name="Google Shape;93;p1"/>
          <p:cNvSpPr txBox="1"/>
          <p:nvPr/>
        </p:nvSpPr>
        <p:spPr>
          <a:xfrm>
            <a:off x="6572250" y="48815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/>
          <p:nvPr/>
        </p:nvSpPr>
        <p:spPr>
          <a:xfrm rot="10800000" flipH="1">
            <a:off x="7796638" y="4287563"/>
            <a:ext cx="968400" cy="867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/>
          <p:nvPr/>
        </p:nvSpPr>
        <p:spPr>
          <a:xfrm flipH="1">
            <a:off x="5284799" y="-48815"/>
            <a:ext cx="3859200" cy="4389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1593056" y="1519145"/>
            <a:ext cx="5122200" cy="11856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2659">
                <a:srgbClr val="FFFFFF">
                  <a:alpha val="0"/>
                </a:srgbClr>
              </a:gs>
              <a:gs pos="15000">
                <a:srgbClr val="FFFFFF">
                  <a:alpha val="33333"/>
                </a:srgbClr>
              </a:gs>
              <a:gs pos="51000">
                <a:schemeClr val="lt1"/>
              </a:gs>
              <a:gs pos="94000">
                <a:srgbClr val="FFFFFF">
                  <a:alpha val="33333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/>
          <p:nvPr/>
        </p:nvSpPr>
        <p:spPr>
          <a:xfrm flipH="1">
            <a:off x="7369200" y="3955164"/>
            <a:ext cx="1774800" cy="1200300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888896" y="951584"/>
            <a:ext cx="8096400" cy="3643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200" b="1" i="0" u="none" strike="noStrike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UNIVERSITY INSTITUTE OF </a:t>
            </a:r>
            <a:endParaRPr sz="1050" b="0" i="0" u="none" strike="noStrike" cap="non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200" b="1" i="0" u="none" strike="noStrike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DEPARTMENT OF TT</a:t>
            </a:r>
            <a:endParaRPr sz="1050" b="0" i="0" u="none" strike="noStrike" cap="non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ADVANCED DATA STRUCTURE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3</a:t>
            </a:r>
            <a:r>
              <a:rPr lang="en-US" sz="2000" b="1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rd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 Sem</a:t>
            </a:r>
            <a:endParaRPr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98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400" b="0" i="0" u="none" strike="noStrike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(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25CSH-242</a:t>
            </a:r>
            <a:r>
              <a:rPr lang="en-US" sz="2400" b="0" i="0" u="none" strike="noStrike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)</a:t>
            </a:r>
            <a:endParaRPr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1120"/>
              </a:spcBef>
              <a:buSzPts val="3200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Abhishek Thakur (E19789)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                       </a:t>
            </a:r>
            <a:r>
              <a:rPr lang="en-US" sz="18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CUmail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-ID :</a:t>
            </a:r>
          </a:p>
          <a:p>
            <a:pPr>
              <a:spcBef>
                <a:spcPts val="1120"/>
              </a:spcBef>
              <a:buSzPts val="3200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Sourav Jaiswal (E19756) – MSC		Sourav.e19756@cumail.in</a:t>
            </a:r>
            <a:endParaRPr lang="en-US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1120"/>
              </a:spcBef>
              <a:buSzPts val="3200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Technical Trainer				abhishek.e19789@cumail.in</a:t>
            </a:r>
            <a:endParaRPr lang="en-US" sz="32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5E2170-6E52-163D-4579-180ED8258362}"/>
              </a:ext>
            </a:extLst>
          </p:cNvPr>
          <p:cNvSpPr txBox="1"/>
          <p:nvPr/>
        </p:nvSpPr>
        <p:spPr>
          <a:xfrm>
            <a:off x="5284800" y="0"/>
            <a:ext cx="385919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800" b="1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Academic Session 2026-27 </a:t>
            </a:r>
          </a:p>
          <a:p>
            <a:pPr algn="r"/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ODD Semester July-Dec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emplate_unpacked/ppt/media/image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" y="27432"/>
            <a:ext cx="685800" cy="10058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91440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Experiment 01 — Overview</a:t>
            </a:r>
            <a:endParaRPr lang="en-US" sz="2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5563935"/>
              </p:ext>
            </p:extLst>
          </p:nvPr>
        </p:nvGraphicFramePr>
        <p:xfrm>
          <a:off x="274320" y="1048947"/>
          <a:ext cx="8595360" cy="3950208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Experiment No.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20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01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Title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Performance Analysis of Recursive and Iterative Algorithms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Objective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20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Compare time &amp; space complexity of recursive vs iterative approaches using Fibonacci as a case study.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 Mapping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CO1 — Analyze and compare algorithm complexity.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Key Concepts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20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Call Stack  |  Base Case  |  Recursion  |  Iteration  |  Time Complexity  |  Space Complexity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Tools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Python / Java / C++  |  IDE (VS Code / Eclipse / g++)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emplate_unpacked/ppt/media/image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" y="27432"/>
            <a:ext cx="685800" cy="10058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91440"/>
            <a:ext cx="9098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Recursion vs Iteration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342900" y="1097280"/>
            <a:ext cx="4160520" cy="3187337"/>
          </a:xfrm>
          <a:prstGeom prst="rect">
            <a:avLst/>
          </a:prstGeom>
          <a:solidFill>
            <a:srgbClr val="FFF5F5"/>
          </a:solidFill>
          <a:ln w="12700">
            <a:solidFill>
              <a:srgbClr val="C0202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42900" y="1077686"/>
            <a:ext cx="4160520" cy="411480"/>
          </a:xfrm>
          <a:prstGeom prst="rect">
            <a:avLst/>
          </a:prstGeom>
          <a:solidFill>
            <a:srgbClr val="C0202A"/>
          </a:solidFill>
          <a:ln w="12700">
            <a:solidFill>
              <a:srgbClr val="C0202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1082257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RECURSION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11480" y="1830106"/>
            <a:ext cx="3886200" cy="24741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function that calls itself with a progressively smaller sub-problem until a base case is reached.</a:t>
            </a:r>
            <a:endParaRPr lang="en-US" sz="1150" dirty="0"/>
          </a:p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Uses the call stack — each frame stores local variables and return address.</a:t>
            </a:r>
            <a:endParaRPr lang="en-US" sz="1150" dirty="0"/>
          </a:p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Stack space: O(n) — each recursive call adds a new frame.</a:t>
            </a:r>
            <a:endParaRPr lang="en-US" sz="1150" dirty="0"/>
          </a:p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Risk of StackOverflow for very large inputs.</a:t>
            </a:r>
            <a:endParaRPr lang="en-US" sz="1150" dirty="0"/>
          </a:p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More readable for problems with natural sub-structure (trees, fractals, D&amp;C).</a:t>
            </a:r>
            <a:endParaRPr lang="en-US" sz="115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Examples: Factorial, Fibonacci, Tower of Hanoi, Tree Traversal.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709160" y="1097279"/>
            <a:ext cx="4160520" cy="3187337"/>
          </a:xfrm>
          <a:prstGeom prst="rect">
            <a:avLst/>
          </a:prstGeom>
          <a:solidFill>
            <a:srgbClr val="F5F5FF"/>
          </a:solidFill>
          <a:ln w="12700">
            <a:solidFill>
              <a:srgbClr val="2C4A8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0" name="Shape 7"/>
          <p:cNvSpPr/>
          <p:nvPr/>
        </p:nvSpPr>
        <p:spPr>
          <a:xfrm>
            <a:off x="4709160" y="1082257"/>
            <a:ext cx="4160520" cy="411480"/>
          </a:xfrm>
          <a:prstGeom prst="rect">
            <a:avLst/>
          </a:prstGeom>
          <a:solidFill>
            <a:srgbClr val="2C4A8C"/>
          </a:solidFill>
          <a:ln w="12700">
            <a:solidFill>
              <a:srgbClr val="2C4A8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09160" y="1064623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ITERATION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846320" y="1745197"/>
            <a:ext cx="3886200" cy="24741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Solving a problem by repeatedly executing a loop body until a termination condition becomes false.</a:t>
            </a:r>
            <a:endParaRPr lang="en-US" sz="1150" dirty="0"/>
          </a:p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Uses only loop variables — no additional stack frames created.</a:t>
            </a:r>
            <a:endParaRPr lang="en-US" sz="1150" dirty="0"/>
          </a:p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Space: O(1) — constant auxiliary space regardless of n.</a:t>
            </a:r>
            <a:endParaRPr lang="en-US" sz="1150" dirty="0"/>
          </a:p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risk of stack overflow; handles very large inputs safely.</a:t>
            </a:r>
            <a:endParaRPr lang="en-US" sz="1150" dirty="0"/>
          </a:p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Slightly harder to read for problems with natural sub-structure.</a:t>
            </a:r>
            <a:endParaRPr lang="en-US" sz="115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Examples: Array sorting, Fibonacci, String reversal, Pattern printing.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emplate_unpacked/ppt/media/image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" y="27432"/>
            <a:ext cx="685800" cy="10058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91440"/>
            <a:ext cx="9098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Concepts</a:t>
            </a:r>
            <a:endParaRPr lang="en-US" sz="2200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40BE229-BB6A-24D5-D442-A2FD93F2F6F0}"/>
              </a:ext>
            </a:extLst>
          </p:cNvPr>
          <p:cNvGrpSpPr/>
          <p:nvPr/>
        </p:nvGrpSpPr>
        <p:grpSpPr>
          <a:xfrm>
            <a:off x="342900" y="1128631"/>
            <a:ext cx="8412480" cy="3584448"/>
            <a:chOff x="320040" y="749808"/>
            <a:chExt cx="8412480" cy="3584448"/>
          </a:xfrm>
        </p:grpSpPr>
        <p:sp>
          <p:nvSpPr>
            <p:cNvPr id="5" name="Shape 2"/>
            <p:cNvSpPr/>
            <p:nvPr/>
          </p:nvSpPr>
          <p:spPr>
            <a:xfrm>
              <a:off x="320040" y="749808"/>
              <a:ext cx="2651760" cy="16916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0202A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6" name="Shape 3"/>
            <p:cNvSpPr/>
            <p:nvPr/>
          </p:nvSpPr>
          <p:spPr>
            <a:xfrm>
              <a:off x="320040" y="749808"/>
              <a:ext cx="2651760" cy="347472"/>
            </a:xfrm>
            <a:prstGeom prst="rect">
              <a:avLst/>
            </a:prstGeom>
            <a:solidFill>
              <a:srgbClr val="C0202A"/>
            </a:solidFill>
            <a:ln w="12700">
              <a:solidFill>
                <a:srgbClr val="C0202A"/>
              </a:solidFill>
              <a:prstDash val="solid"/>
            </a:ln>
          </p:spPr>
        </p:sp>
        <p:sp>
          <p:nvSpPr>
            <p:cNvPr id="7" name="Text 4"/>
            <p:cNvSpPr/>
            <p:nvPr/>
          </p:nvSpPr>
          <p:spPr>
            <a:xfrm>
              <a:off x="320040" y="749808"/>
              <a:ext cx="265176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Call Stack</a:t>
              </a:r>
              <a:endParaRPr lang="en-US" sz="1200" dirty="0"/>
            </a:p>
          </p:txBody>
        </p:sp>
        <p:sp>
          <p:nvSpPr>
            <p:cNvPr id="8" name="Text 5"/>
            <p:cNvSpPr/>
            <p:nvPr/>
          </p:nvSpPr>
          <p:spPr>
            <a:xfrm>
              <a:off x="411480" y="1133856"/>
              <a:ext cx="2468880" cy="123444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1A1A1A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A stack data structure that stores information about active subroutines. Each recursive call pushes a new frame; returning pops it.</a:t>
              </a:r>
              <a:endParaRPr lang="en-US" sz="1050" dirty="0"/>
            </a:p>
          </p:txBody>
        </p:sp>
        <p:sp>
          <p:nvSpPr>
            <p:cNvPr id="9" name="Shape 6"/>
            <p:cNvSpPr/>
            <p:nvPr/>
          </p:nvSpPr>
          <p:spPr>
            <a:xfrm>
              <a:off x="3200400" y="749808"/>
              <a:ext cx="2651760" cy="16916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2C4A8C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10" name="Shape 7"/>
            <p:cNvSpPr/>
            <p:nvPr/>
          </p:nvSpPr>
          <p:spPr>
            <a:xfrm>
              <a:off x="3200400" y="749808"/>
              <a:ext cx="2651760" cy="347472"/>
            </a:xfrm>
            <a:prstGeom prst="rect">
              <a:avLst/>
            </a:prstGeom>
            <a:solidFill>
              <a:srgbClr val="2C4A8C"/>
            </a:solidFill>
            <a:ln w="12700">
              <a:solidFill>
                <a:srgbClr val="2C4A8C"/>
              </a:solidFill>
              <a:prstDash val="solid"/>
            </a:ln>
          </p:spPr>
        </p:sp>
        <p:sp>
          <p:nvSpPr>
            <p:cNvPr id="11" name="Text 8"/>
            <p:cNvSpPr/>
            <p:nvPr/>
          </p:nvSpPr>
          <p:spPr>
            <a:xfrm>
              <a:off x="3200400" y="749808"/>
              <a:ext cx="265176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Base Case</a:t>
              </a:r>
              <a:endParaRPr lang="en-US" sz="1200" dirty="0"/>
            </a:p>
          </p:txBody>
        </p:sp>
        <p:sp>
          <p:nvSpPr>
            <p:cNvPr id="12" name="Text 9"/>
            <p:cNvSpPr/>
            <p:nvPr/>
          </p:nvSpPr>
          <p:spPr>
            <a:xfrm>
              <a:off x="3291840" y="1133856"/>
              <a:ext cx="2468880" cy="123444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1A1A1A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The condition that stops recursion. Without it, the function calls itself infinitely, causing a stack overflow.</a:t>
              </a:r>
              <a:endParaRPr lang="en-US" sz="1050" dirty="0"/>
            </a:p>
          </p:txBody>
        </p:sp>
        <p:sp>
          <p:nvSpPr>
            <p:cNvPr id="13" name="Shape 10"/>
            <p:cNvSpPr/>
            <p:nvPr/>
          </p:nvSpPr>
          <p:spPr>
            <a:xfrm>
              <a:off x="6080760" y="749808"/>
              <a:ext cx="2651760" cy="16916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1A6B3A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14" name="Shape 11"/>
            <p:cNvSpPr/>
            <p:nvPr/>
          </p:nvSpPr>
          <p:spPr>
            <a:xfrm>
              <a:off x="6080760" y="749808"/>
              <a:ext cx="2651760" cy="347472"/>
            </a:xfrm>
            <a:prstGeom prst="rect">
              <a:avLst/>
            </a:prstGeom>
            <a:solidFill>
              <a:srgbClr val="1A6B3A"/>
            </a:solidFill>
            <a:ln w="12700">
              <a:solidFill>
                <a:srgbClr val="1A6B3A"/>
              </a:solidFill>
              <a:prstDash val="solid"/>
            </a:ln>
          </p:spPr>
        </p:sp>
        <p:sp>
          <p:nvSpPr>
            <p:cNvPr id="15" name="Text 12"/>
            <p:cNvSpPr/>
            <p:nvPr/>
          </p:nvSpPr>
          <p:spPr>
            <a:xfrm>
              <a:off x="6080760" y="749808"/>
              <a:ext cx="265176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Tail Recursion</a:t>
              </a:r>
              <a:endParaRPr lang="en-US" sz="1200" dirty="0"/>
            </a:p>
          </p:txBody>
        </p:sp>
        <p:sp>
          <p:nvSpPr>
            <p:cNvPr id="16" name="Text 13"/>
            <p:cNvSpPr/>
            <p:nvPr/>
          </p:nvSpPr>
          <p:spPr>
            <a:xfrm>
              <a:off x="6172200" y="1133856"/>
              <a:ext cx="2468880" cy="123444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1A1A1A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A recursive call made as the last operation. Compilers can optimize this into iteration, eliminating stack overhead.</a:t>
              </a:r>
              <a:endParaRPr lang="en-US" sz="1050" dirty="0"/>
            </a:p>
          </p:txBody>
        </p:sp>
        <p:sp>
          <p:nvSpPr>
            <p:cNvPr id="17" name="Shape 14"/>
            <p:cNvSpPr/>
            <p:nvPr/>
          </p:nvSpPr>
          <p:spPr>
            <a:xfrm>
              <a:off x="320040" y="2642616"/>
              <a:ext cx="2651760" cy="16916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0202A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18" name="Shape 15"/>
            <p:cNvSpPr/>
            <p:nvPr/>
          </p:nvSpPr>
          <p:spPr>
            <a:xfrm>
              <a:off x="320040" y="2642616"/>
              <a:ext cx="2651760" cy="347472"/>
            </a:xfrm>
            <a:prstGeom prst="rect">
              <a:avLst/>
            </a:prstGeom>
            <a:solidFill>
              <a:srgbClr val="C0202A"/>
            </a:solidFill>
            <a:ln w="12700">
              <a:solidFill>
                <a:srgbClr val="C0202A"/>
              </a:solidFill>
              <a:prstDash val="solid"/>
            </a:ln>
          </p:spPr>
        </p:sp>
        <p:sp>
          <p:nvSpPr>
            <p:cNvPr id="19" name="Text 16"/>
            <p:cNvSpPr/>
            <p:nvPr/>
          </p:nvSpPr>
          <p:spPr>
            <a:xfrm>
              <a:off x="320040" y="2642616"/>
              <a:ext cx="265176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Memoization</a:t>
              </a:r>
              <a:endParaRPr lang="en-US" sz="1200" dirty="0"/>
            </a:p>
          </p:txBody>
        </p:sp>
        <p:sp>
          <p:nvSpPr>
            <p:cNvPr id="20" name="Text 17"/>
            <p:cNvSpPr/>
            <p:nvPr/>
          </p:nvSpPr>
          <p:spPr>
            <a:xfrm>
              <a:off x="411480" y="3026664"/>
              <a:ext cx="2468880" cy="123444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1A1A1A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Caching results of expensive function calls. Converts O(2ⁿ) naive Fibonacci recursion to O(n) time.</a:t>
              </a:r>
              <a:endParaRPr lang="en-US" sz="1050" dirty="0"/>
            </a:p>
          </p:txBody>
        </p:sp>
        <p:sp>
          <p:nvSpPr>
            <p:cNvPr id="21" name="Shape 18"/>
            <p:cNvSpPr/>
            <p:nvPr/>
          </p:nvSpPr>
          <p:spPr>
            <a:xfrm>
              <a:off x="3200400" y="2642616"/>
              <a:ext cx="2651760" cy="16916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2C4A8C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22" name="Shape 19"/>
            <p:cNvSpPr/>
            <p:nvPr/>
          </p:nvSpPr>
          <p:spPr>
            <a:xfrm>
              <a:off x="3200400" y="2642616"/>
              <a:ext cx="2651760" cy="347472"/>
            </a:xfrm>
            <a:prstGeom prst="rect">
              <a:avLst/>
            </a:prstGeom>
            <a:solidFill>
              <a:srgbClr val="2C4A8C"/>
            </a:solidFill>
            <a:ln w="12700">
              <a:solidFill>
                <a:srgbClr val="2C4A8C"/>
              </a:solidFill>
              <a:prstDash val="solid"/>
            </a:ln>
          </p:spPr>
        </p:sp>
        <p:sp>
          <p:nvSpPr>
            <p:cNvPr id="23" name="Text 20"/>
            <p:cNvSpPr/>
            <p:nvPr/>
          </p:nvSpPr>
          <p:spPr>
            <a:xfrm>
              <a:off x="3200400" y="2642616"/>
              <a:ext cx="265176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Time Complexity</a:t>
              </a:r>
              <a:endParaRPr lang="en-US" sz="1200" dirty="0"/>
            </a:p>
          </p:txBody>
        </p:sp>
        <p:sp>
          <p:nvSpPr>
            <p:cNvPr id="24" name="Text 21"/>
            <p:cNvSpPr/>
            <p:nvPr/>
          </p:nvSpPr>
          <p:spPr>
            <a:xfrm>
              <a:off x="3291840" y="3026664"/>
              <a:ext cx="2468880" cy="123444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1A1A1A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Naive Recursive Fibonacci: O(2ⁿ). Memoized / Iterative Fibonacci: O(n). Recursion overhead from function call setup.</a:t>
              </a:r>
              <a:endParaRPr lang="en-US" sz="1050" dirty="0"/>
            </a:p>
          </p:txBody>
        </p:sp>
        <p:sp>
          <p:nvSpPr>
            <p:cNvPr id="25" name="Shape 22"/>
            <p:cNvSpPr/>
            <p:nvPr/>
          </p:nvSpPr>
          <p:spPr>
            <a:xfrm>
              <a:off x="6080760" y="2642616"/>
              <a:ext cx="2651760" cy="16916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1A6B3A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26" name="Shape 23"/>
            <p:cNvSpPr/>
            <p:nvPr/>
          </p:nvSpPr>
          <p:spPr>
            <a:xfrm>
              <a:off x="6080760" y="2642616"/>
              <a:ext cx="2651760" cy="347472"/>
            </a:xfrm>
            <a:prstGeom prst="rect">
              <a:avLst/>
            </a:prstGeom>
            <a:solidFill>
              <a:srgbClr val="1A6B3A"/>
            </a:solidFill>
            <a:ln w="12700">
              <a:solidFill>
                <a:srgbClr val="1A6B3A"/>
              </a:solidFill>
              <a:prstDash val="solid"/>
            </a:ln>
          </p:spPr>
        </p:sp>
        <p:sp>
          <p:nvSpPr>
            <p:cNvPr id="27" name="Text 24"/>
            <p:cNvSpPr/>
            <p:nvPr/>
          </p:nvSpPr>
          <p:spPr>
            <a:xfrm>
              <a:off x="6080760" y="2642616"/>
              <a:ext cx="265176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Space Complexity</a:t>
              </a:r>
              <a:endParaRPr lang="en-US" sz="1200" dirty="0"/>
            </a:p>
          </p:txBody>
        </p:sp>
        <p:sp>
          <p:nvSpPr>
            <p:cNvPr id="28" name="Text 25"/>
            <p:cNvSpPr/>
            <p:nvPr/>
          </p:nvSpPr>
          <p:spPr>
            <a:xfrm>
              <a:off x="6172200" y="3026664"/>
              <a:ext cx="2468880" cy="123444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1A1A1A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Recursive: O(n) call stack. Iterative: O(1). Memoized: O(n) cache. Trade-off guides implementation choice.</a:t>
              </a:r>
              <a:endParaRPr lang="en-US" sz="1050" dirty="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emplate_unpacked/ppt/media/image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" y="27432"/>
            <a:ext cx="685800" cy="10058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" y="91440"/>
            <a:ext cx="906170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274320" y="1028047"/>
            <a:ext cx="8595360" cy="873905"/>
          </a:xfrm>
          <a:prstGeom prst="rect">
            <a:avLst/>
          </a:prstGeom>
          <a:solidFill>
            <a:srgbClr val="FFF5F5"/>
          </a:solidFill>
          <a:ln w="12700">
            <a:solidFill>
              <a:srgbClr val="C0202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11480" y="1092708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20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Problem: </a:t>
            </a:r>
            <a:r>
              <a:rPr lang="en-US" sz="13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Fibonacci Number (LeetCode #509)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11480" y="1371600"/>
            <a:ext cx="8321040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Given n, return the nth Fibonacci number where F(0) = 0, F(1) = 1, F(n) = F(n−1) + F(n−2).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Implement both a naive recursive and an iterative solution. Measure and compare their runtime for n = 10, 20, 30, 40.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274320" y="1938528"/>
            <a:ext cx="8595360" cy="320040"/>
          </a:xfrm>
          <a:prstGeom prst="rect">
            <a:avLst/>
          </a:prstGeom>
          <a:solidFill>
            <a:srgbClr val="FFF8E1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" y="1938528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🔗  LeetCode Reference:  https://leetcode.com/problems/fibonacci-number/  (#509)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74320" y="2377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 Cases: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670048"/>
          <a:ext cx="8595360" cy="214884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Input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20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Expected Output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20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Explanation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20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 = 5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6B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Sequence: 0, 1, 1, 2, 3, 5 → 5th value is 5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 = 10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6B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55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10th Fibonacci number is 55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 = 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6B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Base case: F(0) = 0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 = 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6B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Base case: F(1) = 1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emplate_unpacked/ppt/media/image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" y="27432"/>
            <a:ext cx="685800" cy="10058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" y="91440"/>
            <a:ext cx="906170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Approach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274320" y="1033272"/>
            <a:ext cx="4206240" cy="4018788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74320" y="1046988"/>
            <a:ext cx="4206240" cy="365760"/>
          </a:xfrm>
          <a:prstGeom prst="rect">
            <a:avLst/>
          </a:prstGeom>
          <a:solidFill>
            <a:srgbClr val="C0202A"/>
          </a:solidFill>
          <a:ln w="12700">
            <a:solidFill>
              <a:srgbClr val="C0202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104698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Step-by-Step Approach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84048" y="1504188"/>
            <a:ext cx="329184" cy="329184"/>
          </a:xfrm>
          <a:prstGeom prst="ellipse">
            <a:avLst/>
          </a:prstGeom>
          <a:solidFill>
            <a:srgbClr val="C0202A"/>
          </a:solidFill>
          <a:ln w="12700">
            <a:solidFill>
              <a:srgbClr val="C0202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15041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04672" y="1504188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Implement naive recursive Fibonacci: fib(n) calls fib(n-1) + fib(n-2) until n ≤ 1.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84048" y="2253996"/>
            <a:ext cx="329184" cy="329184"/>
          </a:xfrm>
          <a:prstGeom prst="ellipse">
            <a:avLst/>
          </a:prstGeom>
          <a:solidFill>
            <a:srgbClr val="C0202A"/>
          </a:solidFill>
          <a:ln w="12700">
            <a:solidFill>
              <a:srgbClr val="C0202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84048" y="22539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04672" y="2253996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Implement memoized recursive Fibonacci: cache results in a dictionary/map to avoid recomputation.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84048" y="3003804"/>
            <a:ext cx="329184" cy="329184"/>
          </a:xfrm>
          <a:prstGeom prst="ellipse">
            <a:avLst/>
          </a:prstGeom>
          <a:solidFill>
            <a:srgbClr val="C0202A"/>
          </a:solidFill>
          <a:ln w="12700">
            <a:solidFill>
              <a:srgbClr val="C0202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84048" y="30038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04672" y="3003804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Implement iterative Fibonacci: two variables prev and curr updated in a loop for n iterations.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84048" y="3753612"/>
            <a:ext cx="329184" cy="329184"/>
          </a:xfrm>
          <a:prstGeom prst="ellipse">
            <a:avLst/>
          </a:prstGeom>
          <a:solidFill>
            <a:srgbClr val="C0202A"/>
          </a:solidFill>
          <a:ln w="12700">
            <a:solidFill>
              <a:srgbClr val="C0202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84048" y="37536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04672" y="3753612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Record execution time using System.nanoTime() (Java) or time.perf_counter() (Python) for n = 10, 20, 30, 40.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384048" y="4503420"/>
            <a:ext cx="329184" cy="329184"/>
          </a:xfrm>
          <a:prstGeom prst="ellipse">
            <a:avLst/>
          </a:prstGeom>
          <a:solidFill>
            <a:srgbClr val="C0202A"/>
          </a:solidFill>
          <a:ln w="12700">
            <a:solidFill>
              <a:srgbClr val="C0202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84048" y="45034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04672" y="450342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Tabulate results and observe exponential growth in naive recursion vs linear growth in iterative.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663440" y="1046988"/>
            <a:ext cx="4206240" cy="4005072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663440" y="1046988"/>
            <a:ext cx="4206240" cy="365760"/>
          </a:xfrm>
          <a:prstGeom prst="rect">
            <a:avLst/>
          </a:prstGeom>
          <a:solidFill>
            <a:srgbClr val="2C4A8C"/>
          </a:solidFill>
          <a:ln w="12700">
            <a:solidFill>
              <a:srgbClr val="2C4A8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663440" y="104698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Complexity Analysis</a:t>
            </a:r>
            <a:endParaRPr lang="en-US" sz="13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9653208"/>
              </p:ext>
            </p:extLst>
          </p:nvPr>
        </p:nvGraphicFramePr>
        <p:xfrm>
          <a:off x="4754880" y="1504188"/>
          <a:ext cx="4023360" cy="1389888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Approach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Time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Space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Naive Recursive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C020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O(2ⁿ)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O(n)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Memoized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A6B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O(n)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O(n)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Iterative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A6B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O(n)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A6B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O(1)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7" name="Shape 23"/>
          <p:cNvSpPr/>
          <p:nvPr/>
        </p:nvSpPr>
        <p:spPr>
          <a:xfrm>
            <a:off x="4754880" y="3122676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0202A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4754880" y="3122676"/>
            <a:ext cx="73152" cy="566928"/>
          </a:xfrm>
          <a:prstGeom prst="rect">
            <a:avLst/>
          </a:prstGeom>
          <a:solidFill>
            <a:srgbClr val="C0202A"/>
          </a:solidFill>
          <a:ln w="12700">
            <a:solidFill>
              <a:srgbClr val="C0202A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4892040" y="3168396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20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Naive Recursion: </a:t>
            </a:r>
            <a:r>
              <a:rPr lang="en-US" sz="10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Each call spawns 2 more — exponential tree with ~2ⁿ nodes. fib(40) ≈ 1 billion calls!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4754880" y="3781044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4754880" y="3781044"/>
            <a:ext cx="73152" cy="566928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4892040" y="3826764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6B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Memoization Fix: </a:t>
            </a:r>
            <a:r>
              <a:rPr lang="en-US" sz="10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Store each fib(n) result once. Reduces to n unique calls → O(n) time at cost of O(n) cache space.</a:t>
            </a:r>
            <a:endParaRPr lang="en-US" sz="1000" dirty="0"/>
          </a:p>
        </p:txBody>
      </p:sp>
      <p:sp>
        <p:nvSpPr>
          <p:cNvPr id="33" name="Shape 29"/>
          <p:cNvSpPr/>
          <p:nvPr/>
        </p:nvSpPr>
        <p:spPr>
          <a:xfrm>
            <a:off x="4754880" y="4439412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2C4A8C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4754880" y="4439412"/>
            <a:ext cx="73152" cy="566928"/>
          </a:xfrm>
          <a:prstGeom prst="rect">
            <a:avLst/>
          </a:prstGeom>
          <a:solidFill>
            <a:srgbClr val="2C4A8C"/>
          </a:solidFill>
          <a:ln w="12700">
            <a:solidFill>
              <a:srgbClr val="2C4A8C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4892040" y="4485132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4A8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Best Choice: </a:t>
            </a:r>
            <a:r>
              <a:rPr lang="en-US" sz="10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Iterative is optimal: O(n) time, O(1) space. No stack risk, fastest execution for large n.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emplate_unpacked/ppt/media/image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" y="27432"/>
            <a:ext cx="685800" cy="10058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91440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Pseudocode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274320" y="1060704"/>
            <a:ext cx="4206240" cy="3749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74320" y="1060704"/>
            <a:ext cx="4206240" cy="347472"/>
          </a:xfrm>
          <a:prstGeom prst="rect">
            <a:avLst/>
          </a:prstGeom>
          <a:solidFill>
            <a:srgbClr val="C0202A"/>
          </a:solidFill>
          <a:ln w="12700">
            <a:solidFill>
              <a:srgbClr val="C0202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106070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Naive Recursive  —  O(2ⁿ)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11480" y="1444752"/>
            <a:ext cx="3931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Recursive Fibonacci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fibRec(n):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 &lt;= 1: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fibRec(n-1) + fibRec(n-2)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Memoized Recursive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 = {}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fibMemo(n):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 in memo: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memo[n]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 &lt;= 1: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memo[n] = fibMemo(n-1) + fibMemo(n-2)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memo[n]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663440" y="1060704"/>
            <a:ext cx="4206240" cy="3749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63440" y="1060704"/>
            <a:ext cx="4206240" cy="347472"/>
          </a:xfrm>
          <a:prstGeom prst="rect">
            <a:avLst/>
          </a:prstGeom>
          <a:solidFill>
            <a:srgbClr val="2C4A8C"/>
          </a:solidFill>
          <a:ln w="12700">
            <a:solidFill>
              <a:srgbClr val="2C4A8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63440" y="106070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Iterative  —  O(n) time  |  O(1) space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800600" y="1444752"/>
            <a:ext cx="3931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Iterative Fibonacci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fibIter(n):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 &lt;= 1: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prev = 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curr = 1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 in range(2, n+1):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temp = prev + curr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prev = curr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curr = temp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curr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Trace for n = 5: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i=2: prev=0, curr=1 → curr=1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i=3: prev=1, curr=1 → curr=2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i=4: prev=1, curr=2 → curr=3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i=5: prev=2, curr=3 → curr=5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emplate_unpacked/ppt/media/image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" y="27432"/>
            <a:ext cx="685800" cy="10058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" y="91440"/>
            <a:ext cx="906170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Code Implementation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228600" y="1097280"/>
            <a:ext cx="2697480" cy="3954780"/>
          </a:xfrm>
          <a:prstGeom prst="rect">
            <a:avLst/>
          </a:prstGeom>
          <a:solidFill>
            <a:srgbClr val="1E293B"/>
          </a:solidFill>
          <a:ln w="12700">
            <a:solidFill>
              <a:srgbClr val="00599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28600" y="1097280"/>
            <a:ext cx="2697480" cy="475488"/>
          </a:xfrm>
          <a:prstGeom prst="rect">
            <a:avLst/>
          </a:prstGeom>
          <a:solidFill>
            <a:srgbClr val="00599C"/>
          </a:solidFill>
          <a:ln w="12700">
            <a:solidFill>
              <a:srgbClr val="00599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28600" y="1097280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C++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47472" y="1664208"/>
            <a:ext cx="2514600" cy="3593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&lt;iostream&gt;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namespace std;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fibIter(int n)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(n &lt;= 1) return n;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p=0, c=1;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for(int i=2;i&lt;=n;i++){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t = p + c;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 = c; c = 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c;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cout &lt;&lt; fibIter(10);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Output: 55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0;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090672" y="1097280"/>
            <a:ext cx="2697480" cy="3954780"/>
          </a:xfrm>
          <a:prstGeom prst="rect">
            <a:avLst/>
          </a:prstGeom>
          <a:solidFill>
            <a:srgbClr val="1E293B"/>
          </a:solidFill>
          <a:ln w="12700">
            <a:solidFill>
              <a:srgbClr val="2C4A8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090672" y="1097280"/>
            <a:ext cx="2697480" cy="475488"/>
          </a:xfrm>
          <a:prstGeom prst="rect">
            <a:avLst/>
          </a:prstGeom>
          <a:solidFill>
            <a:srgbClr val="2C4A8C"/>
          </a:solidFill>
          <a:ln w="12700">
            <a:solidFill>
              <a:srgbClr val="2C4A8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090672" y="1097280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  (Functional Style)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200400" y="1664208"/>
            <a:ext cx="2514600" cy="3593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java.util.stream.*;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Fibonacci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static int fib(int n)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IntStream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.range(2, n+1)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.reduce(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 int[]{0,1},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(arr,i)-&gt;{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int t=arr[0]+arr[1];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arr[0]=arr[1];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arr[1]=t;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return arr;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})[1];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// Output: 55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952744" y="1097280"/>
            <a:ext cx="2697480" cy="3954780"/>
          </a:xfrm>
          <a:prstGeom prst="rect">
            <a:avLst/>
          </a:prstGeom>
          <a:solidFill>
            <a:srgbClr val="1E293B"/>
          </a:solidFill>
          <a:ln w="12700">
            <a:solidFill>
              <a:srgbClr val="C0202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952744" y="1097280"/>
            <a:ext cx="2697480" cy="475488"/>
          </a:xfrm>
          <a:prstGeom prst="rect">
            <a:avLst/>
          </a:prstGeom>
          <a:solidFill>
            <a:srgbClr val="C0202A"/>
          </a:solidFill>
          <a:ln w="12700">
            <a:solidFill>
              <a:srgbClr val="C0202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52744" y="1097280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062472" y="1664208"/>
            <a:ext cx="2514600" cy="3593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Iterative Fibonacci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fib_iter(n):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 &lt;= 1: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prev, curr = 0, 1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_ in range(2,n+1):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prev, curr = curr,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prev+curr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curr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Recursive + Memo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functools import lru_cache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@lru_cache(maxsize=None)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fib_memo(n):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 &lt;= 1: return 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fib_memo(n-1)+\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fib_memo(n-2)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fib_iter(10) → 55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emplate_unpacked/ppt/media/image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" y="27432"/>
            <a:ext cx="685800" cy="10058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" y="91440"/>
            <a:ext cx="906170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Outcomes</a:t>
            </a:r>
            <a:endParaRPr lang="en-US" sz="22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CCE9066-8E66-569D-3A47-526F9FE449E4}"/>
              </a:ext>
            </a:extLst>
          </p:cNvPr>
          <p:cNvGrpSpPr/>
          <p:nvPr/>
        </p:nvGrpSpPr>
        <p:grpSpPr>
          <a:xfrm>
            <a:off x="364553" y="1112013"/>
            <a:ext cx="8371537" cy="3252125"/>
            <a:chOff x="274320" y="777240"/>
            <a:chExt cx="8595360" cy="3675888"/>
          </a:xfrm>
        </p:grpSpPr>
        <p:sp>
          <p:nvSpPr>
            <p:cNvPr id="5" name="Shape 2"/>
            <p:cNvSpPr/>
            <p:nvPr/>
          </p:nvSpPr>
          <p:spPr>
            <a:xfrm>
              <a:off x="274320" y="777240"/>
              <a:ext cx="4160520" cy="1737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0202A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6" name="Shape 3"/>
            <p:cNvSpPr/>
            <p:nvPr/>
          </p:nvSpPr>
          <p:spPr>
            <a:xfrm>
              <a:off x="274320" y="777240"/>
              <a:ext cx="109728" cy="1737360"/>
            </a:xfrm>
            <a:prstGeom prst="rect">
              <a:avLst/>
            </a:prstGeom>
            <a:solidFill>
              <a:srgbClr val="C0202A"/>
            </a:solidFill>
            <a:ln w="12700">
              <a:solidFill>
                <a:srgbClr val="C0202A"/>
              </a:solidFill>
              <a:prstDash val="solid"/>
            </a:ln>
          </p:spPr>
        </p:sp>
        <p:sp>
          <p:nvSpPr>
            <p:cNvPr id="7" name="Text 4"/>
            <p:cNvSpPr/>
            <p:nvPr/>
          </p:nvSpPr>
          <p:spPr>
            <a:xfrm>
              <a:off x="411480" y="868680"/>
              <a:ext cx="640080" cy="1554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800" b="1" dirty="0">
                  <a:solidFill>
                    <a:srgbClr val="C0202A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01</a:t>
              </a:r>
              <a:endParaRPr lang="en-US" sz="2800" dirty="0"/>
            </a:p>
          </p:txBody>
        </p:sp>
        <p:sp>
          <p:nvSpPr>
            <p:cNvPr id="8" name="Text 5"/>
            <p:cNvSpPr/>
            <p:nvPr/>
          </p:nvSpPr>
          <p:spPr>
            <a:xfrm>
              <a:off x="1097280" y="914400"/>
              <a:ext cx="3200400" cy="1463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50" dirty="0">
                  <a:solidFill>
                    <a:srgbClr val="1A1A1A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CO1: Distinguish between recursive and iterative problem-solving paradigms and know when to apply each.</a:t>
              </a:r>
              <a:endParaRPr lang="en-US" sz="1150" dirty="0"/>
            </a:p>
          </p:txBody>
        </p:sp>
        <p:sp>
          <p:nvSpPr>
            <p:cNvPr id="9" name="Shape 6"/>
            <p:cNvSpPr/>
            <p:nvPr/>
          </p:nvSpPr>
          <p:spPr>
            <a:xfrm>
              <a:off x="4709160" y="777240"/>
              <a:ext cx="4160520" cy="1737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2C4A8C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10" name="Shape 7"/>
            <p:cNvSpPr/>
            <p:nvPr/>
          </p:nvSpPr>
          <p:spPr>
            <a:xfrm>
              <a:off x="4709160" y="777240"/>
              <a:ext cx="109728" cy="1737360"/>
            </a:xfrm>
            <a:prstGeom prst="rect">
              <a:avLst/>
            </a:prstGeom>
            <a:solidFill>
              <a:srgbClr val="2C4A8C"/>
            </a:solidFill>
            <a:ln w="12700">
              <a:solidFill>
                <a:srgbClr val="2C4A8C"/>
              </a:solidFill>
              <a:prstDash val="solid"/>
            </a:ln>
          </p:spPr>
        </p:sp>
        <p:sp>
          <p:nvSpPr>
            <p:cNvPr id="11" name="Text 8"/>
            <p:cNvSpPr/>
            <p:nvPr/>
          </p:nvSpPr>
          <p:spPr>
            <a:xfrm>
              <a:off x="4846320" y="868680"/>
              <a:ext cx="640080" cy="1554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800" b="1" dirty="0">
                  <a:solidFill>
                    <a:srgbClr val="2C4A8C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02</a:t>
              </a:r>
              <a:endParaRPr lang="en-US" sz="2800" dirty="0"/>
            </a:p>
          </p:txBody>
        </p:sp>
        <p:sp>
          <p:nvSpPr>
            <p:cNvPr id="12" name="Text 9"/>
            <p:cNvSpPr/>
            <p:nvPr/>
          </p:nvSpPr>
          <p:spPr>
            <a:xfrm>
              <a:off x="5532120" y="914400"/>
              <a:ext cx="3200400" cy="1463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50" dirty="0">
                  <a:solidFill>
                    <a:srgbClr val="1A1A1A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CO2: Analyze and compare time and space complexity of both approaches using Big-O notation.</a:t>
              </a:r>
              <a:endParaRPr lang="en-US" sz="1150" dirty="0"/>
            </a:p>
          </p:txBody>
        </p:sp>
        <p:sp>
          <p:nvSpPr>
            <p:cNvPr id="13" name="Shape 10"/>
            <p:cNvSpPr/>
            <p:nvPr/>
          </p:nvSpPr>
          <p:spPr>
            <a:xfrm>
              <a:off x="274320" y="2715768"/>
              <a:ext cx="4160520" cy="1737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1A6B3A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14" name="Shape 11"/>
            <p:cNvSpPr/>
            <p:nvPr/>
          </p:nvSpPr>
          <p:spPr>
            <a:xfrm>
              <a:off x="274320" y="2715768"/>
              <a:ext cx="109728" cy="1737360"/>
            </a:xfrm>
            <a:prstGeom prst="rect">
              <a:avLst/>
            </a:prstGeom>
            <a:solidFill>
              <a:srgbClr val="1A6B3A"/>
            </a:solidFill>
            <a:ln w="12700">
              <a:solidFill>
                <a:srgbClr val="1A6B3A"/>
              </a:solidFill>
              <a:prstDash val="solid"/>
            </a:ln>
          </p:spPr>
        </p:sp>
        <p:sp>
          <p:nvSpPr>
            <p:cNvPr id="15" name="Text 12"/>
            <p:cNvSpPr/>
            <p:nvPr/>
          </p:nvSpPr>
          <p:spPr>
            <a:xfrm>
              <a:off x="411480" y="2807208"/>
              <a:ext cx="640080" cy="1554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800" b="1" dirty="0">
                  <a:solidFill>
                    <a:srgbClr val="1A6B3A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03</a:t>
              </a:r>
              <a:endParaRPr lang="en-US" sz="2800" dirty="0"/>
            </a:p>
          </p:txBody>
        </p:sp>
        <p:sp>
          <p:nvSpPr>
            <p:cNvPr id="16" name="Text 13"/>
            <p:cNvSpPr/>
            <p:nvPr/>
          </p:nvSpPr>
          <p:spPr>
            <a:xfrm>
              <a:off x="1097280" y="2852928"/>
              <a:ext cx="3200400" cy="1463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50" dirty="0">
                  <a:solidFill>
                    <a:srgbClr val="1A1A1A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CO3: Recognize when naive recursion causes exponential blowup and apply memoization to fix it.</a:t>
              </a:r>
              <a:endParaRPr lang="en-US" sz="1150" dirty="0"/>
            </a:p>
          </p:txBody>
        </p:sp>
        <p:sp>
          <p:nvSpPr>
            <p:cNvPr id="17" name="Shape 14"/>
            <p:cNvSpPr/>
            <p:nvPr/>
          </p:nvSpPr>
          <p:spPr>
            <a:xfrm>
              <a:off x="4709160" y="2715768"/>
              <a:ext cx="4160520" cy="1737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7C3AED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18" name="Shape 15"/>
            <p:cNvSpPr/>
            <p:nvPr/>
          </p:nvSpPr>
          <p:spPr>
            <a:xfrm>
              <a:off x="4709160" y="2715768"/>
              <a:ext cx="109728" cy="1737360"/>
            </a:xfrm>
            <a:prstGeom prst="rect">
              <a:avLst/>
            </a:prstGeom>
            <a:solidFill>
              <a:srgbClr val="7C3AED"/>
            </a:solidFill>
            <a:ln w="12700">
              <a:solidFill>
                <a:srgbClr val="7C3AED"/>
              </a:solidFill>
              <a:prstDash val="solid"/>
            </a:ln>
          </p:spPr>
        </p:sp>
        <p:sp>
          <p:nvSpPr>
            <p:cNvPr id="19" name="Text 16"/>
            <p:cNvSpPr/>
            <p:nvPr/>
          </p:nvSpPr>
          <p:spPr>
            <a:xfrm>
              <a:off x="4846320" y="2807208"/>
              <a:ext cx="640080" cy="1554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800" b="1" dirty="0">
                  <a:solidFill>
                    <a:srgbClr val="7C3AED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04</a:t>
              </a:r>
              <a:endParaRPr lang="en-US" sz="2800" dirty="0"/>
            </a:p>
          </p:txBody>
        </p:sp>
        <p:sp>
          <p:nvSpPr>
            <p:cNvPr id="20" name="Text 17"/>
            <p:cNvSpPr/>
            <p:nvPr/>
          </p:nvSpPr>
          <p:spPr>
            <a:xfrm>
              <a:off x="5532120" y="2852928"/>
              <a:ext cx="3200400" cy="1463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50" dirty="0">
                  <a:solidFill>
                    <a:srgbClr val="1A1A1A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CO4: Implement Fibonacci in C++, Java (functional style), and Python and measure empirical performance.</a:t>
              </a:r>
              <a:endParaRPr lang="en-US" sz="1150" dirty="0"/>
            </a:p>
          </p:txBody>
        </p:sp>
      </p:grpSp>
      <p:sp>
        <p:nvSpPr>
          <p:cNvPr id="21" name="Shape 18"/>
          <p:cNvSpPr/>
          <p:nvPr/>
        </p:nvSpPr>
        <p:spPr>
          <a:xfrm>
            <a:off x="2971800" y="4663440"/>
            <a:ext cx="3200400" cy="347472"/>
          </a:xfrm>
          <a:prstGeom prst="rect">
            <a:avLst/>
          </a:prstGeom>
          <a:solidFill>
            <a:srgbClr val="C0202A"/>
          </a:solidFill>
          <a:ln w="12700">
            <a:solidFill>
              <a:srgbClr val="C0202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971800" y="46634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 Mapping: CO1 — Algorithm Analysis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1471</Words>
  <Application>Microsoft Office PowerPoint</Application>
  <PresentationFormat>On-screen Show (16:9)</PresentationFormat>
  <Paragraphs>210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Arial Black</vt:lpstr>
      <vt:lpstr>Calibri</vt:lpstr>
      <vt:lpstr>Cambria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Abhishek Thakur</cp:lastModifiedBy>
  <cp:revision>3</cp:revision>
  <dcterms:created xsi:type="dcterms:W3CDTF">2026-05-12T04:09:15Z</dcterms:created>
  <dcterms:modified xsi:type="dcterms:W3CDTF">2026-05-12T06:24:53Z</dcterms:modified>
</cp:coreProperties>
</file>
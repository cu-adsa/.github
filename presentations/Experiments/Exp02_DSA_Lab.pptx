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_gear.png">    </p:cNvPr>
          <p:cNvPicPr>
            <a:picLocks noChangeAspect="1"/>
          </p:cNvPicPr>
          <p:nvPr/>
        </p:nvPicPr>
        <p:blipFill>
          <a:blip r:embed="rId1">
            <a:alphaModFix amt="15000"/>
          </a:blip>
          <a:stretch>
            <a:fillRect/>
          </a:stretch>
        </p:blipFill>
        <p:spPr>
          <a:xfrm>
            <a:off x="-182880" y="1097280"/>
            <a:ext cx="3291840" cy="3291840"/>
          </a:xfrm>
          <a:prstGeom prst="rect">
            <a:avLst/>
          </a:prstGeom>
        </p:spPr>
      </p:pic>
      <p:pic>
        <p:nvPicPr>
          <p:cNvPr id="3" name="Image 1" descr="cu_banner.jpg">    </p:cNvPr>
          <p:cNvPicPr>
            <a:picLocks noChangeAspect="1"/>
          </p:cNvPicPr>
          <p:nvPr/>
        </p:nvPicPr>
        <p:blipFill>
          <a:blip r:embed="rId2"/>
          <a:stretch>
            <a:fillRect/>
          </a:stretch>
        </p:blipFill>
        <p:spPr>
          <a:xfrm>
            <a:off x="182880" y="164592"/>
            <a:ext cx="731520" cy="960120"/>
          </a:xfrm>
          <a:prstGeom prst="rect">
            <a:avLst/>
          </a:prstGeom>
        </p:spPr>
      </p:pic>
      <p:sp>
        <p:nvSpPr>
          <p:cNvPr id="4" name="Text 0"/>
          <p:cNvSpPr/>
          <p:nvPr/>
        </p:nvSpPr>
        <p:spPr>
          <a:xfrm>
            <a:off x="5486400" y="164592"/>
            <a:ext cx="3520440" cy="274320"/>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Academic Session 2026-27</a:t>
            </a:r>
            <a:endParaRPr lang="en-US" sz="1300" dirty="0"/>
          </a:p>
        </p:txBody>
      </p:sp>
      <p:sp>
        <p:nvSpPr>
          <p:cNvPr id="5" name="Text 1"/>
          <p:cNvSpPr/>
          <p:nvPr/>
        </p:nvSpPr>
        <p:spPr>
          <a:xfrm>
            <a:off x="5486400" y="438912"/>
            <a:ext cx="3520440" cy="274320"/>
          </a:xfrm>
          <a:prstGeom prst="rect">
            <a:avLst/>
          </a:prstGeom>
          <a:noFill/>
          <a:ln/>
        </p:spPr>
        <p:txBody>
          <a:bodyPr wrap="square" lIns="0" tIns="0" rIns="0" bIns="0" rtlCol="0" anchor="ctr"/>
          <a:lstStyle/>
          <a:p>
            <a:pPr algn="r" indent="0" marL="0">
              <a:buNone/>
            </a:pPr>
            <a:r>
              <a:rPr lang="en-US" sz="1200" b="1" dirty="0">
                <a:solidFill>
                  <a:srgbClr val="1A1A1A"/>
                </a:solidFill>
                <a:latin typeface="Arial" pitchFamily="34" charset="0"/>
                <a:ea typeface="Arial" pitchFamily="34" charset="-122"/>
                <a:cs typeface="Arial" pitchFamily="34" charset="-120"/>
              </a:rPr>
              <a:t>ODD Semester July-Dec 2026</a:t>
            </a:r>
            <a:endParaRPr lang="en-US" sz="1200" dirty="0"/>
          </a:p>
        </p:txBody>
      </p:sp>
      <p:sp>
        <p:nvSpPr>
          <p:cNvPr id="6" name="Text 2"/>
          <p:cNvSpPr/>
          <p:nvPr/>
        </p:nvSpPr>
        <p:spPr>
          <a:xfrm>
            <a:off x="1371600" y="91440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UNIVERSITY INSTITUTE OF</a:t>
            </a:r>
            <a:endParaRPr lang="en-US" sz="2800" dirty="0"/>
          </a:p>
        </p:txBody>
      </p:sp>
      <p:sp>
        <p:nvSpPr>
          <p:cNvPr id="7" name="Text 3"/>
          <p:cNvSpPr/>
          <p:nvPr/>
        </p:nvSpPr>
        <p:spPr>
          <a:xfrm>
            <a:off x="1371600" y="141732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DEPARTMENT OF TT</a:t>
            </a:r>
            <a:endParaRPr lang="en-US" sz="2800" dirty="0"/>
          </a:p>
        </p:txBody>
      </p:sp>
      <p:sp>
        <p:nvSpPr>
          <p:cNvPr id="8" name="Text 4"/>
          <p:cNvSpPr/>
          <p:nvPr/>
        </p:nvSpPr>
        <p:spPr>
          <a:xfrm>
            <a:off x="1371600" y="2011680"/>
            <a:ext cx="6858000" cy="320040"/>
          </a:xfrm>
          <a:prstGeom prst="rect">
            <a:avLst/>
          </a:prstGeom>
          <a:noFill/>
          <a:ln/>
        </p:spPr>
        <p:txBody>
          <a:bodyPr wrap="square" lIns="0" tIns="0" rIns="0" bIns="0" rtlCol="0" anchor="ctr"/>
          <a:lstStyle/>
          <a:p>
            <a:pPr algn="ctr" indent="0" marL="0">
              <a:buNone/>
            </a:pPr>
            <a:r>
              <a:rPr lang="en-US" sz="1600" dirty="0">
                <a:solidFill>
                  <a:srgbClr val="1A1A1A"/>
                </a:solidFill>
                <a:latin typeface="Arial" pitchFamily="34" charset="0"/>
                <a:ea typeface="Arial" pitchFamily="34" charset="-122"/>
                <a:cs typeface="Arial" pitchFamily="34" charset="-120"/>
              </a:rPr>
              <a:t>ADVANCED DATA STRUCTURE</a:t>
            </a:r>
            <a:endParaRPr lang="en-US" sz="1600" dirty="0"/>
          </a:p>
        </p:txBody>
      </p:sp>
      <p:sp>
        <p:nvSpPr>
          <p:cNvPr id="9" name="Text 5"/>
          <p:cNvSpPr/>
          <p:nvPr/>
        </p:nvSpPr>
        <p:spPr>
          <a:xfrm>
            <a:off x="1371600" y="2331720"/>
            <a:ext cx="6858000" cy="274320"/>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3</a:t>
            </a:r>
            <a:pPr algn="ctr" indent="0" marL="0">
              <a:buNone/>
            </a:pPr>
            <a:r>
              <a:rPr lang="en-US" sz="1000" b="1" baseline="30000" dirty="0">
                <a:solidFill>
                  <a:srgbClr val="1A1A1A"/>
                </a:solidFill>
                <a:latin typeface="Arial" pitchFamily="34" charset="0"/>
                <a:ea typeface="Arial" pitchFamily="34" charset="-122"/>
                <a:cs typeface="Arial" pitchFamily="34" charset="-120"/>
              </a:rPr>
              <a:t>rd</a:t>
            </a:r>
            <a:pPr algn="ctr" indent="0" marL="0">
              <a:buNone/>
            </a:pPr>
            <a:r>
              <a:rPr lang="en-US" sz="1500" b="1" dirty="0">
                <a:solidFill>
                  <a:srgbClr val="1A1A1A"/>
                </a:solidFill>
                <a:latin typeface="Arial" pitchFamily="34" charset="0"/>
                <a:ea typeface="Arial" pitchFamily="34" charset="-122"/>
                <a:cs typeface="Arial" pitchFamily="34" charset="-120"/>
              </a:rPr>
              <a:t> Sem</a:t>
            </a:r>
            <a:endParaRPr lang="en-US" sz="1500" dirty="0"/>
          </a:p>
        </p:txBody>
      </p:sp>
      <p:sp>
        <p:nvSpPr>
          <p:cNvPr id="10" name="Text 6"/>
          <p:cNvSpPr/>
          <p:nvPr/>
        </p:nvSpPr>
        <p:spPr>
          <a:xfrm>
            <a:off x="1371600" y="2606040"/>
            <a:ext cx="6858000" cy="274320"/>
          </a:xfrm>
          <a:prstGeom prst="rect">
            <a:avLst/>
          </a:prstGeom>
          <a:noFill/>
          <a:ln/>
        </p:spPr>
        <p:txBody>
          <a:bodyPr wrap="square" lIns="0" tIns="0" rIns="0" bIns="0" rtlCol="0" anchor="ctr"/>
          <a:lstStyle/>
          <a:p>
            <a:pPr algn="ctr" indent="0" marL="0">
              <a:buNone/>
            </a:pPr>
            <a:r>
              <a:rPr lang="en-US" sz="1500" dirty="0">
                <a:solidFill>
                  <a:srgbClr val="1A1A1A"/>
                </a:solidFill>
                <a:latin typeface="Arial" pitchFamily="34" charset="0"/>
                <a:ea typeface="Arial" pitchFamily="34" charset="-122"/>
                <a:cs typeface="Arial" pitchFamily="34" charset="-120"/>
              </a:rPr>
              <a:t>(25CSH-242)</a:t>
            </a:r>
            <a:endParaRPr lang="en-US" sz="1500" dirty="0"/>
          </a:p>
        </p:txBody>
      </p:sp>
      <p:sp>
        <p:nvSpPr>
          <p:cNvPr id="11" name="Text 7"/>
          <p:cNvSpPr/>
          <p:nvPr/>
        </p:nvSpPr>
        <p:spPr>
          <a:xfrm>
            <a:off x="548640" y="3291840"/>
            <a:ext cx="384048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 Thakur (E19789)</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 Jaiswal (E19756) – MSC</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Technical Trainer</a:t>
            </a:r>
            <a:endParaRPr lang="en-US" sz="1300" dirty="0"/>
          </a:p>
        </p:txBody>
      </p:sp>
      <p:sp>
        <p:nvSpPr>
          <p:cNvPr id="12" name="Text 8"/>
          <p:cNvSpPr/>
          <p:nvPr/>
        </p:nvSpPr>
        <p:spPr>
          <a:xfrm>
            <a:off x="4754880" y="3291840"/>
            <a:ext cx="402336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CUmail-ID :</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Sourav.e19756@cumail.in</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abhishek.e19789@cumail.in</a:t>
            </a:r>
            <a:endParaRPr lang="en-US" sz="1300" dirty="0"/>
          </a:p>
        </p:txBody>
      </p:sp>
      <p:sp>
        <p:nvSpPr>
          <p:cNvPr id="13" name="Shape 9"/>
          <p:cNvSpPr/>
          <p:nvPr/>
        </p:nvSpPr>
        <p:spPr>
          <a:xfrm flipH="1">
            <a:off x="7680960" y="4434840"/>
            <a:ext cx="1463040" cy="713232"/>
          </a:xfrm>
          <a:prstGeom prst="rtTriangle">
            <a:avLst/>
          </a:prstGeom>
          <a:solidFill>
            <a:srgbClr val="B22234"/>
          </a:solidFill>
          <a:ln w="12700">
            <a:solidFill>
              <a:srgbClr val="B2223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Experiment 02 — Overview</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28600" y="1051560"/>
          <a:ext cx="8686800" cy="914400"/>
        </p:xfrm>
        <a:graphic>
          <a:graphicData uri="http://schemas.openxmlformats.org/drawingml/2006/table">
            <a:tbl>
              <a:tblPr/>
              <a:tblGrid>
                <a:gridCol w="1920240"/>
                <a:gridCol w="6766560"/>
              </a:tblGrid>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Experiment No.</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02</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Title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Implementation of Binary Search Tree (BST)</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Objective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 BST operations: Insert, Delete, Search, and Inorder/Preorder/Postorder Traversals.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CO Mapping</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CO2 — Implement and analyze tree data structures.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Key Concepts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BST Property  |  Inorder Traversal  |  Insert / Delete  |  Height of Tree  |  Successor Node</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Tools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Python / Java / C++  |  IDE (VS Code / Eclipse / g++)</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BST: Structure &amp; Properties</a:t>
            </a:r>
            <a:endParaRPr lang="en-US" sz="2800" dirty="0"/>
          </a:p>
        </p:txBody>
      </p:sp>
      <p:sp>
        <p:nvSpPr>
          <p:cNvPr id="4" name="Shape 1"/>
          <p:cNvSpPr/>
          <p:nvPr/>
        </p:nvSpPr>
        <p:spPr>
          <a:xfrm>
            <a:off x="320040" y="1371600"/>
            <a:ext cx="4160520" cy="3520440"/>
          </a:xfrm>
          <a:prstGeom prst="rect">
            <a:avLst/>
          </a:prstGeom>
          <a:solidFill>
            <a:srgbClr val="FBEEF0"/>
          </a:solidFill>
          <a:ln w="12700">
            <a:solidFill>
              <a:srgbClr val="B22234"/>
            </a:solidFill>
            <a:prstDash val="solid"/>
          </a:ln>
        </p:spPr>
      </p:sp>
      <p:sp>
        <p:nvSpPr>
          <p:cNvPr id="5" name="Shape 2"/>
          <p:cNvSpPr/>
          <p:nvPr/>
        </p:nvSpPr>
        <p:spPr>
          <a:xfrm>
            <a:off x="320040" y="960120"/>
            <a:ext cx="4160520" cy="411480"/>
          </a:xfrm>
          <a:prstGeom prst="rect">
            <a:avLst/>
          </a:prstGeom>
          <a:solidFill>
            <a:srgbClr val="B22234"/>
          </a:solidFill>
          <a:ln w="12700">
            <a:solidFill>
              <a:srgbClr val="B22234"/>
            </a:solidFill>
            <a:prstDash val="solid"/>
          </a:ln>
        </p:spPr>
      </p:sp>
      <p:sp>
        <p:nvSpPr>
          <p:cNvPr id="6" name="Text 3"/>
          <p:cNvSpPr/>
          <p:nvPr/>
        </p:nvSpPr>
        <p:spPr>
          <a:xfrm>
            <a:off x="3200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BST PROPERTY</a:t>
            </a:r>
            <a:endParaRPr lang="en-US" sz="1600" dirty="0"/>
          </a:p>
        </p:txBody>
      </p:sp>
      <p:sp>
        <p:nvSpPr>
          <p:cNvPr id="7" name="Text 4"/>
          <p:cNvSpPr/>
          <p:nvPr/>
        </p:nvSpPr>
        <p:spPr>
          <a:xfrm>
            <a:off x="4572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 rooted binary tree where for every node: left subtree keys &lt; node key &lt; right subtree keys.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Enables binary-search-style elimination of half the tree at each level.</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Inorder traversal yields keys in ascending sorted order in O(n).</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Average search/insert/delete cost is O(log n) when tree is balanced.</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Worst case degrades to O(n) for skewed trees (sorted insertion).</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Examples: dictionaries, symbol tables, ordered sets, range queries.</a:t>
            </a:r>
            <a:endParaRPr lang="en-US" sz="1200" dirty="0"/>
          </a:p>
        </p:txBody>
      </p:sp>
      <p:sp>
        <p:nvSpPr>
          <p:cNvPr id="8" name="Shape 5"/>
          <p:cNvSpPr/>
          <p:nvPr/>
        </p:nvSpPr>
        <p:spPr>
          <a:xfrm>
            <a:off x="4663440" y="1371600"/>
            <a:ext cx="4160520" cy="3520440"/>
          </a:xfrm>
          <a:prstGeom prst="rect">
            <a:avLst/>
          </a:prstGeom>
          <a:solidFill>
            <a:srgbClr val="EEF2FA"/>
          </a:solidFill>
          <a:ln w="12700">
            <a:solidFill>
              <a:srgbClr val="1F3864"/>
            </a:solidFill>
            <a:prstDash val="solid"/>
          </a:ln>
        </p:spPr>
      </p:sp>
      <p:sp>
        <p:nvSpPr>
          <p:cNvPr id="9" name="Shape 6"/>
          <p:cNvSpPr/>
          <p:nvPr/>
        </p:nvSpPr>
        <p:spPr>
          <a:xfrm>
            <a:off x="4663440" y="960120"/>
            <a:ext cx="4160520" cy="411480"/>
          </a:xfrm>
          <a:prstGeom prst="rect">
            <a:avLst/>
          </a:prstGeom>
          <a:solidFill>
            <a:srgbClr val="1F3864"/>
          </a:solidFill>
          <a:ln w="12700">
            <a:solidFill>
              <a:srgbClr val="1F3864"/>
            </a:solidFill>
            <a:prstDash val="solid"/>
          </a:ln>
        </p:spPr>
      </p:sp>
      <p:sp>
        <p:nvSpPr>
          <p:cNvPr id="10" name="Text 7"/>
          <p:cNvSpPr/>
          <p:nvPr/>
        </p:nvSpPr>
        <p:spPr>
          <a:xfrm>
            <a:off x="46634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OPERATIONS</a:t>
            </a:r>
            <a:endParaRPr lang="en-US" sz="1600" dirty="0"/>
          </a:p>
        </p:txBody>
      </p:sp>
      <p:sp>
        <p:nvSpPr>
          <p:cNvPr id="11" name="Text 8"/>
          <p:cNvSpPr/>
          <p:nvPr/>
        </p:nvSpPr>
        <p:spPr>
          <a:xfrm>
            <a:off x="48006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Search: recurse left if val &lt; node, right if val &gt; node, stop on equality or null.</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Insert: traverse like search; place new node at the first null pointer reached.</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Delete leaf: simply remove the node from its parent.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Delete one-child: bypass node — attach its child to its parent.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Delete two-children: replace value with inorder successor; then delete successor.</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Traversals: Inorder (LNR), Preorder (NLR), Postorder (LRN).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Key Concepts</a:t>
            </a:r>
            <a:endParaRPr lang="en-US" sz="2800" dirty="0"/>
          </a:p>
        </p:txBody>
      </p:sp>
      <p:sp>
        <p:nvSpPr>
          <p:cNvPr id="4" name="Shape 1"/>
          <p:cNvSpPr/>
          <p:nvPr/>
        </p:nvSpPr>
        <p:spPr>
          <a:xfrm>
            <a:off x="274320" y="1417320"/>
            <a:ext cx="2862072" cy="1463040"/>
          </a:xfrm>
          <a:prstGeom prst="rect">
            <a:avLst/>
          </a:prstGeom>
          <a:solidFill>
            <a:srgbClr val="FFFFFF"/>
          </a:solidFill>
          <a:ln w="12700">
            <a:solidFill>
              <a:srgbClr val="B22234"/>
            </a:solidFill>
            <a:prstDash val="solid"/>
          </a:ln>
        </p:spPr>
      </p:sp>
      <p:sp>
        <p:nvSpPr>
          <p:cNvPr id="5" name="Shape 2"/>
          <p:cNvSpPr/>
          <p:nvPr/>
        </p:nvSpPr>
        <p:spPr>
          <a:xfrm>
            <a:off x="274320" y="1005840"/>
            <a:ext cx="2862072" cy="411480"/>
          </a:xfrm>
          <a:prstGeom prst="rect">
            <a:avLst/>
          </a:prstGeom>
          <a:solidFill>
            <a:srgbClr val="B22234"/>
          </a:solidFill>
          <a:ln w="12700">
            <a:solidFill>
              <a:srgbClr val="B22234"/>
            </a:solidFill>
            <a:prstDash val="solid"/>
          </a:ln>
        </p:spPr>
      </p:sp>
      <p:sp>
        <p:nvSpPr>
          <p:cNvPr id="6" name="Text 3"/>
          <p:cNvSpPr/>
          <p:nvPr/>
        </p:nvSpPr>
        <p:spPr>
          <a:xfrm>
            <a:off x="274320"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BST Property</a:t>
            </a:r>
            <a:endParaRPr lang="en-US" sz="1400" dirty="0"/>
          </a:p>
        </p:txBody>
      </p:sp>
      <p:sp>
        <p:nvSpPr>
          <p:cNvPr id="7" name="Text 4"/>
          <p:cNvSpPr/>
          <p:nvPr/>
        </p:nvSpPr>
        <p:spPr>
          <a:xfrm>
            <a:off x="384048"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Left subtree keys &lt; node key &lt; right subtree keys. Holds recursively at every node, not just the root.</a:t>
            </a:r>
            <a:endParaRPr lang="en-US" sz="1100" dirty="0"/>
          </a:p>
        </p:txBody>
      </p:sp>
      <p:sp>
        <p:nvSpPr>
          <p:cNvPr id="8" name="Shape 5"/>
          <p:cNvSpPr/>
          <p:nvPr/>
        </p:nvSpPr>
        <p:spPr>
          <a:xfrm>
            <a:off x="3209544" y="1417320"/>
            <a:ext cx="2862072" cy="1463040"/>
          </a:xfrm>
          <a:prstGeom prst="rect">
            <a:avLst/>
          </a:prstGeom>
          <a:solidFill>
            <a:srgbClr val="FFFFFF"/>
          </a:solidFill>
          <a:ln w="12700">
            <a:solidFill>
              <a:srgbClr val="1F3864"/>
            </a:solidFill>
            <a:prstDash val="solid"/>
          </a:ln>
        </p:spPr>
      </p:sp>
      <p:sp>
        <p:nvSpPr>
          <p:cNvPr id="9" name="Shape 6"/>
          <p:cNvSpPr/>
          <p:nvPr/>
        </p:nvSpPr>
        <p:spPr>
          <a:xfrm>
            <a:off x="3209544" y="1005840"/>
            <a:ext cx="2862072" cy="411480"/>
          </a:xfrm>
          <a:prstGeom prst="rect">
            <a:avLst/>
          </a:prstGeom>
          <a:solidFill>
            <a:srgbClr val="1F3864"/>
          </a:solidFill>
          <a:ln w="12700">
            <a:solidFill>
              <a:srgbClr val="1F3864"/>
            </a:solidFill>
            <a:prstDash val="solid"/>
          </a:ln>
        </p:spPr>
      </p:sp>
      <p:sp>
        <p:nvSpPr>
          <p:cNvPr id="10" name="Text 7"/>
          <p:cNvSpPr/>
          <p:nvPr/>
        </p:nvSpPr>
        <p:spPr>
          <a:xfrm>
            <a:off x="3209544"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Inorder Traversal</a:t>
            </a:r>
            <a:endParaRPr lang="en-US" sz="1400" dirty="0"/>
          </a:p>
        </p:txBody>
      </p:sp>
      <p:sp>
        <p:nvSpPr>
          <p:cNvPr id="11" name="Text 8"/>
          <p:cNvSpPr/>
          <p:nvPr/>
        </p:nvSpPr>
        <p:spPr>
          <a:xfrm>
            <a:off x="3319272"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Left → Root → Right. On a BST, produces all keys in sorted ascending order — a free O(n) sort.</a:t>
            </a:r>
            <a:endParaRPr lang="en-US" sz="1100" dirty="0"/>
          </a:p>
        </p:txBody>
      </p:sp>
      <p:sp>
        <p:nvSpPr>
          <p:cNvPr id="12" name="Shape 9"/>
          <p:cNvSpPr/>
          <p:nvPr/>
        </p:nvSpPr>
        <p:spPr>
          <a:xfrm>
            <a:off x="6144768" y="1417320"/>
            <a:ext cx="2862072" cy="1463040"/>
          </a:xfrm>
          <a:prstGeom prst="rect">
            <a:avLst/>
          </a:prstGeom>
          <a:solidFill>
            <a:srgbClr val="FFFFFF"/>
          </a:solidFill>
          <a:ln w="12700">
            <a:solidFill>
              <a:srgbClr val="2C5F2D"/>
            </a:solidFill>
            <a:prstDash val="solid"/>
          </a:ln>
        </p:spPr>
      </p:sp>
      <p:sp>
        <p:nvSpPr>
          <p:cNvPr id="13" name="Shape 10"/>
          <p:cNvSpPr/>
          <p:nvPr/>
        </p:nvSpPr>
        <p:spPr>
          <a:xfrm>
            <a:off x="6144768" y="1005840"/>
            <a:ext cx="2862072" cy="411480"/>
          </a:xfrm>
          <a:prstGeom prst="rect">
            <a:avLst/>
          </a:prstGeom>
          <a:solidFill>
            <a:srgbClr val="2C5F2D"/>
          </a:solidFill>
          <a:ln w="12700">
            <a:solidFill>
              <a:srgbClr val="2C5F2D"/>
            </a:solidFill>
            <a:prstDash val="solid"/>
          </a:ln>
        </p:spPr>
      </p:sp>
      <p:sp>
        <p:nvSpPr>
          <p:cNvPr id="14" name="Text 11"/>
          <p:cNvSpPr/>
          <p:nvPr/>
        </p:nvSpPr>
        <p:spPr>
          <a:xfrm>
            <a:off x="6144768"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Insert Operation</a:t>
            </a:r>
            <a:endParaRPr lang="en-US" sz="1400" dirty="0"/>
          </a:p>
        </p:txBody>
      </p:sp>
      <p:sp>
        <p:nvSpPr>
          <p:cNvPr id="15" name="Text 12"/>
          <p:cNvSpPr/>
          <p:nvPr/>
        </p:nvSpPr>
        <p:spPr>
          <a:xfrm>
            <a:off x="6254496"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Walk down following BST ordering. Insert as a new leaf at the first null pointer. O(h) cost where h = height.</a:t>
            </a:r>
            <a:endParaRPr lang="en-US" sz="1100" dirty="0"/>
          </a:p>
        </p:txBody>
      </p:sp>
      <p:sp>
        <p:nvSpPr>
          <p:cNvPr id="16" name="Shape 13"/>
          <p:cNvSpPr/>
          <p:nvPr/>
        </p:nvSpPr>
        <p:spPr>
          <a:xfrm>
            <a:off x="274320" y="3429000"/>
            <a:ext cx="2862072" cy="1463040"/>
          </a:xfrm>
          <a:prstGeom prst="rect">
            <a:avLst/>
          </a:prstGeom>
          <a:solidFill>
            <a:srgbClr val="FFFFFF"/>
          </a:solidFill>
          <a:ln w="12700">
            <a:solidFill>
              <a:srgbClr val="B22234"/>
            </a:solidFill>
            <a:prstDash val="solid"/>
          </a:ln>
        </p:spPr>
      </p:sp>
      <p:sp>
        <p:nvSpPr>
          <p:cNvPr id="17" name="Shape 14"/>
          <p:cNvSpPr/>
          <p:nvPr/>
        </p:nvSpPr>
        <p:spPr>
          <a:xfrm>
            <a:off x="274320" y="3017520"/>
            <a:ext cx="2862072" cy="411480"/>
          </a:xfrm>
          <a:prstGeom prst="rect">
            <a:avLst/>
          </a:prstGeom>
          <a:solidFill>
            <a:srgbClr val="B22234"/>
          </a:solidFill>
          <a:ln w="12700">
            <a:solidFill>
              <a:srgbClr val="B22234"/>
            </a:solidFill>
            <a:prstDash val="solid"/>
          </a:ln>
        </p:spPr>
      </p:sp>
      <p:sp>
        <p:nvSpPr>
          <p:cNvPr id="18" name="Text 15"/>
          <p:cNvSpPr/>
          <p:nvPr/>
        </p:nvSpPr>
        <p:spPr>
          <a:xfrm>
            <a:off x="274320"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Delete Operation</a:t>
            </a:r>
            <a:endParaRPr lang="en-US" sz="1400" dirty="0"/>
          </a:p>
        </p:txBody>
      </p:sp>
      <p:sp>
        <p:nvSpPr>
          <p:cNvPr id="19" name="Text 16"/>
          <p:cNvSpPr/>
          <p:nvPr/>
        </p:nvSpPr>
        <p:spPr>
          <a:xfrm>
            <a:off x="384048"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Three cases: leaf (remove), one child (bypass), two children (replace with inorder successor then delete it).</a:t>
            </a:r>
            <a:endParaRPr lang="en-US" sz="1100" dirty="0"/>
          </a:p>
        </p:txBody>
      </p:sp>
      <p:sp>
        <p:nvSpPr>
          <p:cNvPr id="20" name="Shape 17"/>
          <p:cNvSpPr/>
          <p:nvPr/>
        </p:nvSpPr>
        <p:spPr>
          <a:xfrm>
            <a:off x="3209544" y="3429000"/>
            <a:ext cx="2862072" cy="1463040"/>
          </a:xfrm>
          <a:prstGeom prst="rect">
            <a:avLst/>
          </a:prstGeom>
          <a:solidFill>
            <a:srgbClr val="FFFFFF"/>
          </a:solidFill>
          <a:ln w="12700">
            <a:solidFill>
              <a:srgbClr val="1F3864"/>
            </a:solidFill>
            <a:prstDash val="solid"/>
          </a:ln>
        </p:spPr>
      </p:sp>
      <p:sp>
        <p:nvSpPr>
          <p:cNvPr id="21" name="Shape 18"/>
          <p:cNvSpPr/>
          <p:nvPr/>
        </p:nvSpPr>
        <p:spPr>
          <a:xfrm>
            <a:off x="3209544" y="3017520"/>
            <a:ext cx="2862072" cy="411480"/>
          </a:xfrm>
          <a:prstGeom prst="rect">
            <a:avLst/>
          </a:prstGeom>
          <a:solidFill>
            <a:srgbClr val="1F3864"/>
          </a:solidFill>
          <a:ln w="12700">
            <a:solidFill>
              <a:srgbClr val="1F3864"/>
            </a:solidFill>
            <a:prstDash val="solid"/>
          </a:ln>
        </p:spPr>
      </p:sp>
      <p:sp>
        <p:nvSpPr>
          <p:cNvPr id="22" name="Text 19"/>
          <p:cNvSpPr/>
          <p:nvPr/>
        </p:nvSpPr>
        <p:spPr>
          <a:xfrm>
            <a:off x="3209544"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Height of Tree</a:t>
            </a:r>
            <a:endParaRPr lang="en-US" sz="1400" dirty="0"/>
          </a:p>
        </p:txBody>
      </p:sp>
      <p:sp>
        <p:nvSpPr>
          <p:cNvPr id="23" name="Text 20"/>
          <p:cNvSpPr/>
          <p:nvPr/>
        </p:nvSpPr>
        <p:spPr>
          <a:xfrm>
            <a:off x="3319272"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Number of edges on the longest root-to-leaf path. Determines operation cost: balanced ≈ log n, skewed ≈ n.</a:t>
            </a:r>
            <a:endParaRPr lang="en-US" sz="1100" dirty="0"/>
          </a:p>
        </p:txBody>
      </p:sp>
      <p:sp>
        <p:nvSpPr>
          <p:cNvPr id="24" name="Shape 21"/>
          <p:cNvSpPr/>
          <p:nvPr/>
        </p:nvSpPr>
        <p:spPr>
          <a:xfrm>
            <a:off x="6144768" y="3429000"/>
            <a:ext cx="2862072" cy="1463040"/>
          </a:xfrm>
          <a:prstGeom prst="rect">
            <a:avLst/>
          </a:prstGeom>
          <a:solidFill>
            <a:srgbClr val="FFFFFF"/>
          </a:solidFill>
          <a:ln w="12700">
            <a:solidFill>
              <a:srgbClr val="2C5F2D"/>
            </a:solidFill>
            <a:prstDash val="solid"/>
          </a:ln>
        </p:spPr>
      </p:sp>
      <p:sp>
        <p:nvSpPr>
          <p:cNvPr id="25" name="Shape 22"/>
          <p:cNvSpPr/>
          <p:nvPr/>
        </p:nvSpPr>
        <p:spPr>
          <a:xfrm>
            <a:off x="6144768" y="3017520"/>
            <a:ext cx="2862072" cy="411480"/>
          </a:xfrm>
          <a:prstGeom prst="rect">
            <a:avLst/>
          </a:prstGeom>
          <a:solidFill>
            <a:srgbClr val="2C5F2D"/>
          </a:solidFill>
          <a:ln w="12700">
            <a:solidFill>
              <a:srgbClr val="2C5F2D"/>
            </a:solidFill>
            <a:prstDash val="solid"/>
          </a:ln>
        </p:spPr>
      </p:sp>
      <p:sp>
        <p:nvSpPr>
          <p:cNvPr id="26" name="Text 23"/>
          <p:cNvSpPr/>
          <p:nvPr/>
        </p:nvSpPr>
        <p:spPr>
          <a:xfrm>
            <a:off x="6144768"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Inorder Successor</a:t>
            </a:r>
            <a:endParaRPr lang="en-US" sz="1400" dirty="0"/>
          </a:p>
        </p:txBody>
      </p:sp>
      <p:sp>
        <p:nvSpPr>
          <p:cNvPr id="27" name="Text 24"/>
          <p:cNvSpPr/>
          <p:nvPr/>
        </p:nvSpPr>
        <p:spPr>
          <a:xfrm>
            <a:off x="6254496"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Smallest node in the right subtree. Used during two-child deletion to preserve BST ordering invariant.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Problem Statement</a:t>
            </a:r>
            <a:endParaRPr lang="en-US" sz="2800" dirty="0"/>
          </a:p>
        </p:txBody>
      </p:sp>
      <p:sp>
        <p:nvSpPr>
          <p:cNvPr id="4" name="Shape 1"/>
          <p:cNvSpPr/>
          <p:nvPr/>
        </p:nvSpPr>
        <p:spPr>
          <a:xfrm>
            <a:off x="274320" y="960120"/>
            <a:ext cx="8595360" cy="868680"/>
          </a:xfrm>
          <a:prstGeom prst="rect">
            <a:avLst/>
          </a:prstGeom>
          <a:solidFill>
            <a:srgbClr val="FBEEF0"/>
          </a:solidFill>
          <a:ln w="12700">
            <a:solidFill>
              <a:srgbClr val="B22234"/>
            </a:solidFill>
            <a:prstDash val="solid"/>
          </a:ln>
        </p:spPr>
      </p:sp>
      <p:sp>
        <p:nvSpPr>
          <p:cNvPr id="5" name="Text 2"/>
          <p:cNvSpPr/>
          <p:nvPr/>
        </p:nvSpPr>
        <p:spPr>
          <a:xfrm>
            <a:off x="411480" y="1005840"/>
            <a:ext cx="8321040" cy="777240"/>
          </a:xfrm>
          <a:prstGeom prst="rect">
            <a:avLst/>
          </a:prstGeom>
          <a:noFill/>
          <a:ln/>
        </p:spPr>
        <p:txBody>
          <a:bodyPr wrap="square" rtlCol="0" anchor="t"/>
          <a:lstStyle/>
          <a:p>
            <a:pPr algn="l" indent="0" marL="0">
              <a:spcAft>
                <a:spcPts val="400"/>
              </a:spcAft>
              <a:buNone/>
            </a:pPr>
            <a:r>
              <a:rPr lang="en-US" sz="1150" b="1" dirty="0">
                <a:solidFill>
                  <a:srgbClr val="B22234"/>
                </a:solidFill>
                <a:latin typeface="Arial" pitchFamily="34" charset="0"/>
                <a:ea typeface="Arial" pitchFamily="34" charset="-122"/>
                <a:cs typeface="Arial" pitchFamily="34" charset="-120"/>
              </a:rPr>
              <a:t>Problem: </a:t>
            </a:r>
            <a:pPr algn="l" indent="0" marL="0">
              <a:spcAft>
                <a:spcPts val="400"/>
              </a:spcAft>
              <a:buNone/>
            </a:pPr>
            <a:r>
              <a:rPr lang="en-US" sz="1150" b="1" dirty="0">
                <a:solidFill>
                  <a:srgbClr val="1A1A1A"/>
                </a:solidFill>
                <a:latin typeface="Arial" pitchFamily="34" charset="0"/>
                <a:ea typeface="Arial" pitchFamily="34" charset="-122"/>
                <a:cs typeface="Arial" pitchFamily="34" charset="-120"/>
              </a:rPr>
              <a:t>Search in a Binary Search Tree (LeetCode #700)</a:t>
            </a:r>
            <a:endParaRPr lang="en-US" sz="1150" dirty="0"/>
          </a:p>
          <a:p>
            <a:pPr algn="l" indent="0" marL="0">
              <a:spcAft>
                <a:spcPts val="400"/>
              </a:spcAft>
              <a:buNone/>
            </a:pPr>
            <a:r>
              <a:rPr lang="en-US" sz="1150" dirty="0">
                <a:solidFill>
                  <a:srgbClr val="333333"/>
                </a:solidFill>
                <a:latin typeface="Arial" pitchFamily="34" charset="0"/>
                <a:ea typeface="Arial" pitchFamily="34" charset="-122"/>
                <a:cs typeface="Arial" pitchFamily="34" charset="-120"/>
              </a:rPr>
              <a:t>You are given the root of a Binary Search Tree (BST) and an integer val. Find the node in the BST whose value equals val. Return the subtree rooted with that node. If no such node exists, return null. Also implement insert and delete to support full BST functionality.</a:t>
            </a:r>
            <a:endParaRPr lang="en-US" sz="1150" dirty="0"/>
          </a:p>
        </p:txBody>
      </p:sp>
      <p:sp>
        <p:nvSpPr>
          <p:cNvPr id="6" name="Shape 3"/>
          <p:cNvSpPr/>
          <p:nvPr/>
        </p:nvSpPr>
        <p:spPr>
          <a:xfrm>
            <a:off x="274320" y="1965960"/>
            <a:ext cx="8595360" cy="365760"/>
          </a:xfrm>
          <a:prstGeom prst="rect">
            <a:avLst/>
          </a:prstGeom>
          <a:solidFill>
            <a:srgbClr val="FEF3C7"/>
          </a:solidFill>
          <a:ln w="12700">
            <a:solidFill>
              <a:srgbClr val="F59E0B"/>
            </a:solidFill>
            <a:prstDash val="solid"/>
          </a:ln>
        </p:spPr>
      </p:sp>
      <p:sp>
        <p:nvSpPr>
          <p:cNvPr id="7" name="Text 4">
            <a:hlinkClick r:id="rIdundefined" tooltip=""/>
          </p:cNvPr>
          <p:cNvSpPr/>
          <p:nvPr/>
        </p:nvSpPr>
        <p:spPr>
          <a:xfrm>
            <a:off x="411480" y="1965960"/>
            <a:ext cx="8321040" cy="365760"/>
          </a:xfrm>
          <a:prstGeom prst="rect">
            <a:avLst/>
          </a:prstGeom>
          <a:noFill/>
          <a:ln/>
        </p:spPr>
        <p:txBody>
          <a:bodyPr wrap="square" lIns="0" tIns="0" rIns="0" bIns="0" rtlCol="0" anchor="ctr"/>
          <a:lstStyle/>
          <a:p>
            <a:pPr algn="l" indent="0" marL="0">
              <a:buNone/>
            </a:pPr>
            <a:r>
              <a:rPr lang="en-US" sz="1200" u="sng" dirty="0">
                <a:solidFill>
                  <a:srgbClr val="000000"/>
                </a:solidFill>
                <a:hlinkClick r:id="rIdundefined" invalidUrl="" action="" tgtFrame="" tooltip="" history="1" highlightClick="0" endSnd="0">
                  <a:extLst>
                    <a:ext uri="{A12FA001-AC4F-418D-AE19-62706E023703}">
                      <ahyp:hlinkClr xmlns:ahyp="http://schemas.microsoft.com/office/drawing/2018/hyperlinkcolor" val="tx"/>
                    </a:ext>
                  </a:extLst>
                </a:hlinkClick>
              </a:rPr>
              <a:t>🔗  </a:t>
            </a:r>
            <a:pPr algn="l" indent="0" marL="0">
              <a:buNone/>
            </a:pPr>
            <a:r>
              <a:rPr lang="en-US" sz="1100" b="1" u="sng" dirty="0">
                <a:solidFill>
                  <a:srgbClr val="1A1A1A"/>
                </a:solidFill>
                <a:latin typeface="Consolas" pitchFamily="34" charset="0"/>
                <a:ea typeface="Consolas" pitchFamily="34" charset="-122"/>
                <a:cs typeface="Consolas"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LeetCode Reference:  https://leetcode.com/problems/search-in-a-binary-search-tree/  (#700)</a:t>
            </a:r>
            <a:endParaRPr lang="en-US" sz="1200" dirty="0"/>
          </a:p>
        </p:txBody>
      </p:sp>
      <p:sp>
        <p:nvSpPr>
          <p:cNvPr id="8" name="Text 5"/>
          <p:cNvSpPr/>
          <p:nvPr/>
        </p:nvSpPr>
        <p:spPr>
          <a:xfrm>
            <a:off x="274320" y="2423160"/>
            <a:ext cx="2743200" cy="274320"/>
          </a:xfrm>
          <a:prstGeom prst="rect">
            <a:avLst/>
          </a:prstGeom>
          <a:noFill/>
          <a:ln/>
        </p:spPr>
        <p:txBody>
          <a:bodyPr wrap="square" lIns="0" tIns="0" rIns="0" bIns="0" rtlCol="0" anchor="ctr"/>
          <a:lstStyle/>
          <a:p>
            <a:pPr algn="l" indent="0" marL="0">
              <a:buNone/>
            </a:pPr>
            <a:r>
              <a:rPr lang="en-US" sz="1400" b="1" dirty="0">
                <a:solidFill>
                  <a:srgbClr val="1A1A1A"/>
                </a:solidFill>
                <a:latin typeface="Georgia" pitchFamily="34" charset="0"/>
                <a:ea typeface="Georgia" pitchFamily="34" charset="-122"/>
                <a:cs typeface="Georgia" pitchFamily="34" charset="-120"/>
              </a:rPr>
              <a:t>Test Cases: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2743200"/>
          <a:ext cx="8595360" cy="914400"/>
        </p:xfrm>
        <a:graphic>
          <a:graphicData uri="http://schemas.openxmlformats.org/drawingml/2006/table">
            <a:tbl>
              <a:tblPr/>
              <a:tblGrid>
                <a:gridCol w="2286000"/>
                <a:gridCol w="1828800"/>
                <a:gridCol w="4480560"/>
              </a:tblGrid>
              <a:tr h="411480">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Input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Expected Output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Explanation</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root=[4,2,7,1,3], val=2</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[2,1,3]</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Node 2 found with children 1 and 3</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root=[4,2,7,1,3], val=5</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null</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Value 5 does not exist in the tree</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root=[5], val=5</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[5]</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Single node, exact match</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root=[4,2,7], val=7</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[7]</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Leaf match on the right side</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Approach</a:t>
            </a:r>
            <a:endParaRPr lang="en-US" sz="2800" dirty="0"/>
          </a:p>
        </p:txBody>
      </p:sp>
      <p:sp>
        <p:nvSpPr>
          <p:cNvPr id="4" name="Shape 1"/>
          <p:cNvSpPr/>
          <p:nvPr/>
        </p:nvSpPr>
        <p:spPr>
          <a:xfrm>
            <a:off x="274320" y="1325880"/>
            <a:ext cx="4297680" cy="3611880"/>
          </a:xfrm>
          <a:prstGeom prst="rect">
            <a:avLst/>
          </a:prstGeom>
          <a:solidFill>
            <a:srgbClr val="F5F5F5"/>
          </a:solidFill>
          <a:ln w="12700">
            <a:solidFill>
              <a:srgbClr val="D1D5DB"/>
            </a:solidFill>
            <a:prstDash val="solid"/>
          </a:ln>
        </p:spPr>
      </p:sp>
      <p:sp>
        <p:nvSpPr>
          <p:cNvPr id="5" name="Shape 2"/>
          <p:cNvSpPr/>
          <p:nvPr/>
        </p:nvSpPr>
        <p:spPr>
          <a:xfrm>
            <a:off x="274320" y="960120"/>
            <a:ext cx="4297680" cy="365760"/>
          </a:xfrm>
          <a:prstGeom prst="rect">
            <a:avLst/>
          </a:prstGeom>
          <a:solidFill>
            <a:srgbClr val="B22234"/>
          </a:solidFill>
          <a:ln w="12700">
            <a:solidFill>
              <a:srgbClr val="B22234"/>
            </a:solidFill>
            <a:prstDash val="solid"/>
          </a:ln>
        </p:spPr>
      </p:sp>
      <p:sp>
        <p:nvSpPr>
          <p:cNvPr id="6" name="Text 3"/>
          <p:cNvSpPr/>
          <p:nvPr/>
        </p:nvSpPr>
        <p:spPr>
          <a:xfrm>
            <a:off x="274320" y="960120"/>
            <a:ext cx="42976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Step-by-Step Approach</a:t>
            </a:r>
            <a:endParaRPr lang="en-US" sz="1500" dirty="0"/>
          </a:p>
        </p:txBody>
      </p:sp>
      <p:sp>
        <p:nvSpPr>
          <p:cNvPr id="7" name="Shape 4"/>
          <p:cNvSpPr/>
          <p:nvPr/>
        </p:nvSpPr>
        <p:spPr>
          <a:xfrm>
            <a:off x="457200" y="1572768"/>
            <a:ext cx="384048" cy="384048"/>
          </a:xfrm>
          <a:prstGeom prst="ellipse">
            <a:avLst/>
          </a:prstGeom>
          <a:solidFill>
            <a:srgbClr val="B22234"/>
          </a:solidFill>
          <a:ln w="12700">
            <a:solidFill>
              <a:srgbClr val="B22234"/>
            </a:solidFill>
            <a:prstDash val="solid"/>
          </a:ln>
        </p:spPr>
      </p:sp>
      <p:sp>
        <p:nvSpPr>
          <p:cNvPr id="8" name="Text 5"/>
          <p:cNvSpPr/>
          <p:nvPr/>
        </p:nvSpPr>
        <p:spPr>
          <a:xfrm>
            <a:off x="45720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6"/>
          <p:cNvSpPr/>
          <p:nvPr/>
        </p:nvSpPr>
        <p:spPr>
          <a:xfrm>
            <a:off x="960120" y="1508760"/>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Define a Node class with three fields: val, left, right (children).</a:t>
            </a:r>
            <a:endParaRPr lang="en-US" sz="1100" dirty="0"/>
          </a:p>
        </p:txBody>
      </p:sp>
      <p:sp>
        <p:nvSpPr>
          <p:cNvPr id="10" name="Shape 7"/>
          <p:cNvSpPr/>
          <p:nvPr/>
        </p:nvSpPr>
        <p:spPr>
          <a:xfrm>
            <a:off x="457200" y="2240280"/>
            <a:ext cx="384048" cy="384048"/>
          </a:xfrm>
          <a:prstGeom prst="ellipse">
            <a:avLst/>
          </a:prstGeom>
          <a:solidFill>
            <a:srgbClr val="B22234"/>
          </a:solidFill>
          <a:ln w="12700">
            <a:solidFill>
              <a:srgbClr val="B22234"/>
            </a:solidFill>
            <a:prstDash val="solid"/>
          </a:ln>
        </p:spPr>
      </p:sp>
      <p:sp>
        <p:nvSpPr>
          <p:cNvPr id="11" name="Text 8"/>
          <p:cNvSpPr/>
          <p:nvPr/>
        </p:nvSpPr>
        <p:spPr>
          <a:xfrm>
            <a:off x="45720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9"/>
          <p:cNvSpPr/>
          <p:nvPr/>
        </p:nvSpPr>
        <p:spPr>
          <a:xfrm>
            <a:off x="960120" y="2176272"/>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Search: compare val with current node; recurse left/right based on ordering; return node when equal or null when absent.</a:t>
            </a:r>
            <a:endParaRPr lang="en-US" sz="1100" dirty="0"/>
          </a:p>
        </p:txBody>
      </p:sp>
      <p:sp>
        <p:nvSpPr>
          <p:cNvPr id="13" name="Shape 10"/>
          <p:cNvSpPr/>
          <p:nvPr/>
        </p:nvSpPr>
        <p:spPr>
          <a:xfrm>
            <a:off x="457200" y="2907792"/>
            <a:ext cx="384048" cy="384048"/>
          </a:xfrm>
          <a:prstGeom prst="ellipse">
            <a:avLst/>
          </a:prstGeom>
          <a:solidFill>
            <a:srgbClr val="B22234"/>
          </a:solidFill>
          <a:ln w="12700">
            <a:solidFill>
              <a:srgbClr val="B22234"/>
            </a:solidFill>
            <a:prstDash val="solid"/>
          </a:ln>
        </p:spPr>
      </p:sp>
      <p:sp>
        <p:nvSpPr>
          <p:cNvPr id="14" name="Text 11"/>
          <p:cNvSpPr/>
          <p:nvPr/>
        </p:nvSpPr>
        <p:spPr>
          <a:xfrm>
            <a:off x="457200" y="2907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2"/>
          <p:cNvSpPr/>
          <p:nvPr/>
        </p:nvSpPr>
        <p:spPr>
          <a:xfrm>
            <a:off x="960120" y="2843784"/>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Insert: follow the same path as search; create the new node at the null pointer reached.</a:t>
            </a:r>
            <a:endParaRPr lang="en-US" sz="1100" dirty="0"/>
          </a:p>
        </p:txBody>
      </p:sp>
      <p:sp>
        <p:nvSpPr>
          <p:cNvPr id="16" name="Shape 13"/>
          <p:cNvSpPr/>
          <p:nvPr/>
        </p:nvSpPr>
        <p:spPr>
          <a:xfrm>
            <a:off x="457200" y="3575304"/>
            <a:ext cx="384048" cy="384048"/>
          </a:xfrm>
          <a:prstGeom prst="ellipse">
            <a:avLst/>
          </a:prstGeom>
          <a:solidFill>
            <a:srgbClr val="B22234"/>
          </a:solidFill>
          <a:ln w="12700">
            <a:solidFill>
              <a:srgbClr val="B22234"/>
            </a:solidFill>
            <a:prstDash val="solid"/>
          </a:ln>
        </p:spPr>
      </p:sp>
      <p:sp>
        <p:nvSpPr>
          <p:cNvPr id="17" name="Text 14"/>
          <p:cNvSpPr/>
          <p:nvPr/>
        </p:nvSpPr>
        <p:spPr>
          <a:xfrm>
            <a:off x="457200" y="3575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5"/>
          <p:cNvSpPr/>
          <p:nvPr/>
        </p:nvSpPr>
        <p:spPr>
          <a:xfrm>
            <a:off x="960120" y="3511296"/>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Delete: handle three cases — leaf, one child, and two children (use inorder successor).</a:t>
            </a:r>
            <a:endParaRPr lang="en-US" sz="1100" dirty="0"/>
          </a:p>
        </p:txBody>
      </p:sp>
      <p:sp>
        <p:nvSpPr>
          <p:cNvPr id="19" name="Shape 16"/>
          <p:cNvSpPr/>
          <p:nvPr/>
        </p:nvSpPr>
        <p:spPr>
          <a:xfrm>
            <a:off x="457200" y="4242816"/>
            <a:ext cx="384048" cy="384048"/>
          </a:xfrm>
          <a:prstGeom prst="ellipse">
            <a:avLst/>
          </a:prstGeom>
          <a:solidFill>
            <a:srgbClr val="B22234"/>
          </a:solidFill>
          <a:ln w="12700">
            <a:solidFill>
              <a:srgbClr val="B22234"/>
            </a:solidFill>
            <a:prstDash val="solid"/>
          </a:ln>
        </p:spPr>
      </p:sp>
      <p:sp>
        <p:nvSpPr>
          <p:cNvPr id="20" name="Text 17"/>
          <p:cNvSpPr/>
          <p:nvPr/>
        </p:nvSpPr>
        <p:spPr>
          <a:xfrm>
            <a:off x="457200" y="4242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1" name="Text 18"/>
          <p:cNvSpPr/>
          <p:nvPr/>
        </p:nvSpPr>
        <p:spPr>
          <a:xfrm>
            <a:off x="960120" y="4178808"/>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Verify correctness with inorder traversal — output must always be sorted ascending.</a:t>
            </a:r>
            <a:endParaRPr lang="en-US" sz="1100" dirty="0"/>
          </a:p>
        </p:txBody>
      </p:sp>
      <p:sp>
        <p:nvSpPr>
          <p:cNvPr id="22" name="Shape 19"/>
          <p:cNvSpPr/>
          <p:nvPr/>
        </p:nvSpPr>
        <p:spPr>
          <a:xfrm>
            <a:off x="4709160" y="960120"/>
            <a:ext cx="4160520" cy="365760"/>
          </a:xfrm>
          <a:prstGeom prst="rect">
            <a:avLst/>
          </a:prstGeom>
          <a:solidFill>
            <a:srgbClr val="1F3864"/>
          </a:solidFill>
          <a:ln w="12700">
            <a:solidFill>
              <a:srgbClr val="1F3864"/>
            </a:solidFill>
            <a:prstDash val="solid"/>
          </a:ln>
        </p:spPr>
      </p:sp>
      <p:sp>
        <p:nvSpPr>
          <p:cNvPr id="23" name="Text 20"/>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Complexity Analysis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09160" y="1371600"/>
          <a:ext cx="4160520" cy="914400"/>
        </p:xfrm>
        <a:graphic>
          <a:graphicData uri="http://schemas.openxmlformats.org/drawingml/2006/table">
            <a:tbl>
              <a:tblPr/>
              <a:tblGrid>
                <a:gridCol w="1417320"/>
                <a:gridCol w="1508760"/>
                <a:gridCol w="1234440"/>
              </a:tblGrid>
              <a:tr h="347472">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Approach</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Time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Space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Search</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O(log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O(h)</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Insert</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O(log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O(h)</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Delete</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O(log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O(h)</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hape 21"/>
          <p:cNvSpPr/>
          <p:nvPr/>
        </p:nvSpPr>
        <p:spPr>
          <a:xfrm>
            <a:off x="4709160" y="2834640"/>
            <a:ext cx="4160520" cy="637032"/>
          </a:xfrm>
          <a:prstGeom prst="rect">
            <a:avLst/>
          </a:prstGeom>
          <a:solidFill>
            <a:srgbClr val="FFFFFF"/>
          </a:solidFill>
          <a:ln w="12700">
            <a:solidFill>
              <a:srgbClr val="B22234"/>
            </a:solidFill>
            <a:prstDash val="solid"/>
          </a:ln>
        </p:spPr>
      </p:sp>
      <p:sp>
        <p:nvSpPr>
          <p:cNvPr id="26" name="Shape 22"/>
          <p:cNvSpPr/>
          <p:nvPr/>
        </p:nvSpPr>
        <p:spPr>
          <a:xfrm>
            <a:off x="4709160" y="2834640"/>
            <a:ext cx="64008" cy="637032"/>
          </a:xfrm>
          <a:prstGeom prst="rect">
            <a:avLst/>
          </a:prstGeom>
          <a:solidFill>
            <a:srgbClr val="B22234"/>
          </a:solidFill>
          <a:ln w="12700">
            <a:solidFill>
              <a:srgbClr val="B22234"/>
            </a:solidFill>
            <a:prstDash val="solid"/>
          </a:ln>
        </p:spPr>
      </p:sp>
      <p:sp>
        <p:nvSpPr>
          <p:cNvPr id="27" name="Text 23"/>
          <p:cNvSpPr/>
          <p:nvPr/>
        </p:nvSpPr>
        <p:spPr>
          <a:xfrm>
            <a:off x="4873752" y="2871216"/>
            <a:ext cx="3922776" cy="563880"/>
          </a:xfrm>
          <a:prstGeom prst="rect">
            <a:avLst/>
          </a:prstGeom>
          <a:noFill/>
          <a:ln/>
        </p:spPr>
        <p:txBody>
          <a:bodyPr wrap="square" rtlCol="0" anchor="ctr"/>
          <a:lstStyle/>
          <a:p>
            <a:pPr algn="l" indent="0" marL="0">
              <a:buNone/>
            </a:pPr>
            <a:r>
              <a:rPr lang="en-US" sz="1050" b="1" dirty="0">
                <a:solidFill>
                  <a:srgbClr val="B22234"/>
                </a:solidFill>
                <a:latin typeface="Arial" pitchFamily="34" charset="0"/>
                <a:ea typeface="Arial" pitchFamily="34" charset="-122"/>
                <a:cs typeface="Arial" pitchFamily="34" charset="-120"/>
              </a:rPr>
              <a:t>Average vs Worst Case: </a:t>
            </a:r>
            <a:pPr algn="l" indent="0" marL="0">
              <a:buNone/>
            </a:pPr>
            <a:r>
              <a:rPr lang="en-US" sz="1050" dirty="0">
                <a:solidFill>
                  <a:srgbClr val="333333"/>
                </a:solidFill>
                <a:latin typeface="Arial" pitchFamily="34" charset="0"/>
                <a:ea typeface="Arial" pitchFamily="34" charset="-122"/>
                <a:cs typeface="Arial" pitchFamily="34" charset="-120"/>
              </a:rPr>
              <a:t>Balanced tree gives O(log n); fully skewed tree (sorted insertion) degrades to O(n) — equivalent to a linked list.</a:t>
            </a:r>
            <a:endParaRPr lang="en-US" sz="1050" dirty="0"/>
          </a:p>
        </p:txBody>
      </p:sp>
      <p:sp>
        <p:nvSpPr>
          <p:cNvPr id="28" name="Shape 24"/>
          <p:cNvSpPr/>
          <p:nvPr/>
        </p:nvSpPr>
        <p:spPr>
          <a:xfrm>
            <a:off x="4709160" y="3544824"/>
            <a:ext cx="4160520" cy="637032"/>
          </a:xfrm>
          <a:prstGeom prst="rect">
            <a:avLst/>
          </a:prstGeom>
          <a:solidFill>
            <a:srgbClr val="FFFFFF"/>
          </a:solidFill>
          <a:ln w="12700">
            <a:solidFill>
              <a:srgbClr val="2C5F2D"/>
            </a:solidFill>
            <a:prstDash val="solid"/>
          </a:ln>
        </p:spPr>
      </p:sp>
      <p:sp>
        <p:nvSpPr>
          <p:cNvPr id="29" name="Shape 25"/>
          <p:cNvSpPr/>
          <p:nvPr/>
        </p:nvSpPr>
        <p:spPr>
          <a:xfrm>
            <a:off x="4709160" y="3544824"/>
            <a:ext cx="64008" cy="637032"/>
          </a:xfrm>
          <a:prstGeom prst="rect">
            <a:avLst/>
          </a:prstGeom>
          <a:solidFill>
            <a:srgbClr val="2C5F2D"/>
          </a:solidFill>
          <a:ln w="12700">
            <a:solidFill>
              <a:srgbClr val="2C5F2D"/>
            </a:solidFill>
            <a:prstDash val="solid"/>
          </a:ln>
        </p:spPr>
      </p:sp>
      <p:sp>
        <p:nvSpPr>
          <p:cNvPr id="30" name="Text 26"/>
          <p:cNvSpPr/>
          <p:nvPr/>
        </p:nvSpPr>
        <p:spPr>
          <a:xfrm>
            <a:off x="4873752" y="3581400"/>
            <a:ext cx="3922776" cy="563880"/>
          </a:xfrm>
          <a:prstGeom prst="rect">
            <a:avLst/>
          </a:prstGeom>
          <a:noFill/>
          <a:ln/>
        </p:spPr>
        <p:txBody>
          <a:bodyPr wrap="square" rtlCol="0" anchor="ctr"/>
          <a:lstStyle/>
          <a:p>
            <a:pPr algn="l" indent="0" marL="0">
              <a:buNone/>
            </a:pPr>
            <a:r>
              <a:rPr lang="en-US" sz="1050" b="1" dirty="0">
                <a:solidFill>
                  <a:srgbClr val="2C5F2D"/>
                </a:solidFill>
                <a:latin typeface="Arial" pitchFamily="34" charset="0"/>
                <a:ea typeface="Arial" pitchFamily="34" charset="-122"/>
                <a:cs typeface="Arial" pitchFamily="34" charset="-120"/>
              </a:rPr>
              <a:t>Tip — Use Inorder for Validation: </a:t>
            </a:r>
            <a:pPr algn="l" indent="0" marL="0">
              <a:buNone/>
            </a:pPr>
            <a:r>
              <a:rPr lang="en-US" sz="1050" dirty="0">
                <a:solidFill>
                  <a:srgbClr val="333333"/>
                </a:solidFill>
                <a:latin typeface="Arial" pitchFamily="34" charset="0"/>
                <a:ea typeface="Arial" pitchFamily="34" charset="-122"/>
                <a:cs typeface="Arial" pitchFamily="34" charset="-120"/>
              </a:rPr>
              <a:t>Run inorder traversal after every batch of operations. If the output is not sorted, the BST property has been violated.</a:t>
            </a:r>
            <a:endParaRPr lang="en-US" sz="1050" dirty="0"/>
          </a:p>
        </p:txBody>
      </p:sp>
      <p:sp>
        <p:nvSpPr>
          <p:cNvPr id="31" name="Shape 27"/>
          <p:cNvSpPr/>
          <p:nvPr/>
        </p:nvSpPr>
        <p:spPr>
          <a:xfrm>
            <a:off x="4709160" y="4255008"/>
            <a:ext cx="4160520" cy="637032"/>
          </a:xfrm>
          <a:prstGeom prst="rect">
            <a:avLst/>
          </a:prstGeom>
          <a:solidFill>
            <a:srgbClr val="FFFFFF"/>
          </a:solidFill>
          <a:ln w="12700">
            <a:solidFill>
              <a:srgbClr val="1F3864"/>
            </a:solidFill>
            <a:prstDash val="solid"/>
          </a:ln>
        </p:spPr>
      </p:sp>
      <p:sp>
        <p:nvSpPr>
          <p:cNvPr id="32" name="Shape 28"/>
          <p:cNvSpPr/>
          <p:nvPr/>
        </p:nvSpPr>
        <p:spPr>
          <a:xfrm>
            <a:off x="4709160" y="4255008"/>
            <a:ext cx="64008" cy="637032"/>
          </a:xfrm>
          <a:prstGeom prst="rect">
            <a:avLst/>
          </a:prstGeom>
          <a:solidFill>
            <a:srgbClr val="1F3864"/>
          </a:solidFill>
          <a:ln w="12700">
            <a:solidFill>
              <a:srgbClr val="1F3864"/>
            </a:solidFill>
            <a:prstDash val="solid"/>
          </a:ln>
        </p:spPr>
      </p:sp>
      <p:sp>
        <p:nvSpPr>
          <p:cNvPr id="33" name="Text 29"/>
          <p:cNvSpPr/>
          <p:nvPr/>
        </p:nvSpPr>
        <p:spPr>
          <a:xfrm>
            <a:off x="4873752" y="4291584"/>
            <a:ext cx="3922776" cy="563880"/>
          </a:xfrm>
          <a:prstGeom prst="rect">
            <a:avLst/>
          </a:prstGeom>
          <a:noFill/>
          <a:ln/>
        </p:spPr>
        <p:txBody>
          <a:bodyPr wrap="square" rtlCol="0" anchor="ctr"/>
          <a:lstStyle/>
          <a:p>
            <a:pPr algn="l" indent="0" marL="0">
              <a:buNone/>
            </a:pPr>
            <a:r>
              <a:rPr lang="en-US" sz="1050" b="1" dirty="0">
                <a:solidFill>
                  <a:srgbClr val="1F3864"/>
                </a:solidFill>
                <a:latin typeface="Arial" pitchFamily="34" charset="0"/>
                <a:ea typeface="Arial" pitchFamily="34" charset="-122"/>
                <a:cs typeface="Arial" pitchFamily="34" charset="-120"/>
              </a:rPr>
              <a:t>Foundation Stone: </a:t>
            </a:r>
            <a:pPr algn="l" indent="0" marL="0">
              <a:buNone/>
            </a:pPr>
            <a:r>
              <a:rPr lang="en-US" sz="1050" dirty="0">
                <a:solidFill>
                  <a:srgbClr val="333333"/>
                </a:solidFill>
                <a:latin typeface="Arial" pitchFamily="34" charset="0"/>
                <a:ea typeface="Arial" pitchFamily="34" charset="-122"/>
                <a:cs typeface="Arial" pitchFamily="34" charset="-120"/>
              </a:rPr>
              <a:t>BSTs underpin balanced trees (AVL, Red-Black), sets, ordered maps, and database indexes — master this experiment first.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Pseudocode</a:t>
            </a:r>
            <a:endParaRPr lang="en-US" sz="2800" dirty="0"/>
          </a:p>
        </p:txBody>
      </p:sp>
      <p:sp>
        <p:nvSpPr>
          <p:cNvPr id="4" name="Shape 1"/>
          <p:cNvSpPr/>
          <p:nvPr/>
        </p:nvSpPr>
        <p:spPr>
          <a:xfrm>
            <a:off x="274320" y="960120"/>
            <a:ext cx="4160520" cy="3977640"/>
          </a:xfrm>
          <a:prstGeom prst="rect">
            <a:avLst/>
          </a:prstGeom>
          <a:solidFill>
            <a:srgbClr val="111827"/>
          </a:solidFill>
          <a:ln w="12700">
            <a:solidFill>
              <a:srgbClr val="111827"/>
            </a:solidFill>
            <a:prstDash val="solid"/>
          </a:ln>
        </p:spPr>
      </p:sp>
      <p:sp>
        <p:nvSpPr>
          <p:cNvPr id="5" name="Shape 2"/>
          <p:cNvSpPr/>
          <p:nvPr/>
        </p:nvSpPr>
        <p:spPr>
          <a:xfrm>
            <a:off x="274320" y="960120"/>
            <a:ext cx="4160520" cy="365760"/>
          </a:xfrm>
          <a:prstGeom prst="rect">
            <a:avLst/>
          </a:prstGeom>
          <a:solidFill>
            <a:srgbClr val="B22234"/>
          </a:solidFill>
          <a:ln w="12700">
            <a:solidFill>
              <a:srgbClr val="B22234"/>
            </a:solidFill>
            <a:prstDash val="solid"/>
          </a:ln>
        </p:spPr>
      </p:sp>
      <p:sp>
        <p:nvSpPr>
          <p:cNvPr id="6" name="Text 3"/>
          <p:cNvSpPr/>
          <p:nvPr/>
        </p:nvSpPr>
        <p:spPr>
          <a:xfrm>
            <a:off x="27432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Search &amp; Insert  —  O(log n)</a:t>
            </a:r>
            <a:endParaRPr lang="en-US" sz="1300" dirty="0"/>
          </a:p>
        </p:txBody>
      </p:sp>
      <p:sp>
        <p:nvSpPr>
          <p:cNvPr id="7" name="Text 4"/>
          <p:cNvSpPr/>
          <p:nvPr/>
        </p:nvSpPr>
        <p:spPr>
          <a:xfrm>
            <a:off x="411480" y="1417320"/>
            <a:ext cx="3886200" cy="3429000"/>
          </a:xfrm>
          <a:prstGeom prst="rect">
            <a:avLst/>
          </a:prstGeom>
          <a:noFill/>
          <a:ln/>
        </p:spPr>
        <p:txBody>
          <a:bodyPr wrap="square" rtlCol="0" anchor="t"/>
          <a:lstStyle/>
          <a:p>
            <a:pPr algn="l" indent="0" marL="0">
              <a:buNone/>
            </a:pPr>
            <a:r>
              <a:rPr lang="en-US" sz="950" dirty="0">
                <a:solidFill>
                  <a:srgbClr val="9CA3AF"/>
                </a:solidFill>
                <a:latin typeface="Consolas" pitchFamily="34" charset="0"/>
                <a:ea typeface="Consolas" pitchFamily="34" charset="-122"/>
                <a:cs typeface="Consolas" pitchFamily="34" charset="-120"/>
              </a:rPr>
              <a:t>// Search a value in BST</a:t>
            </a:r>
            <a:endParaRPr lang="en-US" sz="950" dirty="0"/>
          </a:p>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search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 &lt;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search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search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Insert a new value</a:t>
            </a:r>
            <a:endParaRPr lang="en-US" sz="950" dirty="0"/>
          </a:p>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insert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new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 &lt;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insert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else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insert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endParaRPr lang="en-US" sz="950" dirty="0"/>
          </a:p>
        </p:txBody>
      </p:sp>
      <p:sp>
        <p:nvSpPr>
          <p:cNvPr id="8" name="Shape 5"/>
          <p:cNvSpPr/>
          <p:nvPr/>
        </p:nvSpPr>
        <p:spPr>
          <a:xfrm>
            <a:off x="4709160" y="960120"/>
            <a:ext cx="4160520" cy="3977640"/>
          </a:xfrm>
          <a:prstGeom prst="rect">
            <a:avLst/>
          </a:prstGeom>
          <a:solidFill>
            <a:srgbClr val="111827"/>
          </a:solidFill>
          <a:ln w="12700">
            <a:solidFill>
              <a:srgbClr val="111827"/>
            </a:solidFill>
            <a:prstDash val="solid"/>
          </a:ln>
        </p:spPr>
      </p:sp>
      <p:sp>
        <p:nvSpPr>
          <p:cNvPr id="9" name="Shape 6"/>
          <p:cNvSpPr/>
          <p:nvPr/>
        </p:nvSpPr>
        <p:spPr>
          <a:xfrm>
            <a:off x="4709160" y="960120"/>
            <a:ext cx="4160520" cy="365760"/>
          </a:xfrm>
          <a:prstGeom prst="rect">
            <a:avLst/>
          </a:prstGeom>
          <a:solidFill>
            <a:srgbClr val="1F3864"/>
          </a:solidFill>
          <a:ln w="12700">
            <a:solidFill>
              <a:srgbClr val="1F3864"/>
            </a:solidFill>
            <a:prstDash val="solid"/>
          </a:ln>
        </p:spPr>
      </p:sp>
      <p:sp>
        <p:nvSpPr>
          <p:cNvPr id="10" name="Text 7"/>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Delete &amp; Inorder  —  O(log n) / O(n)</a:t>
            </a:r>
            <a:endParaRPr lang="en-US" sz="1300" dirty="0"/>
          </a:p>
        </p:txBody>
      </p:sp>
      <p:sp>
        <p:nvSpPr>
          <p:cNvPr id="11" name="Text 8"/>
          <p:cNvSpPr/>
          <p:nvPr/>
        </p:nvSpPr>
        <p:spPr>
          <a:xfrm>
            <a:off x="4846320" y="1417320"/>
            <a:ext cx="3886200" cy="3429000"/>
          </a:xfrm>
          <a:prstGeom prst="rect">
            <a:avLst/>
          </a:prstGeom>
          <a:noFill/>
          <a:ln/>
        </p:spPr>
        <p:txBody>
          <a:bodyPr wrap="square" rtlCol="0" anchor="t"/>
          <a:lstStyle/>
          <a:p>
            <a:pPr algn="l" indent="0" marL="0">
              <a:buNone/>
            </a:pPr>
            <a:r>
              <a:rPr lang="en-US" sz="950" dirty="0">
                <a:solidFill>
                  <a:srgbClr val="9CA3AF"/>
                </a:solidFill>
                <a:latin typeface="Consolas" pitchFamily="34" charset="0"/>
                <a:ea typeface="Consolas" pitchFamily="34" charset="-122"/>
                <a:cs typeface="Consolas" pitchFamily="34" charset="-120"/>
              </a:rPr>
              <a:t>// Delete a value</a:t>
            </a:r>
            <a:endParaRPr lang="en-US" sz="950" dirty="0"/>
          </a:p>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delete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 &lt;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delete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elif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 &gt;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delete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else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succ</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minValue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succ</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delete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succ</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Inorder Traversal — yields sorted order</a:t>
            </a:r>
            <a:endParaRPr lang="en-US" sz="950" dirty="0"/>
          </a:p>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inorder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null</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inorder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left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print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inorder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root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right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Code Implementation</a:t>
            </a:r>
            <a:endParaRPr lang="en-US" sz="2800" dirty="0"/>
          </a:p>
        </p:txBody>
      </p:sp>
      <p:sp>
        <p:nvSpPr>
          <p:cNvPr id="4" name="Shape 1"/>
          <p:cNvSpPr/>
          <p:nvPr/>
        </p:nvSpPr>
        <p:spPr>
          <a:xfrm>
            <a:off x="274320" y="960120"/>
            <a:ext cx="2834640" cy="3977640"/>
          </a:xfrm>
          <a:prstGeom prst="rect">
            <a:avLst/>
          </a:prstGeom>
          <a:solidFill>
            <a:srgbClr val="111827"/>
          </a:solidFill>
          <a:ln w="12700">
            <a:solidFill>
              <a:srgbClr val="111827"/>
            </a:solidFill>
            <a:prstDash val="solid"/>
          </a:ln>
        </p:spPr>
      </p:sp>
      <p:sp>
        <p:nvSpPr>
          <p:cNvPr id="5" name="Shape 2"/>
          <p:cNvSpPr/>
          <p:nvPr/>
        </p:nvSpPr>
        <p:spPr>
          <a:xfrm>
            <a:off x="274320" y="960120"/>
            <a:ext cx="2834640" cy="365760"/>
          </a:xfrm>
          <a:prstGeom prst="rect">
            <a:avLst/>
          </a:prstGeom>
          <a:solidFill>
            <a:srgbClr val="1F3864"/>
          </a:solidFill>
          <a:ln w="12700">
            <a:solidFill>
              <a:srgbClr val="1F3864"/>
            </a:solidFill>
            <a:prstDash val="solid"/>
          </a:ln>
        </p:spPr>
      </p:sp>
      <p:sp>
        <p:nvSpPr>
          <p:cNvPr id="6" name="Text 3"/>
          <p:cNvSpPr/>
          <p:nvPr/>
        </p:nvSpPr>
        <p:spPr>
          <a:xfrm>
            <a:off x="274320"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C++</a:t>
            </a:r>
            <a:endParaRPr lang="en-US" sz="1200" dirty="0"/>
          </a:p>
        </p:txBody>
      </p:sp>
      <p:sp>
        <p:nvSpPr>
          <p:cNvPr id="7" name="Text 4"/>
          <p:cNvSpPr/>
          <p:nvPr/>
        </p:nvSpPr>
        <p:spPr>
          <a:xfrm>
            <a:off x="365760" y="1399032"/>
            <a:ext cx="2651760" cy="3465576"/>
          </a:xfrm>
          <a:prstGeom prst="rect">
            <a:avLst/>
          </a:prstGeom>
          <a:noFill/>
          <a:ln/>
        </p:spPr>
        <p:txBody>
          <a:bodyPr wrap="square" rtlCol="0" anchor="t"/>
          <a:lstStyle/>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iostream</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using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namespace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std</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struct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new</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l</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l</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else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-&gt;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
        <p:nvSpPr>
          <p:cNvPr id="8" name="Shape 5"/>
          <p:cNvSpPr/>
          <p:nvPr/>
        </p:nvSpPr>
        <p:spPr>
          <a:xfrm>
            <a:off x="3182112" y="960120"/>
            <a:ext cx="2834640" cy="3977640"/>
          </a:xfrm>
          <a:prstGeom prst="rect">
            <a:avLst/>
          </a:prstGeom>
          <a:solidFill>
            <a:srgbClr val="111827"/>
          </a:solidFill>
          <a:ln w="12700">
            <a:solidFill>
              <a:srgbClr val="111827"/>
            </a:solidFill>
            <a:prstDash val="solid"/>
          </a:ln>
        </p:spPr>
      </p:sp>
      <p:sp>
        <p:nvSpPr>
          <p:cNvPr id="9" name="Shape 6"/>
          <p:cNvSpPr/>
          <p:nvPr/>
        </p:nvSpPr>
        <p:spPr>
          <a:xfrm>
            <a:off x="3182112" y="960120"/>
            <a:ext cx="2834640" cy="365760"/>
          </a:xfrm>
          <a:prstGeom prst="rect">
            <a:avLst/>
          </a:prstGeom>
          <a:solidFill>
            <a:srgbClr val="2C5F2D"/>
          </a:solidFill>
          <a:ln w="12700">
            <a:solidFill>
              <a:srgbClr val="2C5F2D"/>
            </a:solidFill>
            <a:prstDash val="solid"/>
          </a:ln>
        </p:spPr>
      </p:sp>
      <p:sp>
        <p:nvSpPr>
          <p:cNvPr id="10" name="Text 7"/>
          <p:cNvSpPr/>
          <p:nvPr/>
        </p:nvSpPr>
        <p:spPr>
          <a:xfrm>
            <a:off x="3182112"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Java  (Functional Style)</a:t>
            </a:r>
            <a:endParaRPr lang="en-US" sz="1200" dirty="0"/>
          </a:p>
        </p:txBody>
      </p:sp>
      <p:sp>
        <p:nvSpPr>
          <p:cNvPr id="11" name="Text 8"/>
          <p:cNvSpPr/>
          <p:nvPr/>
        </p:nvSpPr>
        <p:spPr>
          <a:xfrm>
            <a:off x="3273552"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BST</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b="1" dirty="0">
                <a:solidFill>
                  <a:srgbClr val="60A5FA"/>
                </a:solidFill>
                <a:latin typeface="Consolas" pitchFamily="34" charset="0"/>
                <a:ea typeface="Consolas" pitchFamily="34" charset="-122"/>
                <a:cs typeface="Consolas" pitchFamily="34" charset="-120"/>
              </a:rPr>
              <a:t>null</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new</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else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b="1" dirty="0">
                <a:solidFill>
                  <a:srgbClr val="60A5FA"/>
                </a:solidFill>
                <a:latin typeface="Consolas" pitchFamily="34" charset="0"/>
                <a:ea typeface="Consolas" pitchFamily="34" charset="-122"/>
                <a:cs typeface="Consolas" pitchFamily="34" charset="-120"/>
              </a:rPr>
              <a:t>null</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
        <p:nvSpPr>
          <p:cNvPr id="12" name="Shape 9"/>
          <p:cNvSpPr/>
          <p:nvPr/>
        </p:nvSpPr>
        <p:spPr>
          <a:xfrm>
            <a:off x="6089904" y="960120"/>
            <a:ext cx="2834640" cy="3977640"/>
          </a:xfrm>
          <a:prstGeom prst="rect">
            <a:avLst/>
          </a:prstGeom>
          <a:solidFill>
            <a:srgbClr val="111827"/>
          </a:solidFill>
          <a:ln w="12700">
            <a:solidFill>
              <a:srgbClr val="111827"/>
            </a:solidFill>
            <a:prstDash val="solid"/>
          </a:ln>
        </p:spPr>
      </p:sp>
      <p:sp>
        <p:nvSpPr>
          <p:cNvPr id="13" name="Shape 10"/>
          <p:cNvSpPr/>
          <p:nvPr/>
        </p:nvSpPr>
        <p:spPr>
          <a:xfrm>
            <a:off x="6089904" y="960120"/>
            <a:ext cx="2834640" cy="365760"/>
          </a:xfrm>
          <a:prstGeom prst="rect">
            <a:avLst/>
          </a:prstGeom>
          <a:solidFill>
            <a:srgbClr val="B22234"/>
          </a:solidFill>
          <a:ln w="12700">
            <a:solidFill>
              <a:srgbClr val="B22234"/>
            </a:solidFill>
            <a:prstDash val="solid"/>
          </a:ln>
        </p:spPr>
      </p:sp>
      <p:sp>
        <p:nvSpPr>
          <p:cNvPr id="14" name="Text 11"/>
          <p:cNvSpPr/>
          <p:nvPr/>
        </p:nvSpPr>
        <p:spPr>
          <a:xfrm>
            <a:off x="6089904"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Python</a:t>
            </a:r>
            <a:endParaRPr lang="en-US" sz="1200" dirty="0"/>
          </a:p>
        </p:txBody>
      </p:sp>
      <p:sp>
        <p:nvSpPr>
          <p:cNvPr id="15" name="Text 12"/>
          <p:cNvSpPr/>
          <p:nvPr/>
        </p:nvSpPr>
        <p:spPr>
          <a:xfrm>
            <a:off x="6181344"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__init__</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None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None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None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Node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else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insert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None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or</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val</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left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search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root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right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Learning Outcomes</a:t>
            </a:r>
            <a:endParaRPr lang="en-US" sz="2800" dirty="0"/>
          </a:p>
        </p:txBody>
      </p:sp>
      <p:sp>
        <p:nvSpPr>
          <p:cNvPr id="4" name="Shape 1"/>
          <p:cNvSpPr/>
          <p:nvPr/>
        </p:nvSpPr>
        <p:spPr>
          <a:xfrm>
            <a:off x="365760" y="1005840"/>
            <a:ext cx="4160520" cy="1600200"/>
          </a:xfrm>
          <a:prstGeom prst="rect">
            <a:avLst/>
          </a:prstGeom>
          <a:solidFill>
            <a:srgbClr val="FFFFFF"/>
          </a:solidFill>
          <a:ln w="15875">
            <a:solidFill>
              <a:srgbClr val="B22234"/>
            </a:solidFill>
            <a:prstDash val="solid"/>
          </a:ln>
        </p:spPr>
      </p:sp>
      <p:sp>
        <p:nvSpPr>
          <p:cNvPr id="5" name="Shape 2"/>
          <p:cNvSpPr/>
          <p:nvPr/>
        </p:nvSpPr>
        <p:spPr>
          <a:xfrm>
            <a:off x="365760" y="1005840"/>
            <a:ext cx="164592" cy="1600200"/>
          </a:xfrm>
          <a:prstGeom prst="rect">
            <a:avLst/>
          </a:prstGeom>
          <a:solidFill>
            <a:srgbClr val="B22234"/>
          </a:solidFill>
          <a:ln w="12700">
            <a:solidFill>
              <a:srgbClr val="B22234"/>
            </a:solidFill>
            <a:prstDash val="solid"/>
          </a:ln>
        </p:spPr>
      </p:sp>
      <p:sp>
        <p:nvSpPr>
          <p:cNvPr id="6" name="Text 3"/>
          <p:cNvSpPr/>
          <p:nvPr/>
        </p:nvSpPr>
        <p:spPr>
          <a:xfrm>
            <a:off x="640080" y="1143000"/>
            <a:ext cx="868680" cy="1325880"/>
          </a:xfrm>
          <a:prstGeom prst="rect">
            <a:avLst/>
          </a:prstGeom>
          <a:noFill/>
          <a:ln/>
        </p:spPr>
        <p:txBody>
          <a:bodyPr wrap="square" lIns="0" tIns="0" rIns="0" bIns="0" rtlCol="0" anchor="ctr"/>
          <a:lstStyle/>
          <a:p>
            <a:pPr algn="l" indent="0" marL="0">
              <a:buNone/>
            </a:pPr>
            <a:r>
              <a:rPr lang="en-US" sz="3200" b="1" dirty="0">
                <a:solidFill>
                  <a:srgbClr val="B22234"/>
                </a:solidFill>
                <a:latin typeface="Georgia" pitchFamily="34" charset="0"/>
                <a:ea typeface="Georgia" pitchFamily="34" charset="-122"/>
                <a:cs typeface="Georgia" pitchFamily="34" charset="-120"/>
              </a:rPr>
              <a:t>01</a:t>
            </a:r>
            <a:endParaRPr lang="en-US" sz="3200" dirty="0"/>
          </a:p>
        </p:txBody>
      </p:sp>
      <p:sp>
        <p:nvSpPr>
          <p:cNvPr id="7" name="Text 4"/>
          <p:cNvSpPr/>
          <p:nvPr/>
        </p:nvSpPr>
        <p:spPr>
          <a:xfrm>
            <a:off x="15544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CO1: Define the BST invariant and identify whether a given tree satisfies it.</a:t>
            </a:r>
            <a:endParaRPr lang="en-US" sz="1200" dirty="0"/>
          </a:p>
        </p:txBody>
      </p:sp>
      <p:sp>
        <p:nvSpPr>
          <p:cNvPr id="8" name="Shape 5"/>
          <p:cNvSpPr/>
          <p:nvPr/>
        </p:nvSpPr>
        <p:spPr>
          <a:xfrm>
            <a:off x="4709160" y="1005840"/>
            <a:ext cx="4160520" cy="1600200"/>
          </a:xfrm>
          <a:prstGeom prst="rect">
            <a:avLst/>
          </a:prstGeom>
          <a:solidFill>
            <a:srgbClr val="FFFFFF"/>
          </a:solidFill>
          <a:ln w="15875">
            <a:solidFill>
              <a:srgbClr val="1F3864"/>
            </a:solidFill>
            <a:prstDash val="solid"/>
          </a:ln>
        </p:spPr>
      </p:sp>
      <p:sp>
        <p:nvSpPr>
          <p:cNvPr id="9" name="Shape 6"/>
          <p:cNvSpPr/>
          <p:nvPr/>
        </p:nvSpPr>
        <p:spPr>
          <a:xfrm>
            <a:off x="4709160" y="1005840"/>
            <a:ext cx="164592" cy="1600200"/>
          </a:xfrm>
          <a:prstGeom prst="rect">
            <a:avLst/>
          </a:prstGeom>
          <a:solidFill>
            <a:srgbClr val="1F3864"/>
          </a:solidFill>
          <a:ln w="12700">
            <a:solidFill>
              <a:srgbClr val="1F3864"/>
            </a:solidFill>
            <a:prstDash val="solid"/>
          </a:ln>
        </p:spPr>
      </p:sp>
      <p:sp>
        <p:nvSpPr>
          <p:cNvPr id="10" name="Text 7"/>
          <p:cNvSpPr/>
          <p:nvPr/>
        </p:nvSpPr>
        <p:spPr>
          <a:xfrm>
            <a:off x="4983480" y="1143000"/>
            <a:ext cx="868680" cy="1325880"/>
          </a:xfrm>
          <a:prstGeom prst="rect">
            <a:avLst/>
          </a:prstGeom>
          <a:noFill/>
          <a:ln/>
        </p:spPr>
        <p:txBody>
          <a:bodyPr wrap="square" lIns="0" tIns="0" rIns="0" bIns="0" rtlCol="0" anchor="ctr"/>
          <a:lstStyle/>
          <a:p>
            <a:pPr algn="l" indent="0" marL="0">
              <a:buNone/>
            </a:pPr>
            <a:r>
              <a:rPr lang="en-US" sz="3200" b="1" dirty="0">
                <a:solidFill>
                  <a:srgbClr val="1F3864"/>
                </a:solidFill>
                <a:latin typeface="Georgia" pitchFamily="34" charset="0"/>
                <a:ea typeface="Georgia" pitchFamily="34" charset="-122"/>
                <a:cs typeface="Georgia" pitchFamily="34" charset="-120"/>
              </a:rPr>
              <a:t>02</a:t>
            </a:r>
            <a:endParaRPr lang="en-US" sz="3200" dirty="0"/>
          </a:p>
        </p:txBody>
      </p:sp>
      <p:sp>
        <p:nvSpPr>
          <p:cNvPr id="11" name="Text 8"/>
          <p:cNvSpPr/>
          <p:nvPr/>
        </p:nvSpPr>
        <p:spPr>
          <a:xfrm>
            <a:off x="58978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CO2: Implement insert, delete, and search while preserving the BST ordering property.</a:t>
            </a:r>
            <a:endParaRPr lang="en-US" sz="1200" dirty="0"/>
          </a:p>
        </p:txBody>
      </p:sp>
      <p:sp>
        <p:nvSpPr>
          <p:cNvPr id="12" name="Shape 9"/>
          <p:cNvSpPr/>
          <p:nvPr/>
        </p:nvSpPr>
        <p:spPr>
          <a:xfrm>
            <a:off x="365760" y="2788920"/>
            <a:ext cx="4160520" cy="1600200"/>
          </a:xfrm>
          <a:prstGeom prst="rect">
            <a:avLst/>
          </a:prstGeom>
          <a:solidFill>
            <a:srgbClr val="FFFFFF"/>
          </a:solidFill>
          <a:ln w="15875">
            <a:solidFill>
              <a:srgbClr val="2C5F2D"/>
            </a:solidFill>
            <a:prstDash val="solid"/>
          </a:ln>
        </p:spPr>
      </p:sp>
      <p:sp>
        <p:nvSpPr>
          <p:cNvPr id="13" name="Shape 10"/>
          <p:cNvSpPr/>
          <p:nvPr/>
        </p:nvSpPr>
        <p:spPr>
          <a:xfrm>
            <a:off x="365760" y="2788920"/>
            <a:ext cx="164592" cy="1600200"/>
          </a:xfrm>
          <a:prstGeom prst="rect">
            <a:avLst/>
          </a:prstGeom>
          <a:solidFill>
            <a:srgbClr val="2C5F2D"/>
          </a:solidFill>
          <a:ln w="12700">
            <a:solidFill>
              <a:srgbClr val="2C5F2D"/>
            </a:solidFill>
            <a:prstDash val="solid"/>
          </a:ln>
        </p:spPr>
      </p:sp>
      <p:sp>
        <p:nvSpPr>
          <p:cNvPr id="14" name="Text 11"/>
          <p:cNvSpPr/>
          <p:nvPr/>
        </p:nvSpPr>
        <p:spPr>
          <a:xfrm>
            <a:off x="640080" y="2926080"/>
            <a:ext cx="868680" cy="1325880"/>
          </a:xfrm>
          <a:prstGeom prst="rect">
            <a:avLst/>
          </a:prstGeom>
          <a:noFill/>
          <a:ln/>
        </p:spPr>
        <p:txBody>
          <a:bodyPr wrap="square" lIns="0" tIns="0" rIns="0" bIns="0" rtlCol="0" anchor="ctr"/>
          <a:lstStyle/>
          <a:p>
            <a:pPr algn="l" indent="0" marL="0">
              <a:buNone/>
            </a:pPr>
            <a:r>
              <a:rPr lang="en-US" sz="3200" b="1" dirty="0">
                <a:solidFill>
                  <a:srgbClr val="2C5F2D"/>
                </a:solidFill>
                <a:latin typeface="Georgia" pitchFamily="34" charset="0"/>
                <a:ea typeface="Georgia" pitchFamily="34" charset="-122"/>
                <a:cs typeface="Georgia" pitchFamily="34" charset="-120"/>
              </a:rPr>
              <a:t>03</a:t>
            </a:r>
            <a:endParaRPr lang="en-US" sz="3200" dirty="0"/>
          </a:p>
        </p:txBody>
      </p:sp>
      <p:sp>
        <p:nvSpPr>
          <p:cNvPr id="15" name="Text 12"/>
          <p:cNvSpPr/>
          <p:nvPr/>
        </p:nvSpPr>
        <p:spPr>
          <a:xfrm>
            <a:off x="15544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CO3: Execute and trace inorder, preorder, and postorder traversals on a BST.</a:t>
            </a:r>
            <a:endParaRPr lang="en-US" sz="1200" dirty="0"/>
          </a:p>
        </p:txBody>
      </p:sp>
      <p:sp>
        <p:nvSpPr>
          <p:cNvPr id="16" name="Shape 13"/>
          <p:cNvSpPr/>
          <p:nvPr/>
        </p:nvSpPr>
        <p:spPr>
          <a:xfrm>
            <a:off x="4709160" y="2788920"/>
            <a:ext cx="4160520" cy="1600200"/>
          </a:xfrm>
          <a:prstGeom prst="rect">
            <a:avLst/>
          </a:prstGeom>
          <a:solidFill>
            <a:srgbClr val="FFFFFF"/>
          </a:solidFill>
          <a:ln w="15875">
            <a:solidFill>
              <a:srgbClr val="6B2D8C"/>
            </a:solidFill>
            <a:prstDash val="solid"/>
          </a:ln>
        </p:spPr>
      </p:sp>
      <p:sp>
        <p:nvSpPr>
          <p:cNvPr id="17" name="Shape 14"/>
          <p:cNvSpPr/>
          <p:nvPr/>
        </p:nvSpPr>
        <p:spPr>
          <a:xfrm>
            <a:off x="4709160" y="2788920"/>
            <a:ext cx="164592" cy="1600200"/>
          </a:xfrm>
          <a:prstGeom prst="rect">
            <a:avLst/>
          </a:prstGeom>
          <a:solidFill>
            <a:srgbClr val="6B2D8C"/>
          </a:solidFill>
          <a:ln w="12700">
            <a:solidFill>
              <a:srgbClr val="6B2D8C"/>
            </a:solidFill>
            <a:prstDash val="solid"/>
          </a:ln>
        </p:spPr>
      </p:sp>
      <p:sp>
        <p:nvSpPr>
          <p:cNvPr id="18" name="Text 15"/>
          <p:cNvSpPr/>
          <p:nvPr/>
        </p:nvSpPr>
        <p:spPr>
          <a:xfrm>
            <a:off x="4983480" y="2926080"/>
            <a:ext cx="868680" cy="1325880"/>
          </a:xfrm>
          <a:prstGeom prst="rect">
            <a:avLst/>
          </a:prstGeom>
          <a:noFill/>
          <a:ln/>
        </p:spPr>
        <p:txBody>
          <a:bodyPr wrap="square" lIns="0" tIns="0" rIns="0" bIns="0" rtlCol="0" anchor="ctr"/>
          <a:lstStyle/>
          <a:p>
            <a:pPr algn="l" indent="0" marL="0">
              <a:buNone/>
            </a:pPr>
            <a:r>
              <a:rPr lang="en-US" sz="3200" b="1" dirty="0">
                <a:solidFill>
                  <a:srgbClr val="6B2D8C"/>
                </a:solidFill>
                <a:latin typeface="Georgia" pitchFamily="34" charset="0"/>
                <a:ea typeface="Georgia" pitchFamily="34" charset="-122"/>
                <a:cs typeface="Georgia" pitchFamily="34" charset="-120"/>
              </a:rPr>
              <a:t>04</a:t>
            </a:r>
            <a:endParaRPr lang="en-US" sz="3200" dirty="0"/>
          </a:p>
        </p:txBody>
      </p:sp>
      <p:sp>
        <p:nvSpPr>
          <p:cNvPr id="19" name="Text 16"/>
          <p:cNvSpPr/>
          <p:nvPr/>
        </p:nvSpPr>
        <p:spPr>
          <a:xfrm>
            <a:off x="58978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CO4: Compare best vs worst case performance and recognize the need for self-balancing trees.</a:t>
            </a:r>
            <a:endParaRPr lang="en-US" sz="1200" dirty="0"/>
          </a:p>
        </p:txBody>
      </p:sp>
      <p:sp>
        <p:nvSpPr>
          <p:cNvPr id="20" name="Shape 17"/>
          <p:cNvSpPr/>
          <p:nvPr/>
        </p:nvSpPr>
        <p:spPr>
          <a:xfrm>
            <a:off x="2194560" y="4709160"/>
            <a:ext cx="4754880" cy="365760"/>
          </a:xfrm>
          <a:prstGeom prst="rect">
            <a:avLst/>
          </a:prstGeom>
          <a:solidFill>
            <a:srgbClr val="B22234"/>
          </a:solidFill>
          <a:ln w="12700">
            <a:solidFill>
              <a:srgbClr val="B22234"/>
            </a:solidFill>
            <a:prstDash val="solid"/>
          </a:ln>
        </p:spPr>
      </p:sp>
      <p:sp>
        <p:nvSpPr>
          <p:cNvPr id="21" name="Text 18"/>
          <p:cNvSpPr/>
          <p:nvPr/>
        </p:nvSpPr>
        <p:spPr>
          <a:xfrm>
            <a:off x="2194560" y="4709160"/>
            <a:ext cx="47548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CO Mapping: CO2 — Tree Data Structures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02 — Implementation of Binary Search Tree (BST)</dc:title>
  <dc:subject>PptxGenJS Presentation</dc:subject>
  <dc:creator>Chandigarh University — DSA Lab</dc:creator>
  <cp:lastModifiedBy>Chandigarh University — DSA Lab</cp:lastModifiedBy>
  <cp:revision>1</cp:revision>
  <dcterms:created xsi:type="dcterms:W3CDTF">2026-05-13T03:22:04Z</dcterms:created>
  <dcterms:modified xsi:type="dcterms:W3CDTF">2026-05-13T03:22:04Z</dcterms:modified>
</cp:coreProperties>
</file>
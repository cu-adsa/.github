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_gear.png">    </p:cNvPr>
          <p:cNvPicPr>
            <a:picLocks noChangeAspect="1"/>
          </p:cNvPicPr>
          <p:nvPr/>
        </p:nvPicPr>
        <p:blipFill>
          <a:blip r:embed="rId1">
            <a:alphaModFix amt="15000"/>
          </a:blip>
          <a:stretch>
            <a:fillRect/>
          </a:stretch>
        </p:blipFill>
        <p:spPr>
          <a:xfrm>
            <a:off x="-182880" y="1097280"/>
            <a:ext cx="3291840" cy="3291840"/>
          </a:xfrm>
          <a:prstGeom prst="rect">
            <a:avLst/>
          </a:prstGeom>
        </p:spPr>
      </p:pic>
      <p:pic>
        <p:nvPicPr>
          <p:cNvPr id="3" name="Image 1" descr="cu_banner.jpg">    </p:cNvPr>
          <p:cNvPicPr>
            <a:picLocks noChangeAspect="1"/>
          </p:cNvPicPr>
          <p:nvPr/>
        </p:nvPicPr>
        <p:blipFill>
          <a:blip r:embed="rId2"/>
          <a:stretch>
            <a:fillRect/>
          </a:stretch>
        </p:blipFill>
        <p:spPr>
          <a:xfrm>
            <a:off x="182880" y="164592"/>
            <a:ext cx="731520" cy="960120"/>
          </a:xfrm>
          <a:prstGeom prst="rect">
            <a:avLst/>
          </a:prstGeom>
        </p:spPr>
      </p:pic>
      <p:sp>
        <p:nvSpPr>
          <p:cNvPr id="4" name="Text 0"/>
          <p:cNvSpPr/>
          <p:nvPr/>
        </p:nvSpPr>
        <p:spPr>
          <a:xfrm>
            <a:off x="5486400" y="164592"/>
            <a:ext cx="3520440" cy="274320"/>
          </a:xfrm>
          <a:prstGeom prst="rect">
            <a:avLst/>
          </a:prstGeom>
          <a:noFill/>
          <a:ln/>
        </p:spPr>
        <p:txBody>
          <a:bodyPr wrap="square" lIns="0" tIns="0" rIns="0" bIns="0" rtlCol="0" anchor="ctr"/>
          <a:lstStyle/>
          <a:p>
            <a:pPr algn="r" indent="0" marL="0">
              <a:buNone/>
            </a:pPr>
            <a:r>
              <a:rPr lang="en-US" sz="1300" b="1" dirty="0">
                <a:solidFill>
                  <a:srgbClr val="1A1A1A"/>
                </a:solidFill>
                <a:latin typeface="Arial" pitchFamily="34" charset="0"/>
                <a:ea typeface="Arial" pitchFamily="34" charset="-122"/>
                <a:cs typeface="Arial" pitchFamily="34" charset="-120"/>
              </a:rPr>
              <a:t>Academic Session 2026-27</a:t>
            </a:r>
            <a:endParaRPr lang="en-US" sz="1300" dirty="0"/>
          </a:p>
        </p:txBody>
      </p:sp>
      <p:sp>
        <p:nvSpPr>
          <p:cNvPr id="5" name="Text 1"/>
          <p:cNvSpPr/>
          <p:nvPr/>
        </p:nvSpPr>
        <p:spPr>
          <a:xfrm>
            <a:off x="5486400" y="438912"/>
            <a:ext cx="3520440" cy="274320"/>
          </a:xfrm>
          <a:prstGeom prst="rect">
            <a:avLst/>
          </a:prstGeom>
          <a:noFill/>
          <a:ln/>
        </p:spPr>
        <p:txBody>
          <a:bodyPr wrap="square" lIns="0" tIns="0" rIns="0" bIns="0" rtlCol="0" anchor="ctr"/>
          <a:lstStyle/>
          <a:p>
            <a:pPr algn="r" indent="0" marL="0">
              <a:buNone/>
            </a:pPr>
            <a:r>
              <a:rPr lang="en-US" sz="1200" b="1" dirty="0">
                <a:solidFill>
                  <a:srgbClr val="1A1A1A"/>
                </a:solidFill>
                <a:latin typeface="Arial" pitchFamily="34" charset="0"/>
                <a:ea typeface="Arial" pitchFamily="34" charset="-122"/>
                <a:cs typeface="Arial" pitchFamily="34" charset="-120"/>
              </a:rPr>
              <a:t>ODD Semester July-Dec 2026</a:t>
            </a:r>
            <a:endParaRPr lang="en-US" sz="1200" dirty="0"/>
          </a:p>
        </p:txBody>
      </p:sp>
      <p:sp>
        <p:nvSpPr>
          <p:cNvPr id="6" name="Text 2"/>
          <p:cNvSpPr/>
          <p:nvPr/>
        </p:nvSpPr>
        <p:spPr>
          <a:xfrm>
            <a:off x="1371600" y="914400"/>
            <a:ext cx="6858000" cy="502920"/>
          </a:xfrm>
          <a:prstGeom prst="rect">
            <a:avLst/>
          </a:prstGeom>
          <a:noFill/>
          <a:ln/>
        </p:spPr>
        <p:txBody>
          <a:bodyPr wrap="square" lIns="0" tIns="0" rIns="0" bIns="0" rtlCol="0" anchor="ctr"/>
          <a:lstStyle/>
          <a:p>
            <a:pPr algn="ctr" indent="0" marL="0">
              <a:buNone/>
            </a:pPr>
            <a:r>
              <a:rPr lang="en-US" sz="2800" b="1" dirty="0">
                <a:solidFill>
                  <a:srgbClr val="1A1A1A"/>
                </a:solidFill>
                <a:latin typeface="Arial" pitchFamily="34" charset="0"/>
                <a:ea typeface="Arial" pitchFamily="34" charset="-122"/>
                <a:cs typeface="Arial" pitchFamily="34" charset="-120"/>
              </a:rPr>
              <a:t>UNIVERSITY INSTITUTE OF</a:t>
            </a:r>
            <a:endParaRPr lang="en-US" sz="2800" dirty="0"/>
          </a:p>
        </p:txBody>
      </p:sp>
      <p:sp>
        <p:nvSpPr>
          <p:cNvPr id="7" name="Text 3"/>
          <p:cNvSpPr/>
          <p:nvPr/>
        </p:nvSpPr>
        <p:spPr>
          <a:xfrm>
            <a:off x="1371600" y="1417320"/>
            <a:ext cx="6858000" cy="502920"/>
          </a:xfrm>
          <a:prstGeom prst="rect">
            <a:avLst/>
          </a:prstGeom>
          <a:noFill/>
          <a:ln/>
        </p:spPr>
        <p:txBody>
          <a:bodyPr wrap="square" lIns="0" tIns="0" rIns="0" bIns="0" rtlCol="0" anchor="ctr"/>
          <a:lstStyle/>
          <a:p>
            <a:pPr algn="ctr" indent="0" marL="0">
              <a:buNone/>
            </a:pPr>
            <a:r>
              <a:rPr lang="en-US" sz="2800" b="1" dirty="0">
                <a:solidFill>
                  <a:srgbClr val="1A1A1A"/>
                </a:solidFill>
                <a:latin typeface="Arial" pitchFamily="34" charset="0"/>
                <a:ea typeface="Arial" pitchFamily="34" charset="-122"/>
                <a:cs typeface="Arial" pitchFamily="34" charset="-120"/>
              </a:rPr>
              <a:t>DEPARTMENT OF TT</a:t>
            </a:r>
            <a:endParaRPr lang="en-US" sz="2800" dirty="0"/>
          </a:p>
        </p:txBody>
      </p:sp>
      <p:sp>
        <p:nvSpPr>
          <p:cNvPr id="8" name="Text 4"/>
          <p:cNvSpPr/>
          <p:nvPr/>
        </p:nvSpPr>
        <p:spPr>
          <a:xfrm>
            <a:off x="1371600" y="2011680"/>
            <a:ext cx="6858000" cy="320040"/>
          </a:xfrm>
          <a:prstGeom prst="rect">
            <a:avLst/>
          </a:prstGeom>
          <a:noFill/>
          <a:ln/>
        </p:spPr>
        <p:txBody>
          <a:bodyPr wrap="square" lIns="0" tIns="0" rIns="0" bIns="0" rtlCol="0" anchor="ctr"/>
          <a:lstStyle/>
          <a:p>
            <a:pPr algn="ctr" indent="0" marL="0">
              <a:buNone/>
            </a:pPr>
            <a:r>
              <a:rPr lang="en-US" sz="1600" dirty="0">
                <a:solidFill>
                  <a:srgbClr val="1A1A1A"/>
                </a:solidFill>
                <a:latin typeface="Arial" pitchFamily="34" charset="0"/>
                <a:ea typeface="Arial" pitchFamily="34" charset="-122"/>
                <a:cs typeface="Arial" pitchFamily="34" charset="-120"/>
              </a:rPr>
              <a:t>ADVANCED DATA STRUCTURE</a:t>
            </a:r>
            <a:endParaRPr lang="en-US" sz="1600" dirty="0"/>
          </a:p>
        </p:txBody>
      </p:sp>
      <p:sp>
        <p:nvSpPr>
          <p:cNvPr id="9" name="Text 5"/>
          <p:cNvSpPr/>
          <p:nvPr/>
        </p:nvSpPr>
        <p:spPr>
          <a:xfrm>
            <a:off x="1371600" y="2331720"/>
            <a:ext cx="6858000" cy="274320"/>
          </a:xfrm>
          <a:prstGeom prst="rect">
            <a:avLst/>
          </a:prstGeom>
          <a:noFill/>
          <a:ln/>
        </p:spPr>
        <p:txBody>
          <a:bodyPr wrap="square" lIns="0" tIns="0" rIns="0" bIns="0" rtlCol="0" anchor="ctr"/>
          <a:lstStyle/>
          <a:p>
            <a:pPr algn="ctr" indent="0" marL="0">
              <a:buNone/>
            </a:pPr>
            <a:r>
              <a:rPr lang="en-US" sz="1500" b="1" dirty="0">
                <a:solidFill>
                  <a:srgbClr val="1A1A1A"/>
                </a:solidFill>
                <a:latin typeface="Arial" pitchFamily="34" charset="0"/>
                <a:ea typeface="Arial" pitchFamily="34" charset="-122"/>
                <a:cs typeface="Arial" pitchFamily="34" charset="-120"/>
              </a:rPr>
              <a:t>3</a:t>
            </a:r>
            <a:pPr algn="ctr" indent="0" marL="0">
              <a:buNone/>
            </a:pPr>
            <a:r>
              <a:rPr lang="en-US" sz="1000" b="1" baseline="30000" dirty="0">
                <a:solidFill>
                  <a:srgbClr val="1A1A1A"/>
                </a:solidFill>
                <a:latin typeface="Arial" pitchFamily="34" charset="0"/>
                <a:ea typeface="Arial" pitchFamily="34" charset="-122"/>
                <a:cs typeface="Arial" pitchFamily="34" charset="-120"/>
              </a:rPr>
              <a:t>rd</a:t>
            </a:r>
            <a:pPr algn="ctr" indent="0" marL="0">
              <a:buNone/>
            </a:pPr>
            <a:r>
              <a:rPr lang="en-US" sz="1500" b="1" dirty="0">
                <a:solidFill>
                  <a:srgbClr val="1A1A1A"/>
                </a:solidFill>
                <a:latin typeface="Arial" pitchFamily="34" charset="0"/>
                <a:ea typeface="Arial" pitchFamily="34" charset="-122"/>
                <a:cs typeface="Arial" pitchFamily="34" charset="-120"/>
              </a:rPr>
              <a:t> Sem</a:t>
            </a:r>
            <a:endParaRPr lang="en-US" sz="1500" dirty="0"/>
          </a:p>
        </p:txBody>
      </p:sp>
      <p:sp>
        <p:nvSpPr>
          <p:cNvPr id="10" name="Text 6"/>
          <p:cNvSpPr/>
          <p:nvPr/>
        </p:nvSpPr>
        <p:spPr>
          <a:xfrm>
            <a:off x="1371600" y="2606040"/>
            <a:ext cx="6858000" cy="274320"/>
          </a:xfrm>
          <a:prstGeom prst="rect">
            <a:avLst/>
          </a:prstGeom>
          <a:noFill/>
          <a:ln/>
        </p:spPr>
        <p:txBody>
          <a:bodyPr wrap="square" lIns="0" tIns="0" rIns="0" bIns="0" rtlCol="0" anchor="ctr"/>
          <a:lstStyle/>
          <a:p>
            <a:pPr algn="ctr" indent="0" marL="0">
              <a:buNone/>
            </a:pPr>
            <a:r>
              <a:rPr lang="en-US" sz="1500" dirty="0">
                <a:solidFill>
                  <a:srgbClr val="1A1A1A"/>
                </a:solidFill>
                <a:latin typeface="Arial" pitchFamily="34" charset="0"/>
                <a:ea typeface="Arial" pitchFamily="34" charset="-122"/>
                <a:cs typeface="Arial" pitchFamily="34" charset="-120"/>
              </a:rPr>
              <a:t>(25CSH-242)</a:t>
            </a:r>
            <a:endParaRPr lang="en-US" sz="1500" dirty="0"/>
          </a:p>
        </p:txBody>
      </p:sp>
      <p:sp>
        <p:nvSpPr>
          <p:cNvPr id="11" name="Text 7"/>
          <p:cNvSpPr/>
          <p:nvPr/>
        </p:nvSpPr>
        <p:spPr>
          <a:xfrm>
            <a:off x="548640" y="3291840"/>
            <a:ext cx="3840480" cy="1280160"/>
          </a:xfrm>
          <a:prstGeom prst="rect">
            <a:avLst/>
          </a:prstGeom>
          <a:noFill/>
          <a:ln/>
        </p:spPr>
        <p:txBody>
          <a:bodyPr wrap="square" rtlCol="0" anchor="t"/>
          <a:lstStyle/>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Abhishek Thakur (E19789)</a:t>
            </a:r>
            <a:endParaRPr lang="en-US" sz="1300" dirty="0"/>
          </a:p>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Sourav Jaiswal (E19756) – MSC</a:t>
            </a:r>
            <a:endParaRPr lang="en-US" sz="1300" dirty="0"/>
          </a:p>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Technical Trainer</a:t>
            </a:r>
            <a:endParaRPr lang="en-US" sz="1300" dirty="0"/>
          </a:p>
        </p:txBody>
      </p:sp>
      <p:sp>
        <p:nvSpPr>
          <p:cNvPr id="12" name="Text 8"/>
          <p:cNvSpPr/>
          <p:nvPr/>
        </p:nvSpPr>
        <p:spPr>
          <a:xfrm>
            <a:off x="4754880" y="3291840"/>
            <a:ext cx="4023360" cy="1280160"/>
          </a:xfrm>
          <a:prstGeom prst="rect">
            <a:avLst/>
          </a:prstGeom>
          <a:noFill/>
          <a:ln/>
        </p:spPr>
        <p:txBody>
          <a:bodyPr wrap="square" rtlCol="0" anchor="t"/>
          <a:lstStyle/>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CUmail-ID :</a:t>
            </a:r>
            <a:endParaRPr lang="en-US" sz="1300" dirty="0"/>
          </a:p>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Sourav.e19756@cumail.in</a:t>
            </a:r>
            <a:endParaRPr lang="en-US" sz="1300" dirty="0"/>
          </a:p>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abhishek.e19789@cumail.in</a:t>
            </a:r>
            <a:endParaRPr lang="en-US" sz="1300" dirty="0"/>
          </a:p>
        </p:txBody>
      </p:sp>
      <p:sp>
        <p:nvSpPr>
          <p:cNvPr id="13" name="Shape 9"/>
          <p:cNvSpPr/>
          <p:nvPr/>
        </p:nvSpPr>
        <p:spPr>
          <a:xfrm flipH="1">
            <a:off x="7680960" y="4434840"/>
            <a:ext cx="1463040" cy="713232"/>
          </a:xfrm>
          <a:prstGeom prst="rtTriangle">
            <a:avLst/>
          </a:prstGeom>
          <a:solidFill>
            <a:srgbClr val="B22234"/>
          </a:solidFill>
          <a:ln w="12700">
            <a:solidFill>
              <a:srgbClr val="B22234"/>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Experiment 07 — Overview</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28600" y="1051560"/>
          <a:ext cx="8686800" cy="914400"/>
        </p:xfrm>
        <a:graphic>
          <a:graphicData uri="http://schemas.openxmlformats.org/drawingml/2006/table">
            <a:tbl>
              <a:tblPr/>
              <a:tblGrid>
                <a:gridCol w="1920240"/>
                <a:gridCol w="6766560"/>
              </a:tblGrid>
              <a:tr h="502920">
                <a:tc>
                  <a:txBody>
                    <a:bodyPr/>
                    <a:lstStyle/>
                    <a:p>
                      <a:pPr algn="l" indent="0" marL="0">
                        <a:buNone/>
                      </a:pPr>
                      <a:r>
                        <a:rPr lang="en-US" sz="1400" b="1" dirty="0">
                          <a:solidFill>
                            <a:srgbClr val="FFFFFF"/>
                          </a:solidFill>
                          <a:latin typeface="Georgia" pitchFamily="34" charset="0"/>
                          <a:ea typeface="Georgia" pitchFamily="34" charset="-122"/>
                          <a:cs typeface="Georgia" pitchFamily="34" charset="-120"/>
                        </a:rPr>
                        <a:t>Experiment No.</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07</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r h="502920">
                <a:tc>
                  <a:txBody>
                    <a:bodyPr/>
                    <a:lstStyle/>
                    <a:p>
                      <a:pPr algn="l" indent="0" marL="0">
                        <a:buNone/>
                      </a:pPr>
                      <a:r>
                        <a:rPr lang="en-US" sz="1400" b="1" dirty="0">
                          <a:solidFill>
                            <a:srgbClr val="1A1A1A"/>
                          </a:solidFill>
                          <a:latin typeface="Georgia" pitchFamily="34" charset="0"/>
                          <a:ea typeface="Georgia" pitchFamily="34" charset="-122"/>
                          <a:cs typeface="Georgia" pitchFamily="34" charset="-120"/>
                        </a:rPr>
                        <a:t>Title</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Implementation of Hash Table and Collision Resolution Techniques</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02920">
                <a:tc>
                  <a:txBody>
                    <a:bodyPr/>
                    <a:lstStyle/>
                    <a:p>
                      <a:pPr algn="l" indent="0" marL="0">
                        <a:buNone/>
                      </a:pPr>
                      <a:r>
                        <a:rPr lang="en-US" sz="1400" b="1" dirty="0">
                          <a:solidFill>
                            <a:srgbClr val="FFFFFF"/>
                          </a:solidFill>
                          <a:latin typeface="Georgia" pitchFamily="34" charset="0"/>
                          <a:ea typeface="Georgia" pitchFamily="34" charset="-122"/>
                          <a:cs typeface="Georgia" pitchFamily="34" charset="-120"/>
                        </a:rPr>
                        <a:t>Objective</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Implement a hash table supporting chaining and linear probing as collision resolution strategies.</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r h="502920">
                <a:tc>
                  <a:txBody>
                    <a:bodyPr/>
                    <a:lstStyle/>
                    <a:p>
                      <a:pPr algn="l" indent="0" marL="0">
                        <a:buNone/>
                      </a:pPr>
                      <a:r>
                        <a:rPr lang="en-US" sz="1400" b="1" dirty="0">
                          <a:solidFill>
                            <a:srgbClr val="1A1A1A"/>
                          </a:solidFill>
                          <a:latin typeface="Georgia" pitchFamily="34" charset="0"/>
                          <a:ea typeface="Georgia" pitchFamily="34" charset="-122"/>
                          <a:cs typeface="Georgia" pitchFamily="34" charset="-120"/>
                        </a:rPr>
                        <a:t>CO Mapping</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CO2 — Implement and analyze hashing techniques.</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02920">
                <a:tc>
                  <a:txBody>
                    <a:bodyPr/>
                    <a:lstStyle/>
                    <a:p>
                      <a:pPr algn="l" indent="0" marL="0">
                        <a:buNone/>
                      </a:pPr>
                      <a:r>
                        <a:rPr lang="en-US" sz="1400" b="1" dirty="0">
                          <a:solidFill>
                            <a:srgbClr val="FFFFFF"/>
                          </a:solidFill>
                          <a:latin typeface="Georgia" pitchFamily="34" charset="0"/>
                          <a:ea typeface="Georgia" pitchFamily="34" charset="-122"/>
                          <a:cs typeface="Georgia" pitchFamily="34" charset="-120"/>
                        </a:rPr>
                        <a:t>Key Concepts</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Hash Function  |  Load Factor  |  Chaining  |  Linear Probing  |  Open Addressing</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r h="502920">
                <a:tc>
                  <a:txBody>
                    <a:bodyPr/>
                    <a:lstStyle/>
                    <a:p>
                      <a:pPr algn="l" indent="0" marL="0">
                        <a:buNone/>
                      </a:pPr>
                      <a:r>
                        <a:rPr lang="en-US" sz="1400" b="1" dirty="0">
                          <a:solidFill>
                            <a:srgbClr val="1A1A1A"/>
                          </a:solidFill>
                          <a:latin typeface="Georgia" pitchFamily="34" charset="0"/>
                          <a:ea typeface="Georgia" pitchFamily="34" charset="-122"/>
                          <a:cs typeface="Georgia" pitchFamily="34" charset="-120"/>
                        </a:rPr>
                        <a:t>Tools</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Python / Java / C++  |  IDE (VS Code / Eclipse / g++)</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Hashing &amp; Collision Resolution</a:t>
            </a:r>
            <a:endParaRPr lang="en-US" sz="2800" dirty="0"/>
          </a:p>
        </p:txBody>
      </p:sp>
      <p:sp>
        <p:nvSpPr>
          <p:cNvPr id="4" name="Shape 1"/>
          <p:cNvSpPr/>
          <p:nvPr/>
        </p:nvSpPr>
        <p:spPr>
          <a:xfrm>
            <a:off x="320040" y="1371600"/>
            <a:ext cx="4160520" cy="3520440"/>
          </a:xfrm>
          <a:prstGeom prst="rect">
            <a:avLst/>
          </a:prstGeom>
          <a:solidFill>
            <a:srgbClr val="FBEEF0"/>
          </a:solidFill>
          <a:ln w="12700">
            <a:solidFill>
              <a:srgbClr val="B22234"/>
            </a:solidFill>
            <a:prstDash val="solid"/>
          </a:ln>
        </p:spPr>
      </p:sp>
      <p:sp>
        <p:nvSpPr>
          <p:cNvPr id="5" name="Shape 2"/>
          <p:cNvSpPr/>
          <p:nvPr/>
        </p:nvSpPr>
        <p:spPr>
          <a:xfrm>
            <a:off x="320040" y="960120"/>
            <a:ext cx="4160520" cy="411480"/>
          </a:xfrm>
          <a:prstGeom prst="rect">
            <a:avLst/>
          </a:prstGeom>
          <a:solidFill>
            <a:srgbClr val="B22234"/>
          </a:solidFill>
          <a:ln w="12700">
            <a:solidFill>
              <a:srgbClr val="B22234"/>
            </a:solidFill>
            <a:prstDash val="solid"/>
          </a:ln>
        </p:spPr>
      </p:sp>
      <p:sp>
        <p:nvSpPr>
          <p:cNvPr id="6" name="Text 3"/>
          <p:cNvSpPr/>
          <p:nvPr/>
        </p:nvSpPr>
        <p:spPr>
          <a:xfrm>
            <a:off x="320040" y="960120"/>
            <a:ext cx="416052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HASHING FUNDAMENTALS</a:t>
            </a:r>
            <a:endParaRPr lang="en-US" sz="1600" dirty="0"/>
          </a:p>
        </p:txBody>
      </p:sp>
      <p:sp>
        <p:nvSpPr>
          <p:cNvPr id="7" name="Text 4"/>
          <p:cNvSpPr/>
          <p:nvPr/>
        </p:nvSpPr>
        <p:spPr>
          <a:xfrm>
            <a:off x="457200" y="1508760"/>
            <a:ext cx="3886200" cy="3246120"/>
          </a:xfrm>
          <a:prstGeom prst="rect">
            <a:avLst/>
          </a:prstGeom>
          <a:noFill/>
          <a:ln/>
        </p:spPr>
        <p:txBody>
          <a:bodyPr wrap="square" rtlCol="0" anchor="t"/>
          <a:lstStyle/>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A Hash Table maps keys to array indices via a hash function h(key) → index.</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Goal: O(1) average-time insert, search, and delete for arbitrary keys.</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Good hash function: deterministic, fast, and produces uniform distribution.</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Common choice: h(key) = key mod tableSize (with prime tableSize).</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Load Factor α = n / m (n entries, m slots). Performance degrades as α → 1.</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Resize (rehash) when α exceeds threshold (typically 0.7 for open addressing).</a:t>
            </a:r>
            <a:endParaRPr lang="en-US" sz="1200" dirty="0"/>
          </a:p>
        </p:txBody>
      </p:sp>
      <p:sp>
        <p:nvSpPr>
          <p:cNvPr id="8" name="Shape 5"/>
          <p:cNvSpPr/>
          <p:nvPr/>
        </p:nvSpPr>
        <p:spPr>
          <a:xfrm>
            <a:off x="4663440" y="1371600"/>
            <a:ext cx="4160520" cy="3520440"/>
          </a:xfrm>
          <a:prstGeom prst="rect">
            <a:avLst/>
          </a:prstGeom>
          <a:solidFill>
            <a:srgbClr val="EEF2FA"/>
          </a:solidFill>
          <a:ln w="12700">
            <a:solidFill>
              <a:srgbClr val="1F3864"/>
            </a:solidFill>
            <a:prstDash val="solid"/>
          </a:ln>
        </p:spPr>
      </p:sp>
      <p:sp>
        <p:nvSpPr>
          <p:cNvPr id="9" name="Shape 6"/>
          <p:cNvSpPr/>
          <p:nvPr/>
        </p:nvSpPr>
        <p:spPr>
          <a:xfrm>
            <a:off x="4663440" y="960120"/>
            <a:ext cx="4160520" cy="411480"/>
          </a:xfrm>
          <a:prstGeom prst="rect">
            <a:avLst/>
          </a:prstGeom>
          <a:solidFill>
            <a:srgbClr val="1F3864"/>
          </a:solidFill>
          <a:ln w="12700">
            <a:solidFill>
              <a:srgbClr val="1F3864"/>
            </a:solidFill>
            <a:prstDash val="solid"/>
          </a:ln>
        </p:spPr>
      </p:sp>
      <p:sp>
        <p:nvSpPr>
          <p:cNvPr id="10" name="Text 7"/>
          <p:cNvSpPr/>
          <p:nvPr/>
        </p:nvSpPr>
        <p:spPr>
          <a:xfrm>
            <a:off x="4663440" y="960120"/>
            <a:ext cx="416052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COLLISION RESOLUTION</a:t>
            </a:r>
            <a:endParaRPr lang="en-US" sz="1600" dirty="0"/>
          </a:p>
        </p:txBody>
      </p:sp>
      <p:sp>
        <p:nvSpPr>
          <p:cNvPr id="11" name="Text 8"/>
          <p:cNvSpPr/>
          <p:nvPr/>
        </p:nvSpPr>
        <p:spPr>
          <a:xfrm>
            <a:off x="4800600" y="1508760"/>
            <a:ext cx="3886200" cy="3246120"/>
          </a:xfrm>
          <a:prstGeom prst="rect">
            <a:avLst/>
          </a:prstGeom>
          <a:noFill/>
          <a:ln/>
        </p:spPr>
        <p:txBody>
          <a:bodyPr wrap="square" rtlCol="0" anchor="t"/>
          <a:lstStyle/>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Collision: two distinct keys hash to the same index — unavoidable for large key spaces.</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Chaining (closed addressing): each slot holds a linked list of all colliding entries.</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Open Addressing — Linear Probing: on collision try (index+1) mod m, (index+2) mod m, ...</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Quadratic Probing: try index + 1², 2², 3², ... to reduce primary clustering.</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Double Hashing: use a second hash function for the step size — best distribution.</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Deletion in open addressing requires TOMBSTONE markers to keep probe chains intact.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Key Concepts</a:t>
            </a:r>
            <a:endParaRPr lang="en-US" sz="2800" dirty="0"/>
          </a:p>
        </p:txBody>
      </p:sp>
      <p:sp>
        <p:nvSpPr>
          <p:cNvPr id="4" name="Shape 1"/>
          <p:cNvSpPr/>
          <p:nvPr/>
        </p:nvSpPr>
        <p:spPr>
          <a:xfrm>
            <a:off x="274320" y="1417320"/>
            <a:ext cx="2862072" cy="1463040"/>
          </a:xfrm>
          <a:prstGeom prst="rect">
            <a:avLst/>
          </a:prstGeom>
          <a:solidFill>
            <a:srgbClr val="FFFFFF"/>
          </a:solidFill>
          <a:ln w="12700">
            <a:solidFill>
              <a:srgbClr val="B22234"/>
            </a:solidFill>
            <a:prstDash val="solid"/>
          </a:ln>
        </p:spPr>
      </p:sp>
      <p:sp>
        <p:nvSpPr>
          <p:cNvPr id="5" name="Shape 2"/>
          <p:cNvSpPr/>
          <p:nvPr/>
        </p:nvSpPr>
        <p:spPr>
          <a:xfrm>
            <a:off x="274320" y="1005840"/>
            <a:ext cx="2862072" cy="411480"/>
          </a:xfrm>
          <a:prstGeom prst="rect">
            <a:avLst/>
          </a:prstGeom>
          <a:solidFill>
            <a:srgbClr val="B22234"/>
          </a:solidFill>
          <a:ln w="12700">
            <a:solidFill>
              <a:srgbClr val="B22234"/>
            </a:solidFill>
            <a:prstDash val="solid"/>
          </a:ln>
        </p:spPr>
      </p:sp>
      <p:sp>
        <p:nvSpPr>
          <p:cNvPr id="6" name="Text 3"/>
          <p:cNvSpPr/>
          <p:nvPr/>
        </p:nvSpPr>
        <p:spPr>
          <a:xfrm>
            <a:off x="274320" y="100584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Hash Function</a:t>
            </a:r>
            <a:endParaRPr lang="en-US" sz="1400" dirty="0"/>
          </a:p>
        </p:txBody>
      </p:sp>
      <p:sp>
        <p:nvSpPr>
          <p:cNvPr id="7" name="Text 4"/>
          <p:cNvSpPr/>
          <p:nvPr/>
        </p:nvSpPr>
        <p:spPr>
          <a:xfrm>
            <a:off x="384048" y="149047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Deterministic map from keys to array indices. Must be fast and minimize collisions.</a:t>
            </a:r>
            <a:endParaRPr lang="en-US" sz="1100" dirty="0"/>
          </a:p>
        </p:txBody>
      </p:sp>
      <p:sp>
        <p:nvSpPr>
          <p:cNvPr id="8" name="Shape 5"/>
          <p:cNvSpPr/>
          <p:nvPr/>
        </p:nvSpPr>
        <p:spPr>
          <a:xfrm>
            <a:off x="3209544" y="1417320"/>
            <a:ext cx="2862072" cy="1463040"/>
          </a:xfrm>
          <a:prstGeom prst="rect">
            <a:avLst/>
          </a:prstGeom>
          <a:solidFill>
            <a:srgbClr val="FFFFFF"/>
          </a:solidFill>
          <a:ln w="12700">
            <a:solidFill>
              <a:srgbClr val="1F3864"/>
            </a:solidFill>
            <a:prstDash val="solid"/>
          </a:ln>
        </p:spPr>
      </p:sp>
      <p:sp>
        <p:nvSpPr>
          <p:cNvPr id="9" name="Shape 6"/>
          <p:cNvSpPr/>
          <p:nvPr/>
        </p:nvSpPr>
        <p:spPr>
          <a:xfrm>
            <a:off x="3209544" y="1005840"/>
            <a:ext cx="2862072" cy="411480"/>
          </a:xfrm>
          <a:prstGeom prst="rect">
            <a:avLst/>
          </a:prstGeom>
          <a:solidFill>
            <a:srgbClr val="1F3864"/>
          </a:solidFill>
          <a:ln w="12700">
            <a:solidFill>
              <a:srgbClr val="1F3864"/>
            </a:solidFill>
            <a:prstDash val="solid"/>
          </a:ln>
        </p:spPr>
      </p:sp>
      <p:sp>
        <p:nvSpPr>
          <p:cNvPr id="10" name="Text 7"/>
          <p:cNvSpPr/>
          <p:nvPr/>
        </p:nvSpPr>
        <p:spPr>
          <a:xfrm>
            <a:off x="3209544" y="100584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Load Factor</a:t>
            </a:r>
            <a:endParaRPr lang="en-US" sz="1400" dirty="0"/>
          </a:p>
        </p:txBody>
      </p:sp>
      <p:sp>
        <p:nvSpPr>
          <p:cNvPr id="11" name="Text 8"/>
          <p:cNvSpPr/>
          <p:nvPr/>
        </p:nvSpPr>
        <p:spPr>
          <a:xfrm>
            <a:off x="3319272" y="149047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α = n / m. Drives performance. Keep α &lt; 0.7 for open addressing, α &lt; 1.0 for chaining.</a:t>
            </a:r>
            <a:endParaRPr lang="en-US" sz="1100" dirty="0"/>
          </a:p>
        </p:txBody>
      </p:sp>
      <p:sp>
        <p:nvSpPr>
          <p:cNvPr id="12" name="Shape 9"/>
          <p:cNvSpPr/>
          <p:nvPr/>
        </p:nvSpPr>
        <p:spPr>
          <a:xfrm>
            <a:off x="6144768" y="1417320"/>
            <a:ext cx="2862072" cy="1463040"/>
          </a:xfrm>
          <a:prstGeom prst="rect">
            <a:avLst/>
          </a:prstGeom>
          <a:solidFill>
            <a:srgbClr val="FFFFFF"/>
          </a:solidFill>
          <a:ln w="12700">
            <a:solidFill>
              <a:srgbClr val="2C5F2D"/>
            </a:solidFill>
            <a:prstDash val="solid"/>
          </a:ln>
        </p:spPr>
      </p:sp>
      <p:sp>
        <p:nvSpPr>
          <p:cNvPr id="13" name="Shape 10"/>
          <p:cNvSpPr/>
          <p:nvPr/>
        </p:nvSpPr>
        <p:spPr>
          <a:xfrm>
            <a:off x="6144768" y="1005840"/>
            <a:ext cx="2862072" cy="411480"/>
          </a:xfrm>
          <a:prstGeom prst="rect">
            <a:avLst/>
          </a:prstGeom>
          <a:solidFill>
            <a:srgbClr val="2C5F2D"/>
          </a:solidFill>
          <a:ln w="12700">
            <a:solidFill>
              <a:srgbClr val="2C5F2D"/>
            </a:solidFill>
            <a:prstDash val="solid"/>
          </a:ln>
        </p:spPr>
      </p:sp>
      <p:sp>
        <p:nvSpPr>
          <p:cNvPr id="14" name="Text 11"/>
          <p:cNvSpPr/>
          <p:nvPr/>
        </p:nvSpPr>
        <p:spPr>
          <a:xfrm>
            <a:off x="6144768" y="100584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Chaining</a:t>
            </a:r>
            <a:endParaRPr lang="en-US" sz="1400" dirty="0"/>
          </a:p>
        </p:txBody>
      </p:sp>
      <p:sp>
        <p:nvSpPr>
          <p:cNvPr id="15" name="Text 12"/>
          <p:cNvSpPr/>
          <p:nvPr/>
        </p:nvSpPr>
        <p:spPr>
          <a:xfrm>
            <a:off x="6254496" y="149047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Each bucket is a linked list. Simple, supports α ≥ 1, but uses extra space for pointers.</a:t>
            </a:r>
            <a:endParaRPr lang="en-US" sz="1100" dirty="0"/>
          </a:p>
        </p:txBody>
      </p:sp>
      <p:sp>
        <p:nvSpPr>
          <p:cNvPr id="16" name="Shape 13"/>
          <p:cNvSpPr/>
          <p:nvPr/>
        </p:nvSpPr>
        <p:spPr>
          <a:xfrm>
            <a:off x="274320" y="3429000"/>
            <a:ext cx="2862072" cy="1463040"/>
          </a:xfrm>
          <a:prstGeom prst="rect">
            <a:avLst/>
          </a:prstGeom>
          <a:solidFill>
            <a:srgbClr val="FFFFFF"/>
          </a:solidFill>
          <a:ln w="12700">
            <a:solidFill>
              <a:srgbClr val="B22234"/>
            </a:solidFill>
            <a:prstDash val="solid"/>
          </a:ln>
        </p:spPr>
      </p:sp>
      <p:sp>
        <p:nvSpPr>
          <p:cNvPr id="17" name="Shape 14"/>
          <p:cNvSpPr/>
          <p:nvPr/>
        </p:nvSpPr>
        <p:spPr>
          <a:xfrm>
            <a:off x="274320" y="3017520"/>
            <a:ext cx="2862072" cy="411480"/>
          </a:xfrm>
          <a:prstGeom prst="rect">
            <a:avLst/>
          </a:prstGeom>
          <a:solidFill>
            <a:srgbClr val="B22234"/>
          </a:solidFill>
          <a:ln w="12700">
            <a:solidFill>
              <a:srgbClr val="B22234"/>
            </a:solidFill>
            <a:prstDash val="solid"/>
          </a:ln>
        </p:spPr>
      </p:sp>
      <p:sp>
        <p:nvSpPr>
          <p:cNvPr id="18" name="Text 15"/>
          <p:cNvSpPr/>
          <p:nvPr/>
        </p:nvSpPr>
        <p:spPr>
          <a:xfrm>
            <a:off x="274320" y="301752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Linear Probing</a:t>
            </a:r>
            <a:endParaRPr lang="en-US" sz="1400" dirty="0"/>
          </a:p>
        </p:txBody>
      </p:sp>
      <p:sp>
        <p:nvSpPr>
          <p:cNvPr id="19" name="Text 16"/>
          <p:cNvSpPr/>
          <p:nvPr/>
        </p:nvSpPr>
        <p:spPr>
          <a:xfrm>
            <a:off x="384048" y="350215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On collision, try the next slot. Cache-friendly but suffers from primary clustering.</a:t>
            </a:r>
            <a:endParaRPr lang="en-US" sz="1100" dirty="0"/>
          </a:p>
        </p:txBody>
      </p:sp>
      <p:sp>
        <p:nvSpPr>
          <p:cNvPr id="20" name="Shape 17"/>
          <p:cNvSpPr/>
          <p:nvPr/>
        </p:nvSpPr>
        <p:spPr>
          <a:xfrm>
            <a:off x="3209544" y="3429000"/>
            <a:ext cx="2862072" cy="1463040"/>
          </a:xfrm>
          <a:prstGeom prst="rect">
            <a:avLst/>
          </a:prstGeom>
          <a:solidFill>
            <a:srgbClr val="FFFFFF"/>
          </a:solidFill>
          <a:ln w="12700">
            <a:solidFill>
              <a:srgbClr val="1F3864"/>
            </a:solidFill>
            <a:prstDash val="solid"/>
          </a:ln>
        </p:spPr>
      </p:sp>
      <p:sp>
        <p:nvSpPr>
          <p:cNvPr id="21" name="Shape 18"/>
          <p:cNvSpPr/>
          <p:nvPr/>
        </p:nvSpPr>
        <p:spPr>
          <a:xfrm>
            <a:off x="3209544" y="3017520"/>
            <a:ext cx="2862072" cy="411480"/>
          </a:xfrm>
          <a:prstGeom prst="rect">
            <a:avLst/>
          </a:prstGeom>
          <a:solidFill>
            <a:srgbClr val="1F3864"/>
          </a:solidFill>
          <a:ln w="12700">
            <a:solidFill>
              <a:srgbClr val="1F3864"/>
            </a:solidFill>
            <a:prstDash val="solid"/>
          </a:ln>
        </p:spPr>
      </p:sp>
      <p:sp>
        <p:nvSpPr>
          <p:cNvPr id="22" name="Text 19"/>
          <p:cNvSpPr/>
          <p:nvPr/>
        </p:nvSpPr>
        <p:spPr>
          <a:xfrm>
            <a:off x="3209544" y="301752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Open Addressing</a:t>
            </a:r>
            <a:endParaRPr lang="en-US" sz="1400" dirty="0"/>
          </a:p>
        </p:txBody>
      </p:sp>
      <p:sp>
        <p:nvSpPr>
          <p:cNvPr id="23" name="Text 20"/>
          <p:cNvSpPr/>
          <p:nvPr/>
        </p:nvSpPr>
        <p:spPr>
          <a:xfrm>
            <a:off x="3319272" y="350215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All entries live in the table itself. Better cache locality than chaining but sensitive to load factor.</a:t>
            </a:r>
            <a:endParaRPr lang="en-US" sz="1100" dirty="0"/>
          </a:p>
        </p:txBody>
      </p:sp>
      <p:sp>
        <p:nvSpPr>
          <p:cNvPr id="24" name="Shape 21"/>
          <p:cNvSpPr/>
          <p:nvPr/>
        </p:nvSpPr>
        <p:spPr>
          <a:xfrm>
            <a:off x="6144768" y="3429000"/>
            <a:ext cx="2862072" cy="1463040"/>
          </a:xfrm>
          <a:prstGeom prst="rect">
            <a:avLst/>
          </a:prstGeom>
          <a:solidFill>
            <a:srgbClr val="FFFFFF"/>
          </a:solidFill>
          <a:ln w="12700">
            <a:solidFill>
              <a:srgbClr val="2C5F2D"/>
            </a:solidFill>
            <a:prstDash val="solid"/>
          </a:ln>
        </p:spPr>
      </p:sp>
      <p:sp>
        <p:nvSpPr>
          <p:cNvPr id="25" name="Shape 22"/>
          <p:cNvSpPr/>
          <p:nvPr/>
        </p:nvSpPr>
        <p:spPr>
          <a:xfrm>
            <a:off x="6144768" y="3017520"/>
            <a:ext cx="2862072" cy="411480"/>
          </a:xfrm>
          <a:prstGeom prst="rect">
            <a:avLst/>
          </a:prstGeom>
          <a:solidFill>
            <a:srgbClr val="2C5F2D"/>
          </a:solidFill>
          <a:ln w="12700">
            <a:solidFill>
              <a:srgbClr val="2C5F2D"/>
            </a:solidFill>
            <a:prstDash val="solid"/>
          </a:ln>
        </p:spPr>
      </p:sp>
      <p:sp>
        <p:nvSpPr>
          <p:cNvPr id="26" name="Text 23"/>
          <p:cNvSpPr/>
          <p:nvPr/>
        </p:nvSpPr>
        <p:spPr>
          <a:xfrm>
            <a:off x="6144768" y="301752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Tombstones</a:t>
            </a:r>
            <a:endParaRPr lang="en-US" sz="1400" dirty="0"/>
          </a:p>
        </p:txBody>
      </p:sp>
      <p:sp>
        <p:nvSpPr>
          <p:cNvPr id="27" name="Text 24"/>
          <p:cNvSpPr/>
          <p:nvPr/>
        </p:nvSpPr>
        <p:spPr>
          <a:xfrm>
            <a:off x="6254496" y="350215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Special marker for deleted slots so search can continue past them without false misses.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Problem Statement</a:t>
            </a:r>
            <a:endParaRPr lang="en-US" sz="2800" dirty="0"/>
          </a:p>
        </p:txBody>
      </p:sp>
      <p:sp>
        <p:nvSpPr>
          <p:cNvPr id="4" name="Shape 1"/>
          <p:cNvSpPr/>
          <p:nvPr/>
        </p:nvSpPr>
        <p:spPr>
          <a:xfrm>
            <a:off x="274320" y="960120"/>
            <a:ext cx="8595360" cy="868680"/>
          </a:xfrm>
          <a:prstGeom prst="rect">
            <a:avLst/>
          </a:prstGeom>
          <a:solidFill>
            <a:srgbClr val="FBEEF0"/>
          </a:solidFill>
          <a:ln w="12700">
            <a:solidFill>
              <a:srgbClr val="B22234"/>
            </a:solidFill>
            <a:prstDash val="solid"/>
          </a:ln>
        </p:spPr>
      </p:sp>
      <p:sp>
        <p:nvSpPr>
          <p:cNvPr id="5" name="Text 2"/>
          <p:cNvSpPr/>
          <p:nvPr/>
        </p:nvSpPr>
        <p:spPr>
          <a:xfrm>
            <a:off x="411480" y="1005840"/>
            <a:ext cx="8321040" cy="777240"/>
          </a:xfrm>
          <a:prstGeom prst="rect">
            <a:avLst/>
          </a:prstGeom>
          <a:noFill/>
          <a:ln/>
        </p:spPr>
        <p:txBody>
          <a:bodyPr wrap="square" rtlCol="0" anchor="t"/>
          <a:lstStyle/>
          <a:p>
            <a:pPr algn="l" indent="0" marL="0">
              <a:spcAft>
                <a:spcPts val="400"/>
              </a:spcAft>
              <a:buNone/>
            </a:pPr>
            <a:r>
              <a:rPr lang="en-US" sz="1150" b="1" dirty="0">
                <a:solidFill>
                  <a:srgbClr val="B22234"/>
                </a:solidFill>
                <a:latin typeface="Arial" pitchFamily="34" charset="0"/>
                <a:ea typeface="Arial" pitchFamily="34" charset="-122"/>
                <a:cs typeface="Arial" pitchFamily="34" charset="-120"/>
              </a:rPr>
              <a:t>Problem: </a:t>
            </a:r>
            <a:pPr algn="l" indent="0" marL="0">
              <a:spcAft>
                <a:spcPts val="400"/>
              </a:spcAft>
              <a:buNone/>
            </a:pPr>
            <a:r>
              <a:rPr lang="en-US" sz="1150" b="1" dirty="0">
                <a:solidFill>
                  <a:srgbClr val="1A1A1A"/>
                </a:solidFill>
                <a:latin typeface="Arial" pitchFamily="34" charset="0"/>
                <a:ea typeface="Arial" pitchFamily="34" charset="-122"/>
                <a:cs typeface="Arial" pitchFamily="34" charset="-120"/>
              </a:rPr>
              <a:t>Two Sum (LeetCode #1)</a:t>
            </a:r>
            <a:endParaRPr lang="en-US" sz="1150" dirty="0"/>
          </a:p>
          <a:p>
            <a:pPr algn="l" indent="0" marL="0">
              <a:spcAft>
                <a:spcPts val="400"/>
              </a:spcAft>
              <a:buNone/>
            </a:pPr>
            <a:r>
              <a:rPr lang="en-US" sz="1150" dirty="0">
                <a:solidFill>
                  <a:srgbClr val="333333"/>
                </a:solidFill>
                <a:latin typeface="Arial" pitchFamily="34" charset="0"/>
                <a:ea typeface="Arial" pitchFamily="34" charset="-122"/>
                <a:cs typeface="Arial" pitchFamily="34" charset="-120"/>
              </a:rPr>
              <a:t>Given an array of integers nums and an integer target, return indices of the two numbers such that they add up to target. You may assume each input has exactly one solution and you may not use the same element twice. Use a hash map for O(n) average-time solution.</a:t>
            </a:r>
            <a:endParaRPr lang="en-US" sz="1150" dirty="0"/>
          </a:p>
        </p:txBody>
      </p:sp>
      <p:sp>
        <p:nvSpPr>
          <p:cNvPr id="6" name="Shape 3"/>
          <p:cNvSpPr/>
          <p:nvPr/>
        </p:nvSpPr>
        <p:spPr>
          <a:xfrm>
            <a:off x="274320" y="1965960"/>
            <a:ext cx="8595360" cy="365760"/>
          </a:xfrm>
          <a:prstGeom prst="rect">
            <a:avLst/>
          </a:prstGeom>
          <a:solidFill>
            <a:srgbClr val="FEF3C7"/>
          </a:solidFill>
          <a:ln w="12700">
            <a:solidFill>
              <a:srgbClr val="F59E0B"/>
            </a:solidFill>
            <a:prstDash val="solid"/>
          </a:ln>
        </p:spPr>
      </p:sp>
      <p:sp>
        <p:nvSpPr>
          <p:cNvPr id="7" name="Text 4">
            <a:hlinkClick r:id="rIdundefined" tooltip=""/>
          </p:cNvPr>
          <p:cNvSpPr/>
          <p:nvPr/>
        </p:nvSpPr>
        <p:spPr>
          <a:xfrm>
            <a:off x="411480" y="1965960"/>
            <a:ext cx="8321040" cy="365760"/>
          </a:xfrm>
          <a:prstGeom prst="rect">
            <a:avLst/>
          </a:prstGeom>
          <a:noFill/>
          <a:ln/>
        </p:spPr>
        <p:txBody>
          <a:bodyPr wrap="square" lIns="0" tIns="0" rIns="0" bIns="0" rtlCol="0" anchor="ctr"/>
          <a:lstStyle/>
          <a:p>
            <a:pPr algn="l" indent="0" marL="0">
              <a:buNone/>
            </a:pPr>
            <a:r>
              <a:rPr lang="en-US" sz="1200" u="sng" dirty="0">
                <a:solidFill>
                  <a:srgbClr val="000000"/>
                </a:solidFill>
                <a:hlinkClick r:id="rIdundefined" invalidUrl="" action="" tgtFrame="" tooltip="" history="1" highlightClick="0" endSnd="0">
                  <a:extLst>
                    <a:ext uri="{A12FA001-AC4F-418D-AE19-62706E023703}">
                      <ahyp:hlinkClr xmlns:ahyp="http://schemas.microsoft.com/office/drawing/2018/hyperlinkcolor" val="tx"/>
                    </a:ext>
                  </a:extLst>
                </a:hlinkClick>
              </a:rPr>
              <a:t>🔗  </a:t>
            </a:r>
            <a:pPr algn="l" indent="0" marL="0">
              <a:buNone/>
            </a:pPr>
            <a:r>
              <a:rPr lang="en-US" sz="1100" b="1" u="sng" dirty="0">
                <a:solidFill>
                  <a:srgbClr val="1A1A1A"/>
                </a:solidFill>
                <a:latin typeface="Consolas" pitchFamily="34" charset="0"/>
                <a:ea typeface="Consolas" pitchFamily="34" charset="-122"/>
                <a:cs typeface="Consolas"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LeetCode Reference:  https://leetcode.com/problems/two-sum/  (#1)</a:t>
            </a:r>
            <a:endParaRPr lang="en-US" sz="1200" dirty="0"/>
          </a:p>
        </p:txBody>
      </p:sp>
      <p:sp>
        <p:nvSpPr>
          <p:cNvPr id="8" name="Text 5"/>
          <p:cNvSpPr/>
          <p:nvPr/>
        </p:nvSpPr>
        <p:spPr>
          <a:xfrm>
            <a:off x="274320" y="2423160"/>
            <a:ext cx="2743200" cy="274320"/>
          </a:xfrm>
          <a:prstGeom prst="rect">
            <a:avLst/>
          </a:prstGeom>
          <a:noFill/>
          <a:ln/>
        </p:spPr>
        <p:txBody>
          <a:bodyPr wrap="square" lIns="0" tIns="0" rIns="0" bIns="0" rtlCol="0" anchor="ctr"/>
          <a:lstStyle/>
          <a:p>
            <a:pPr algn="l" indent="0" marL="0">
              <a:buNone/>
            </a:pPr>
            <a:r>
              <a:rPr lang="en-US" sz="1400" b="1" dirty="0">
                <a:solidFill>
                  <a:srgbClr val="1A1A1A"/>
                </a:solidFill>
                <a:latin typeface="Georgia" pitchFamily="34" charset="0"/>
                <a:ea typeface="Georgia" pitchFamily="34" charset="-122"/>
                <a:cs typeface="Georgia" pitchFamily="34" charset="-120"/>
              </a:rPr>
              <a:t>Test Cases: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2743200"/>
          <a:ext cx="8595360" cy="914400"/>
        </p:xfrm>
        <a:graphic>
          <a:graphicData uri="http://schemas.openxmlformats.org/drawingml/2006/table">
            <a:tbl>
              <a:tblPr/>
              <a:tblGrid>
                <a:gridCol w="2286000"/>
                <a:gridCol w="1828800"/>
                <a:gridCol w="4480560"/>
              </a:tblGrid>
              <a:tr h="411480">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Input</a:t>
                      </a:r>
                      <a:endParaRPr lang="en-US" sz="12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Expected Output</a:t>
                      </a:r>
                      <a:endParaRPr lang="en-US" sz="12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Explanation</a:t>
                      </a:r>
                      <a:endParaRPr lang="en-US" sz="12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r>
              <a:tr h="411480">
                <a:tc>
                  <a:txBody>
                    <a:bodyPr/>
                    <a:lstStyle/>
                    <a:p>
                      <a:pPr algn="ctr" indent="0" marL="0">
                        <a:buNone/>
                      </a:pPr>
                      <a:r>
                        <a:rPr lang="en-US" sz="1100" dirty="0">
                          <a:solidFill>
                            <a:srgbClr val="1A1A1A"/>
                          </a:solidFill>
                          <a:latin typeface="Consolas" pitchFamily="34" charset="0"/>
                          <a:ea typeface="Consolas" pitchFamily="34" charset="-122"/>
                          <a:cs typeface="Consolas" pitchFamily="34" charset="-120"/>
                        </a:rPr>
                        <a:t>nums=[2,7,11,15], target=9</a:t>
                      </a:r>
                      <a:endParaRPr lang="en-US" sz="11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C5F2D"/>
                          </a:solidFill>
                          <a:latin typeface="Consolas" pitchFamily="34" charset="0"/>
                          <a:ea typeface="Consolas" pitchFamily="34" charset="-122"/>
                          <a:cs typeface="Consolas" pitchFamily="34" charset="-120"/>
                        </a:rPr>
                        <a:t>[0,1]</a:t>
                      </a:r>
                      <a:endParaRPr lang="en-US" sz="12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3333"/>
                          </a:solidFill>
                          <a:latin typeface="Arial" pitchFamily="34" charset="0"/>
                          <a:ea typeface="Arial" pitchFamily="34" charset="-122"/>
                          <a:cs typeface="Arial" pitchFamily="34" charset="-120"/>
                        </a:rPr>
                        <a:t>nums[0] + nums[1] = 2 + 7 = 9</a:t>
                      </a:r>
                      <a:endParaRPr lang="en-US" sz="11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algn="ctr" indent="0" marL="0">
                        <a:buNone/>
                      </a:pPr>
                      <a:r>
                        <a:rPr lang="en-US" sz="1100" dirty="0">
                          <a:solidFill>
                            <a:srgbClr val="1A1A1A"/>
                          </a:solidFill>
                          <a:latin typeface="Consolas" pitchFamily="34" charset="0"/>
                          <a:ea typeface="Consolas" pitchFamily="34" charset="-122"/>
                          <a:cs typeface="Consolas" pitchFamily="34" charset="-120"/>
                        </a:rPr>
                        <a:t>nums=[3,2,4], target=6</a:t>
                      </a:r>
                      <a:endParaRPr lang="en-US" sz="11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ctr" indent="0" marL="0">
                        <a:buNone/>
                      </a:pPr>
                      <a:r>
                        <a:rPr lang="en-US" sz="1200" b="1" dirty="0">
                          <a:solidFill>
                            <a:srgbClr val="2C5F2D"/>
                          </a:solidFill>
                          <a:latin typeface="Consolas" pitchFamily="34" charset="0"/>
                          <a:ea typeface="Consolas" pitchFamily="34" charset="-122"/>
                          <a:cs typeface="Consolas" pitchFamily="34" charset="-120"/>
                        </a:rPr>
                        <a:t>[1,2]</a:t>
                      </a:r>
                      <a:endParaRPr lang="en-US" sz="12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l" indent="0" marL="0">
                        <a:buNone/>
                      </a:pPr>
                      <a:r>
                        <a:rPr lang="en-US" sz="1100" dirty="0">
                          <a:solidFill>
                            <a:srgbClr val="333333"/>
                          </a:solidFill>
                          <a:latin typeface="Arial" pitchFamily="34" charset="0"/>
                          <a:ea typeface="Arial" pitchFamily="34" charset="-122"/>
                          <a:cs typeface="Arial" pitchFamily="34" charset="-120"/>
                        </a:rPr>
                        <a:t>nums[1] + nums[2] = 2 + 4 = 6</a:t>
                      </a:r>
                      <a:endParaRPr lang="en-US" sz="11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r h="411480">
                <a:tc>
                  <a:txBody>
                    <a:bodyPr/>
                    <a:lstStyle/>
                    <a:p>
                      <a:pPr algn="ctr" indent="0" marL="0">
                        <a:buNone/>
                      </a:pPr>
                      <a:r>
                        <a:rPr lang="en-US" sz="1100" dirty="0">
                          <a:solidFill>
                            <a:srgbClr val="1A1A1A"/>
                          </a:solidFill>
                          <a:latin typeface="Consolas" pitchFamily="34" charset="0"/>
                          <a:ea typeface="Consolas" pitchFamily="34" charset="-122"/>
                          <a:cs typeface="Consolas" pitchFamily="34" charset="-120"/>
                        </a:rPr>
                        <a:t>nums=[3,3], target=6</a:t>
                      </a:r>
                      <a:endParaRPr lang="en-US" sz="11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C5F2D"/>
                          </a:solidFill>
                          <a:latin typeface="Consolas" pitchFamily="34" charset="0"/>
                          <a:ea typeface="Consolas" pitchFamily="34" charset="-122"/>
                          <a:cs typeface="Consolas" pitchFamily="34" charset="-120"/>
                        </a:rPr>
                        <a:t>[0,1]</a:t>
                      </a:r>
                      <a:endParaRPr lang="en-US" sz="12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3333"/>
                          </a:solidFill>
                          <a:latin typeface="Arial" pitchFamily="34" charset="0"/>
                          <a:ea typeface="Arial" pitchFamily="34" charset="-122"/>
                          <a:cs typeface="Arial" pitchFamily="34" charset="-120"/>
                        </a:rPr>
                        <a:t>Duplicate values at indices 0 and 1</a:t>
                      </a:r>
                      <a:endParaRPr lang="en-US" sz="11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algn="ctr" indent="0" marL="0">
                        <a:buNone/>
                      </a:pPr>
                      <a:r>
                        <a:rPr lang="en-US" sz="1100" dirty="0">
                          <a:solidFill>
                            <a:srgbClr val="1A1A1A"/>
                          </a:solidFill>
                          <a:latin typeface="Consolas" pitchFamily="34" charset="0"/>
                          <a:ea typeface="Consolas" pitchFamily="34" charset="-122"/>
                          <a:cs typeface="Consolas" pitchFamily="34" charset="-120"/>
                        </a:rPr>
                        <a:t>nums=[1,2,3,4], target=7</a:t>
                      </a:r>
                      <a:endParaRPr lang="en-US" sz="11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ctr" indent="0" marL="0">
                        <a:buNone/>
                      </a:pPr>
                      <a:r>
                        <a:rPr lang="en-US" sz="1200" b="1" dirty="0">
                          <a:solidFill>
                            <a:srgbClr val="2C5F2D"/>
                          </a:solidFill>
                          <a:latin typeface="Consolas" pitchFamily="34" charset="0"/>
                          <a:ea typeface="Consolas" pitchFamily="34" charset="-122"/>
                          <a:cs typeface="Consolas" pitchFamily="34" charset="-120"/>
                        </a:rPr>
                        <a:t>[2,3]</a:t>
                      </a:r>
                      <a:endParaRPr lang="en-US" sz="12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l" indent="0" marL="0">
                        <a:buNone/>
                      </a:pPr>
                      <a:r>
                        <a:rPr lang="en-US" sz="1100" dirty="0">
                          <a:solidFill>
                            <a:srgbClr val="333333"/>
                          </a:solidFill>
                          <a:latin typeface="Arial" pitchFamily="34" charset="0"/>
                          <a:ea typeface="Arial" pitchFamily="34" charset="-122"/>
                          <a:cs typeface="Arial" pitchFamily="34" charset="-120"/>
                        </a:rPr>
                        <a:t>nums[2] + nums[3] = 3 + 4 = 7</a:t>
                      </a:r>
                      <a:endParaRPr lang="en-US" sz="11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Approach</a:t>
            </a:r>
            <a:endParaRPr lang="en-US" sz="2800" dirty="0"/>
          </a:p>
        </p:txBody>
      </p:sp>
      <p:sp>
        <p:nvSpPr>
          <p:cNvPr id="4" name="Shape 1"/>
          <p:cNvSpPr/>
          <p:nvPr/>
        </p:nvSpPr>
        <p:spPr>
          <a:xfrm>
            <a:off x="274320" y="1325880"/>
            <a:ext cx="4297680" cy="3611880"/>
          </a:xfrm>
          <a:prstGeom prst="rect">
            <a:avLst/>
          </a:prstGeom>
          <a:solidFill>
            <a:srgbClr val="F5F5F5"/>
          </a:solidFill>
          <a:ln w="12700">
            <a:solidFill>
              <a:srgbClr val="D1D5DB"/>
            </a:solidFill>
            <a:prstDash val="solid"/>
          </a:ln>
        </p:spPr>
      </p:sp>
      <p:sp>
        <p:nvSpPr>
          <p:cNvPr id="5" name="Shape 2"/>
          <p:cNvSpPr/>
          <p:nvPr/>
        </p:nvSpPr>
        <p:spPr>
          <a:xfrm>
            <a:off x="274320" y="960120"/>
            <a:ext cx="4297680" cy="365760"/>
          </a:xfrm>
          <a:prstGeom prst="rect">
            <a:avLst/>
          </a:prstGeom>
          <a:solidFill>
            <a:srgbClr val="B22234"/>
          </a:solidFill>
          <a:ln w="12700">
            <a:solidFill>
              <a:srgbClr val="B22234"/>
            </a:solidFill>
            <a:prstDash val="solid"/>
          </a:ln>
        </p:spPr>
      </p:sp>
      <p:sp>
        <p:nvSpPr>
          <p:cNvPr id="6" name="Text 3"/>
          <p:cNvSpPr/>
          <p:nvPr/>
        </p:nvSpPr>
        <p:spPr>
          <a:xfrm>
            <a:off x="274320" y="960120"/>
            <a:ext cx="429768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Step-by-Step Approach</a:t>
            </a:r>
            <a:endParaRPr lang="en-US" sz="1500" dirty="0"/>
          </a:p>
        </p:txBody>
      </p:sp>
      <p:sp>
        <p:nvSpPr>
          <p:cNvPr id="7" name="Shape 4"/>
          <p:cNvSpPr/>
          <p:nvPr/>
        </p:nvSpPr>
        <p:spPr>
          <a:xfrm>
            <a:off x="457200" y="1572768"/>
            <a:ext cx="384048" cy="384048"/>
          </a:xfrm>
          <a:prstGeom prst="ellipse">
            <a:avLst/>
          </a:prstGeom>
          <a:solidFill>
            <a:srgbClr val="B22234"/>
          </a:solidFill>
          <a:ln w="12700">
            <a:solidFill>
              <a:srgbClr val="B22234"/>
            </a:solidFill>
            <a:prstDash val="solid"/>
          </a:ln>
        </p:spPr>
      </p:sp>
      <p:sp>
        <p:nvSpPr>
          <p:cNvPr id="8" name="Text 5"/>
          <p:cNvSpPr/>
          <p:nvPr/>
        </p:nvSpPr>
        <p:spPr>
          <a:xfrm>
            <a:off x="457200" y="1572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9" name="Text 6"/>
          <p:cNvSpPr/>
          <p:nvPr/>
        </p:nvSpPr>
        <p:spPr>
          <a:xfrm>
            <a:off x="960120" y="1508760"/>
            <a:ext cx="3520440" cy="576072"/>
          </a:xfrm>
          <a:prstGeom prst="rect">
            <a:avLst/>
          </a:prstGeom>
          <a:noFill/>
          <a:ln/>
        </p:spPr>
        <p:txBody>
          <a:bodyPr wrap="square" rtlCol="0" anchor="ctr"/>
          <a:lstStyle/>
          <a:p>
            <a:pPr algn="l" indent="0" marL="0">
              <a:buNone/>
            </a:pPr>
            <a:r>
              <a:rPr lang="en-US" sz="1100" dirty="0">
                <a:solidFill>
                  <a:srgbClr val="333333"/>
                </a:solidFill>
                <a:latin typeface="Arial" pitchFamily="34" charset="0"/>
                <a:ea typeface="Arial" pitchFamily="34" charset="-122"/>
                <a:cs typeface="Arial" pitchFamily="34" charset="-120"/>
              </a:rPr>
              <a:t>Create an empty hash map seen mapping value → index.</a:t>
            </a:r>
            <a:endParaRPr lang="en-US" sz="1100" dirty="0"/>
          </a:p>
        </p:txBody>
      </p:sp>
      <p:sp>
        <p:nvSpPr>
          <p:cNvPr id="10" name="Shape 7"/>
          <p:cNvSpPr/>
          <p:nvPr/>
        </p:nvSpPr>
        <p:spPr>
          <a:xfrm>
            <a:off x="457200" y="2240280"/>
            <a:ext cx="384048" cy="384048"/>
          </a:xfrm>
          <a:prstGeom prst="ellipse">
            <a:avLst/>
          </a:prstGeom>
          <a:solidFill>
            <a:srgbClr val="B22234"/>
          </a:solidFill>
          <a:ln w="12700">
            <a:solidFill>
              <a:srgbClr val="B22234"/>
            </a:solidFill>
            <a:prstDash val="solid"/>
          </a:ln>
        </p:spPr>
      </p:sp>
      <p:sp>
        <p:nvSpPr>
          <p:cNvPr id="11" name="Text 8"/>
          <p:cNvSpPr/>
          <p:nvPr/>
        </p:nvSpPr>
        <p:spPr>
          <a:xfrm>
            <a:off x="457200" y="2240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2" name="Text 9"/>
          <p:cNvSpPr/>
          <p:nvPr/>
        </p:nvSpPr>
        <p:spPr>
          <a:xfrm>
            <a:off x="960120" y="2176272"/>
            <a:ext cx="3520440" cy="576072"/>
          </a:xfrm>
          <a:prstGeom prst="rect">
            <a:avLst/>
          </a:prstGeom>
          <a:noFill/>
          <a:ln/>
        </p:spPr>
        <p:txBody>
          <a:bodyPr wrap="square" rtlCol="0" anchor="ctr"/>
          <a:lstStyle/>
          <a:p>
            <a:pPr algn="l" indent="0" marL="0">
              <a:buNone/>
            </a:pPr>
            <a:r>
              <a:rPr lang="en-US" sz="1100" dirty="0">
                <a:solidFill>
                  <a:srgbClr val="333333"/>
                </a:solidFill>
                <a:latin typeface="Arial" pitchFamily="34" charset="0"/>
                <a:ea typeface="Arial" pitchFamily="34" charset="-122"/>
                <a:cs typeface="Arial" pitchFamily="34" charset="-120"/>
              </a:rPr>
              <a:t>For each element num at index i, compute complement = target − num.</a:t>
            </a:r>
            <a:endParaRPr lang="en-US" sz="1100" dirty="0"/>
          </a:p>
        </p:txBody>
      </p:sp>
      <p:sp>
        <p:nvSpPr>
          <p:cNvPr id="13" name="Shape 10"/>
          <p:cNvSpPr/>
          <p:nvPr/>
        </p:nvSpPr>
        <p:spPr>
          <a:xfrm>
            <a:off x="457200" y="2907792"/>
            <a:ext cx="384048" cy="384048"/>
          </a:xfrm>
          <a:prstGeom prst="ellipse">
            <a:avLst/>
          </a:prstGeom>
          <a:solidFill>
            <a:srgbClr val="B22234"/>
          </a:solidFill>
          <a:ln w="12700">
            <a:solidFill>
              <a:srgbClr val="B22234"/>
            </a:solidFill>
            <a:prstDash val="solid"/>
          </a:ln>
        </p:spPr>
      </p:sp>
      <p:sp>
        <p:nvSpPr>
          <p:cNvPr id="14" name="Text 11"/>
          <p:cNvSpPr/>
          <p:nvPr/>
        </p:nvSpPr>
        <p:spPr>
          <a:xfrm>
            <a:off x="457200" y="29077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5" name="Text 12"/>
          <p:cNvSpPr/>
          <p:nvPr/>
        </p:nvSpPr>
        <p:spPr>
          <a:xfrm>
            <a:off x="960120" y="2843784"/>
            <a:ext cx="3520440" cy="576072"/>
          </a:xfrm>
          <a:prstGeom prst="rect">
            <a:avLst/>
          </a:prstGeom>
          <a:noFill/>
          <a:ln/>
        </p:spPr>
        <p:txBody>
          <a:bodyPr wrap="square" rtlCol="0" anchor="ctr"/>
          <a:lstStyle/>
          <a:p>
            <a:pPr algn="l" indent="0" marL="0">
              <a:buNone/>
            </a:pPr>
            <a:r>
              <a:rPr lang="en-US" sz="1100" dirty="0">
                <a:solidFill>
                  <a:srgbClr val="333333"/>
                </a:solidFill>
                <a:latin typeface="Arial" pitchFamily="34" charset="0"/>
                <a:ea typeface="Arial" pitchFamily="34" charset="-122"/>
                <a:cs typeface="Arial" pitchFamily="34" charset="-120"/>
              </a:rPr>
              <a:t>If complement is already in seen, return [seen[complement], i] — done in one pass.</a:t>
            </a:r>
            <a:endParaRPr lang="en-US" sz="1100" dirty="0"/>
          </a:p>
        </p:txBody>
      </p:sp>
      <p:sp>
        <p:nvSpPr>
          <p:cNvPr id="16" name="Shape 13"/>
          <p:cNvSpPr/>
          <p:nvPr/>
        </p:nvSpPr>
        <p:spPr>
          <a:xfrm>
            <a:off x="457200" y="3575304"/>
            <a:ext cx="384048" cy="384048"/>
          </a:xfrm>
          <a:prstGeom prst="ellipse">
            <a:avLst/>
          </a:prstGeom>
          <a:solidFill>
            <a:srgbClr val="B22234"/>
          </a:solidFill>
          <a:ln w="12700">
            <a:solidFill>
              <a:srgbClr val="B22234"/>
            </a:solidFill>
            <a:prstDash val="solid"/>
          </a:ln>
        </p:spPr>
      </p:sp>
      <p:sp>
        <p:nvSpPr>
          <p:cNvPr id="17" name="Text 14"/>
          <p:cNvSpPr/>
          <p:nvPr/>
        </p:nvSpPr>
        <p:spPr>
          <a:xfrm>
            <a:off x="457200" y="35753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8" name="Text 15"/>
          <p:cNvSpPr/>
          <p:nvPr/>
        </p:nvSpPr>
        <p:spPr>
          <a:xfrm>
            <a:off x="960120" y="3511296"/>
            <a:ext cx="3520440" cy="576072"/>
          </a:xfrm>
          <a:prstGeom prst="rect">
            <a:avLst/>
          </a:prstGeom>
          <a:noFill/>
          <a:ln/>
        </p:spPr>
        <p:txBody>
          <a:bodyPr wrap="square" rtlCol="0" anchor="ctr"/>
          <a:lstStyle/>
          <a:p>
            <a:pPr algn="l" indent="0" marL="0">
              <a:buNone/>
            </a:pPr>
            <a:r>
              <a:rPr lang="en-US" sz="1100" dirty="0">
                <a:solidFill>
                  <a:srgbClr val="333333"/>
                </a:solidFill>
                <a:latin typeface="Arial" pitchFamily="34" charset="0"/>
                <a:ea typeface="Arial" pitchFamily="34" charset="-122"/>
                <a:cs typeface="Arial" pitchFamily="34" charset="-120"/>
              </a:rPr>
              <a:t>Otherwise insert seen[num] = i and continue to the next element.</a:t>
            </a:r>
            <a:endParaRPr lang="en-US" sz="1100" dirty="0"/>
          </a:p>
        </p:txBody>
      </p:sp>
      <p:sp>
        <p:nvSpPr>
          <p:cNvPr id="19" name="Shape 16"/>
          <p:cNvSpPr/>
          <p:nvPr/>
        </p:nvSpPr>
        <p:spPr>
          <a:xfrm>
            <a:off x="457200" y="4242816"/>
            <a:ext cx="384048" cy="384048"/>
          </a:xfrm>
          <a:prstGeom prst="ellipse">
            <a:avLst/>
          </a:prstGeom>
          <a:solidFill>
            <a:srgbClr val="B22234"/>
          </a:solidFill>
          <a:ln w="12700">
            <a:solidFill>
              <a:srgbClr val="B22234"/>
            </a:solidFill>
            <a:prstDash val="solid"/>
          </a:ln>
        </p:spPr>
      </p:sp>
      <p:sp>
        <p:nvSpPr>
          <p:cNvPr id="20" name="Text 17"/>
          <p:cNvSpPr/>
          <p:nvPr/>
        </p:nvSpPr>
        <p:spPr>
          <a:xfrm>
            <a:off x="457200" y="42428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21" name="Text 18"/>
          <p:cNvSpPr/>
          <p:nvPr/>
        </p:nvSpPr>
        <p:spPr>
          <a:xfrm>
            <a:off x="960120" y="4178808"/>
            <a:ext cx="3520440" cy="576072"/>
          </a:xfrm>
          <a:prstGeom prst="rect">
            <a:avLst/>
          </a:prstGeom>
          <a:noFill/>
          <a:ln/>
        </p:spPr>
        <p:txBody>
          <a:bodyPr wrap="square" rtlCol="0" anchor="ctr"/>
          <a:lstStyle/>
          <a:p>
            <a:pPr algn="l" indent="0" marL="0">
              <a:buNone/>
            </a:pPr>
            <a:r>
              <a:rPr lang="en-US" sz="1100" dirty="0">
                <a:solidFill>
                  <a:srgbClr val="333333"/>
                </a:solidFill>
                <a:latin typeface="Arial" pitchFamily="34" charset="0"/>
                <a:ea typeface="Arial" pitchFamily="34" charset="-122"/>
                <a:cs typeface="Arial" pitchFamily="34" charset="-120"/>
              </a:rPr>
              <a:t>For a custom table: implement chaining (linked list per bucket) or linear probing with TOMBSTONE deletion.</a:t>
            </a:r>
            <a:endParaRPr lang="en-US" sz="1100" dirty="0"/>
          </a:p>
        </p:txBody>
      </p:sp>
      <p:sp>
        <p:nvSpPr>
          <p:cNvPr id="22" name="Shape 19"/>
          <p:cNvSpPr/>
          <p:nvPr/>
        </p:nvSpPr>
        <p:spPr>
          <a:xfrm>
            <a:off x="4709160" y="960120"/>
            <a:ext cx="4160520" cy="365760"/>
          </a:xfrm>
          <a:prstGeom prst="rect">
            <a:avLst/>
          </a:prstGeom>
          <a:solidFill>
            <a:srgbClr val="1F3864"/>
          </a:solidFill>
          <a:ln w="12700">
            <a:solidFill>
              <a:srgbClr val="1F3864"/>
            </a:solidFill>
            <a:prstDash val="solid"/>
          </a:ln>
        </p:spPr>
      </p:sp>
      <p:sp>
        <p:nvSpPr>
          <p:cNvPr id="23" name="Text 20"/>
          <p:cNvSpPr/>
          <p:nvPr/>
        </p:nvSpPr>
        <p:spPr>
          <a:xfrm>
            <a:off x="4709160" y="960120"/>
            <a:ext cx="416052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Complexity Analysis</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709160" y="1371600"/>
          <a:ext cx="4160520" cy="914400"/>
        </p:xfrm>
        <a:graphic>
          <a:graphicData uri="http://schemas.openxmlformats.org/drawingml/2006/table">
            <a:tbl>
              <a:tblPr/>
              <a:tblGrid>
                <a:gridCol w="1417320"/>
                <a:gridCol w="1508760"/>
                <a:gridCol w="1234440"/>
              </a:tblGrid>
              <a:tr h="347472">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Approach</a:t>
                      </a:r>
                      <a:endParaRPr lang="en-US" sz="1200" dirty="0">
                        <a:latin typeface="Georgia" charset="0"/>
                        <a:ea typeface="Georgia" charset="0"/>
                        <a:cs typeface="Georgia"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864"/>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Time</a:t>
                      </a:r>
                      <a:endParaRPr lang="en-US" sz="1200" dirty="0">
                        <a:latin typeface="Georgia" charset="0"/>
                        <a:ea typeface="Georgia" charset="0"/>
                        <a:cs typeface="Georgia"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864"/>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Space</a:t>
                      </a:r>
                      <a:endParaRPr lang="en-US" sz="1200" dirty="0">
                        <a:latin typeface="Georgia" charset="0"/>
                        <a:ea typeface="Georgia" charset="0"/>
                        <a:cs typeface="Georgia"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864"/>
                    </a:solidFill>
                  </a:tcPr>
                </a:tc>
              </a:tr>
              <a:tr h="347472">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Insert / Lookup</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C5F2D"/>
                          </a:solidFill>
                          <a:latin typeface="Consolas" pitchFamily="34" charset="0"/>
                          <a:ea typeface="Consolas" pitchFamily="34" charset="-122"/>
                          <a:cs typeface="Consolas" pitchFamily="34" charset="-120"/>
                        </a:rPr>
                        <a:t>O(1) avg</a:t>
                      </a:r>
                      <a:endParaRPr lang="en-US" sz="1100" dirty="0">
                        <a:latin typeface="Consolas" charset="0"/>
                        <a:ea typeface="Consolas" charset="0"/>
                        <a:cs typeface="Consolas"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O(n)</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47472">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Insert / Lookup</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ctr" indent="0" marL="0">
                        <a:buNone/>
                      </a:pPr>
                      <a:r>
                        <a:rPr lang="en-US" sz="1100" b="1" dirty="0">
                          <a:solidFill>
                            <a:srgbClr val="2C5F2D"/>
                          </a:solidFill>
                          <a:latin typeface="Consolas" pitchFamily="34" charset="0"/>
                          <a:ea typeface="Consolas" pitchFamily="34" charset="-122"/>
                          <a:cs typeface="Consolas" pitchFamily="34" charset="-120"/>
                        </a:rPr>
                        <a:t>O(n) worst</a:t>
                      </a:r>
                      <a:endParaRPr lang="en-US" sz="1100" dirty="0">
                        <a:latin typeface="Consolas" charset="0"/>
                        <a:ea typeface="Consolas" charset="0"/>
                        <a:cs typeface="Consolas"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O(n)</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r h="347472">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Two Sum (overall)</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C5F2D"/>
                          </a:solidFill>
                          <a:latin typeface="Consolas" pitchFamily="34" charset="0"/>
                          <a:ea typeface="Consolas" pitchFamily="34" charset="-122"/>
                          <a:cs typeface="Consolas" pitchFamily="34" charset="-120"/>
                        </a:rPr>
                        <a:t>O(n)</a:t>
                      </a:r>
                      <a:endParaRPr lang="en-US" sz="1100" dirty="0">
                        <a:latin typeface="Consolas" charset="0"/>
                        <a:ea typeface="Consolas" charset="0"/>
                        <a:cs typeface="Consolas"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O(n)</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25" name="Shape 21"/>
          <p:cNvSpPr/>
          <p:nvPr/>
        </p:nvSpPr>
        <p:spPr>
          <a:xfrm>
            <a:off x="4709160" y="2834640"/>
            <a:ext cx="4160520" cy="637032"/>
          </a:xfrm>
          <a:prstGeom prst="rect">
            <a:avLst/>
          </a:prstGeom>
          <a:solidFill>
            <a:srgbClr val="FFFFFF"/>
          </a:solidFill>
          <a:ln w="12700">
            <a:solidFill>
              <a:srgbClr val="B22234"/>
            </a:solidFill>
            <a:prstDash val="solid"/>
          </a:ln>
        </p:spPr>
      </p:sp>
      <p:sp>
        <p:nvSpPr>
          <p:cNvPr id="26" name="Shape 22"/>
          <p:cNvSpPr/>
          <p:nvPr/>
        </p:nvSpPr>
        <p:spPr>
          <a:xfrm>
            <a:off x="4709160" y="2834640"/>
            <a:ext cx="64008" cy="637032"/>
          </a:xfrm>
          <a:prstGeom prst="rect">
            <a:avLst/>
          </a:prstGeom>
          <a:solidFill>
            <a:srgbClr val="B22234"/>
          </a:solidFill>
          <a:ln w="12700">
            <a:solidFill>
              <a:srgbClr val="B22234"/>
            </a:solidFill>
            <a:prstDash val="solid"/>
          </a:ln>
        </p:spPr>
      </p:sp>
      <p:sp>
        <p:nvSpPr>
          <p:cNvPr id="27" name="Text 23"/>
          <p:cNvSpPr/>
          <p:nvPr/>
        </p:nvSpPr>
        <p:spPr>
          <a:xfrm>
            <a:off x="4873752" y="2871216"/>
            <a:ext cx="3922776" cy="563880"/>
          </a:xfrm>
          <a:prstGeom prst="rect">
            <a:avLst/>
          </a:prstGeom>
          <a:noFill/>
          <a:ln/>
        </p:spPr>
        <p:txBody>
          <a:bodyPr wrap="square" rtlCol="0" anchor="ctr"/>
          <a:lstStyle/>
          <a:p>
            <a:pPr algn="l" indent="0" marL="0">
              <a:buNone/>
            </a:pPr>
            <a:r>
              <a:rPr lang="en-US" sz="1050" b="1" dirty="0">
                <a:solidFill>
                  <a:srgbClr val="B22234"/>
                </a:solidFill>
                <a:latin typeface="Arial" pitchFamily="34" charset="0"/>
                <a:ea typeface="Arial" pitchFamily="34" charset="-122"/>
                <a:cs typeface="Arial" pitchFamily="34" charset="-120"/>
              </a:rPr>
              <a:t>Worst Case is Real: </a:t>
            </a:r>
            <a:pPr algn="l" indent="0" marL="0">
              <a:buNone/>
            </a:pPr>
            <a:r>
              <a:rPr lang="en-US" sz="1050" dirty="0">
                <a:solidFill>
                  <a:srgbClr val="333333"/>
                </a:solidFill>
                <a:latin typeface="Arial" pitchFamily="34" charset="0"/>
                <a:ea typeface="Arial" pitchFamily="34" charset="-122"/>
                <a:cs typeface="Arial" pitchFamily="34" charset="-120"/>
              </a:rPr>
              <a:t>Adversarial inputs can force every key to one bucket — O(n) per operation. Use randomized or cryptographic hashing for untrusted input.</a:t>
            </a:r>
            <a:endParaRPr lang="en-US" sz="1050" dirty="0"/>
          </a:p>
        </p:txBody>
      </p:sp>
      <p:sp>
        <p:nvSpPr>
          <p:cNvPr id="28" name="Shape 24"/>
          <p:cNvSpPr/>
          <p:nvPr/>
        </p:nvSpPr>
        <p:spPr>
          <a:xfrm>
            <a:off x="4709160" y="3544824"/>
            <a:ext cx="4160520" cy="637032"/>
          </a:xfrm>
          <a:prstGeom prst="rect">
            <a:avLst/>
          </a:prstGeom>
          <a:solidFill>
            <a:srgbClr val="FFFFFF"/>
          </a:solidFill>
          <a:ln w="12700">
            <a:solidFill>
              <a:srgbClr val="2C5F2D"/>
            </a:solidFill>
            <a:prstDash val="solid"/>
          </a:ln>
        </p:spPr>
      </p:sp>
      <p:sp>
        <p:nvSpPr>
          <p:cNvPr id="29" name="Shape 25"/>
          <p:cNvSpPr/>
          <p:nvPr/>
        </p:nvSpPr>
        <p:spPr>
          <a:xfrm>
            <a:off x="4709160" y="3544824"/>
            <a:ext cx="64008" cy="637032"/>
          </a:xfrm>
          <a:prstGeom prst="rect">
            <a:avLst/>
          </a:prstGeom>
          <a:solidFill>
            <a:srgbClr val="2C5F2D"/>
          </a:solidFill>
          <a:ln w="12700">
            <a:solidFill>
              <a:srgbClr val="2C5F2D"/>
            </a:solidFill>
            <a:prstDash val="solid"/>
          </a:ln>
        </p:spPr>
      </p:sp>
      <p:sp>
        <p:nvSpPr>
          <p:cNvPr id="30" name="Text 26"/>
          <p:cNvSpPr/>
          <p:nvPr/>
        </p:nvSpPr>
        <p:spPr>
          <a:xfrm>
            <a:off x="4873752" y="3581400"/>
            <a:ext cx="3922776" cy="563880"/>
          </a:xfrm>
          <a:prstGeom prst="rect">
            <a:avLst/>
          </a:prstGeom>
          <a:noFill/>
          <a:ln/>
        </p:spPr>
        <p:txBody>
          <a:bodyPr wrap="square" rtlCol="0" anchor="ctr"/>
          <a:lstStyle/>
          <a:p>
            <a:pPr algn="l" indent="0" marL="0">
              <a:buNone/>
            </a:pPr>
            <a:r>
              <a:rPr lang="en-US" sz="1050" b="1" dirty="0">
                <a:solidFill>
                  <a:srgbClr val="2C5F2D"/>
                </a:solidFill>
                <a:latin typeface="Arial" pitchFamily="34" charset="0"/>
                <a:ea typeface="Arial" pitchFamily="34" charset="-122"/>
                <a:cs typeface="Arial" pitchFamily="34" charset="-120"/>
              </a:rPr>
              <a:t>Chaining vs Probing: </a:t>
            </a:r>
            <a:pPr algn="l" indent="0" marL="0">
              <a:buNone/>
            </a:pPr>
            <a:r>
              <a:rPr lang="en-US" sz="1050" dirty="0">
                <a:solidFill>
                  <a:srgbClr val="333333"/>
                </a:solidFill>
                <a:latin typeface="Arial" pitchFamily="34" charset="0"/>
                <a:ea typeface="Arial" pitchFamily="34" charset="-122"/>
                <a:cs typeface="Arial" pitchFamily="34" charset="-120"/>
              </a:rPr>
              <a:t>Chaining is robust as load factor grows; probing is faster when α is low thanks to cache locality. Pick based on use case.</a:t>
            </a:r>
            <a:endParaRPr lang="en-US" sz="1050" dirty="0"/>
          </a:p>
        </p:txBody>
      </p:sp>
      <p:sp>
        <p:nvSpPr>
          <p:cNvPr id="31" name="Shape 27"/>
          <p:cNvSpPr/>
          <p:nvPr/>
        </p:nvSpPr>
        <p:spPr>
          <a:xfrm>
            <a:off x="4709160" y="4255008"/>
            <a:ext cx="4160520" cy="637032"/>
          </a:xfrm>
          <a:prstGeom prst="rect">
            <a:avLst/>
          </a:prstGeom>
          <a:solidFill>
            <a:srgbClr val="FFFFFF"/>
          </a:solidFill>
          <a:ln w="12700">
            <a:solidFill>
              <a:srgbClr val="1F3864"/>
            </a:solidFill>
            <a:prstDash val="solid"/>
          </a:ln>
        </p:spPr>
      </p:sp>
      <p:sp>
        <p:nvSpPr>
          <p:cNvPr id="32" name="Shape 28"/>
          <p:cNvSpPr/>
          <p:nvPr/>
        </p:nvSpPr>
        <p:spPr>
          <a:xfrm>
            <a:off x="4709160" y="4255008"/>
            <a:ext cx="64008" cy="637032"/>
          </a:xfrm>
          <a:prstGeom prst="rect">
            <a:avLst/>
          </a:prstGeom>
          <a:solidFill>
            <a:srgbClr val="1F3864"/>
          </a:solidFill>
          <a:ln w="12700">
            <a:solidFill>
              <a:srgbClr val="1F3864"/>
            </a:solidFill>
            <a:prstDash val="solid"/>
          </a:ln>
        </p:spPr>
      </p:sp>
      <p:sp>
        <p:nvSpPr>
          <p:cNvPr id="33" name="Text 29"/>
          <p:cNvSpPr/>
          <p:nvPr/>
        </p:nvSpPr>
        <p:spPr>
          <a:xfrm>
            <a:off x="4873752" y="4291584"/>
            <a:ext cx="3922776" cy="563880"/>
          </a:xfrm>
          <a:prstGeom prst="rect">
            <a:avLst/>
          </a:prstGeom>
          <a:noFill/>
          <a:ln/>
        </p:spPr>
        <p:txBody>
          <a:bodyPr wrap="square" rtlCol="0" anchor="ctr"/>
          <a:lstStyle/>
          <a:p>
            <a:pPr algn="l" indent="0" marL="0">
              <a:buNone/>
            </a:pPr>
            <a:r>
              <a:rPr lang="en-US" sz="1050" b="1" dirty="0">
                <a:solidFill>
                  <a:srgbClr val="1F3864"/>
                </a:solidFill>
                <a:latin typeface="Arial" pitchFamily="34" charset="0"/>
                <a:ea typeface="Arial" pitchFamily="34" charset="-122"/>
                <a:cs typeface="Arial" pitchFamily="34" charset="-120"/>
              </a:rPr>
              <a:t>Built-in Maps: </a:t>
            </a:r>
            <a:pPr algn="l" indent="0" marL="0">
              <a:buNone/>
            </a:pPr>
            <a:r>
              <a:rPr lang="en-US" sz="1050" dirty="0">
                <a:solidFill>
                  <a:srgbClr val="333333"/>
                </a:solidFill>
                <a:latin typeface="Arial" pitchFamily="34" charset="0"/>
                <a:ea typeface="Arial" pitchFamily="34" charset="-122"/>
                <a:cs typeface="Arial" pitchFamily="34" charset="-120"/>
              </a:rPr>
              <a:t>Python dict, Java HashMap, and C++ unordered_map all use open addressing or chaining internally — same principles apply.</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Pseudocode</a:t>
            </a:r>
            <a:endParaRPr lang="en-US" sz="2800" dirty="0"/>
          </a:p>
        </p:txBody>
      </p:sp>
      <p:sp>
        <p:nvSpPr>
          <p:cNvPr id="4" name="Shape 1"/>
          <p:cNvSpPr/>
          <p:nvPr/>
        </p:nvSpPr>
        <p:spPr>
          <a:xfrm>
            <a:off x="274320" y="960120"/>
            <a:ext cx="4160520" cy="3977640"/>
          </a:xfrm>
          <a:prstGeom prst="rect">
            <a:avLst/>
          </a:prstGeom>
          <a:solidFill>
            <a:srgbClr val="111827"/>
          </a:solidFill>
          <a:ln w="12700">
            <a:solidFill>
              <a:srgbClr val="111827"/>
            </a:solidFill>
            <a:prstDash val="solid"/>
          </a:ln>
        </p:spPr>
      </p:sp>
      <p:sp>
        <p:nvSpPr>
          <p:cNvPr id="5" name="Shape 2"/>
          <p:cNvSpPr/>
          <p:nvPr/>
        </p:nvSpPr>
        <p:spPr>
          <a:xfrm>
            <a:off x="274320" y="960120"/>
            <a:ext cx="4160520" cy="365760"/>
          </a:xfrm>
          <a:prstGeom prst="rect">
            <a:avLst/>
          </a:prstGeom>
          <a:solidFill>
            <a:srgbClr val="B22234"/>
          </a:solidFill>
          <a:ln w="12700">
            <a:solidFill>
              <a:srgbClr val="B22234"/>
            </a:solidFill>
            <a:prstDash val="solid"/>
          </a:ln>
        </p:spPr>
      </p:sp>
      <p:sp>
        <p:nvSpPr>
          <p:cNvPr id="6" name="Text 3"/>
          <p:cNvSpPr/>
          <p:nvPr/>
        </p:nvSpPr>
        <p:spPr>
          <a:xfrm>
            <a:off x="274320" y="960120"/>
            <a:ext cx="41605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Two Sum  —  O(n)</a:t>
            </a:r>
            <a:endParaRPr lang="en-US" sz="1300" dirty="0"/>
          </a:p>
        </p:txBody>
      </p:sp>
      <p:sp>
        <p:nvSpPr>
          <p:cNvPr id="7" name="Text 4"/>
          <p:cNvSpPr/>
          <p:nvPr/>
        </p:nvSpPr>
        <p:spPr>
          <a:xfrm>
            <a:off x="411480" y="1417320"/>
            <a:ext cx="3886200" cy="3429000"/>
          </a:xfrm>
          <a:prstGeom prst="rect">
            <a:avLst/>
          </a:prstGeom>
          <a:noFill/>
          <a:ln/>
        </p:spPr>
        <p:txBody>
          <a:bodyPr wrap="square" rtlCol="0" anchor="t"/>
          <a:lstStyle/>
          <a:p>
            <a:pPr algn="l" indent="0" marL="0">
              <a:buNone/>
            </a:pPr>
            <a:pPr algn="l" indent="0" marL="0">
              <a:buNone/>
            </a:pPr>
            <a:r>
              <a:rPr lang="en-US" sz="950" b="1" dirty="0">
                <a:solidFill>
                  <a:srgbClr val="60A5FA"/>
                </a:solidFill>
                <a:latin typeface="Consolas" pitchFamily="34" charset="0"/>
                <a:ea typeface="Consolas" pitchFamily="34" charset="-122"/>
                <a:cs typeface="Consolas" pitchFamily="34" charset="-120"/>
              </a:rPr>
              <a:t>function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twoSum</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nums</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target</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seen</a:t>
            </a:r>
            <a:pPr algn="l" indent="0" marL="0">
              <a:buNone/>
            </a:pPr>
            <a:r>
              <a:rPr lang="en-US" sz="950" dirty="0">
                <a:solidFill>
                  <a:srgbClr val="E5E7EB"/>
                </a:solidFill>
                <a:latin typeface="Consolas" pitchFamily="34" charset="0"/>
                <a:ea typeface="Consolas" pitchFamily="34" charset="-122"/>
                <a:cs typeface="Consolas" pitchFamily="34" charset="-120"/>
              </a:rPr>
              <a:t> = {}                       </a:t>
            </a:r>
            <a:pPr algn="l" indent="0" marL="0">
              <a:buNone/>
            </a:pPr>
            <a:r>
              <a:rPr lang="en-US" sz="950" dirty="0">
                <a:solidFill>
                  <a:srgbClr val="9CA3AF"/>
                </a:solidFill>
                <a:latin typeface="Consolas" pitchFamily="34" charset="0"/>
                <a:ea typeface="Consolas" pitchFamily="34" charset="-122"/>
                <a:cs typeface="Consolas" pitchFamily="34" charset="-120"/>
              </a:rPr>
              <a:t>// value -&gt; index</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for</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i</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num</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enumerate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nums</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complement</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target</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num</a:t>
            </a:r>
            <a:pPr algn="l" indent="0" marL="0">
              <a:buNone/>
            </a:pP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if</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complement</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seen</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return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seen</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complement</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i</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seen</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num</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i</a:t>
            </a:r>
            <a:pPr algn="l" indent="0" marL="0">
              <a:buNone/>
            </a:pP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return</a:t>
            </a:r>
            <a:pPr algn="l" indent="0" marL="0">
              <a:buNone/>
            </a:pPr>
            <a:r>
              <a:rPr lang="en-US" sz="950" dirty="0">
                <a:solidFill>
                  <a:srgbClr val="E5E7EB"/>
                </a:solidFill>
                <a:latin typeface="Consolas" pitchFamily="34" charset="0"/>
                <a:ea typeface="Consolas" pitchFamily="34" charset="-122"/>
                <a:cs typeface="Consolas" pitchFamily="34" charset="-120"/>
              </a:rPr>
              <a:t> []</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Walkthrough for nums=[2,7,11,15], target=9:</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i=0 num=2  complement=7  seen={} → store seen[2]=0</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i=1 num=7  complement=2  → found seen[2]=0</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return [0, 1]</a:t>
            </a:r>
            <a:endParaRPr lang="en-US" sz="950" dirty="0"/>
          </a:p>
        </p:txBody>
      </p:sp>
      <p:sp>
        <p:nvSpPr>
          <p:cNvPr id="8" name="Shape 5"/>
          <p:cNvSpPr/>
          <p:nvPr/>
        </p:nvSpPr>
        <p:spPr>
          <a:xfrm>
            <a:off x="4709160" y="960120"/>
            <a:ext cx="4160520" cy="3977640"/>
          </a:xfrm>
          <a:prstGeom prst="rect">
            <a:avLst/>
          </a:prstGeom>
          <a:solidFill>
            <a:srgbClr val="111827"/>
          </a:solidFill>
          <a:ln w="12700">
            <a:solidFill>
              <a:srgbClr val="111827"/>
            </a:solidFill>
            <a:prstDash val="solid"/>
          </a:ln>
        </p:spPr>
      </p:sp>
      <p:sp>
        <p:nvSpPr>
          <p:cNvPr id="9" name="Shape 6"/>
          <p:cNvSpPr/>
          <p:nvPr/>
        </p:nvSpPr>
        <p:spPr>
          <a:xfrm>
            <a:off x="4709160" y="960120"/>
            <a:ext cx="4160520" cy="365760"/>
          </a:xfrm>
          <a:prstGeom prst="rect">
            <a:avLst/>
          </a:prstGeom>
          <a:solidFill>
            <a:srgbClr val="1F3864"/>
          </a:solidFill>
          <a:ln w="12700">
            <a:solidFill>
              <a:srgbClr val="1F3864"/>
            </a:solidFill>
            <a:prstDash val="solid"/>
          </a:ln>
        </p:spPr>
      </p:sp>
      <p:sp>
        <p:nvSpPr>
          <p:cNvPr id="10" name="Text 7"/>
          <p:cNvSpPr/>
          <p:nvPr/>
        </p:nvSpPr>
        <p:spPr>
          <a:xfrm>
            <a:off x="4709160" y="960120"/>
            <a:ext cx="41605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Custom Hash Table (Chaining)</a:t>
            </a:r>
            <a:endParaRPr lang="en-US" sz="1300" dirty="0"/>
          </a:p>
        </p:txBody>
      </p:sp>
      <p:sp>
        <p:nvSpPr>
          <p:cNvPr id="11" name="Text 8"/>
          <p:cNvSpPr/>
          <p:nvPr/>
        </p:nvSpPr>
        <p:spPr>
          <a:xfrm>
            <a:off x="4846320" y="1417320"/>
            <a:ext cx="3886200" cy="3429000"/>
          </a:xfrm>
          <a:prstGeom prst="rect">
            <a:avLst/>
          </a:prstGeom>
          <a:noFill/>
          <a:ln/>
        </p:spPr>
        <p:txBody>
          <a:bodyPr wrap="square" rtlCol="0" anchor="t"/>
          <a:lstStyle/>
          <a:p>
            <a:pPr algn="l" indent="0" marL="0">
              <a:buNone/>
            </a:pPr>
            <a:pPr algn="l" indent="0" marL="0">
              <a:buNone/>
            </a:pPr>
            <a:r>
              <a:rPr lang="en-US" sz="950" b="1" dirty="0">
                <a:solidFill>
                  <a:srgbClr val="60A5FA"/>
                </a:solidFill>
                <a:latin typeface="Consolas" pitchFamily="34" charset="0"/>
                <a:ea typeface="Consolas" pitchFamily="34" charset="-122"/>
                <a:cs typeface="Consolas" pitchFamily="34" charset="-120"/>
              </a:rPr>
              <a:t>class</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HashTable</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SIZE</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16</a:t>
            </a:r>
            <a:pPr algn="l" indent="0" marL="0">
              <a:buNone/>
            </a:pP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table</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b="1" dirty="0">
                <a:solidFill>
                  <a:srgbClr val="60A5FA"/>
                </a:solidFill>
                <a:latin typeface="Consolas" pitchFamily="34" charset="0"/>
                <a:ea typeface="Consolas" pitchFamily="34" charset="-122"/>
                <a:cs typeface="Consolas" pitchFamily="34" charset="-120"/>
              </a:rPr>
              <a:t>LinkedList</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for</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_</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range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SIZE</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function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hash</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key</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return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abs</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key</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mod</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SIZE</a:t>
            </a:r>
            <a:pPr algn="l" indent="0" marL="0">
              <a:buNone/>
            </a:pP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function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put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key</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value</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idx</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hash</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key</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for</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node</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table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idx</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if</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node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key</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key</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node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value</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value</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9CA3AF"/>
                </a:solidFill>
                <a:latin typeface="Consolas" pitchFamily="34" charset="0"/>
                <a:ea typeface="Consolas" pitchFamily="34" charset="-122"/>
                <a:cs typeface="Consolas" pitchFamily="34" charset="-120"/>
              </a:rPr>
              <a:t>// update</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return</a:t>
            </a:r>
            <a:pPr algn="l" indent="0" marL="0">
              <a:buNone/>
            </a:pP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table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idx</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append</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Node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key</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value</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function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get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key</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idx</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hash</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key</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for</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node</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table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idx</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if</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node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key</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key</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return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node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value</a:t>
            </a:r>
            <a:pPr algn="l" indent="0" marL="0">
              <a:buNone/>
            </a:pP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return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None</a:t>
            </a:r>
            <a:pPr algn="l" indent="0" marL="0">
              <a:buNone/>
            </a:pP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function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remove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key</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idx</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hash</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key</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table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idx</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remove_where</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n</a:t>
            </a:r>
            <a:pPr algn="l" indent="0" marL="0">
              <a:buNone/>
            </a:pPr>
            <a:r>
              <a:rPr lang="en-US" sz="950" dirty="0">
                <a:solidFill>
                  <a:srgbClr val="E5E7EB"/>
                </a:solidFill>
                <a:latin typeface="Consolas" pitchFamily="34" charset="0"/>
                <a:ea typeface="Consolas" pitchFamily="34" charset="-122"/>
                <a:cs typeface="Consolas" pitchFamily="34" charset="-120"/>
              </a:rPr>
              <a:t> -&gt; </a:t>
            </a:r>
            <a:pPr algn="l" indent="0" marL="0">
              <a:buNone/>
            </a:pPr>
            <a:r>
              <a:rPr lang="en-US" sz="950" dirty="0">
                <a:solidFill>
                  <a:srgbClr val="E5E7EB"/>
                </a:solidFill>
                <a:latin typeface="Consolas" pitchFamily="34" charset="0"/>
                <a:ea typeface="Consolas" pitchFamily="34" charset="-122"/>
                <a:cs typeface="Consolas" pitchFamily="34" charset="-120"/>
              </a:rPr>
              <a:t>n</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key</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key</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Code Implementation</a:t>
            </a:r>
            <a:endParaRPr lang="en-US" sz="2800" dirty="0"/>
          </a:p>
        </p:txBody>
      </p:sp>
      <p:sp>
        <p:nvSpPr>
          <p:cNvPr id="4" name="Shape 1"/>
          <p:cNvSpPr/>
          <p:nvPr/>
        </p:nvSpPr>
        <p:spPr>
          <a:xfrm>
            <a:off x="274320" y="960120"/>
            <a:ext cx="2834640" cy="3977640"/>
          </a:xfrm>
          <a:prstGeom prst="rect">
            <a:avLst/>
          </a:prstGeom>
          <a:solidFill>
            <a:srgbClr val="111827"/>
          </a:solidFill>
          <a:ln w="12700">
            <a:solidFill>
              <a:srgbClr val="111827"/>
            </a:solidFill>
            <a:prstDash val="solid"/>
          </a:ln>
        </p:spPr>
      </p:sp>
      <p:sp>
        <p:nvSpPr>
          <p:cNvPr id="5" name="Shape 2"/>
          <p:cNvSpPr/>
          <p:nvPr/>
        </p:nvSpPr>
        <p:spPr>
          <a:xfrm>
            <a:off x="274320" y="960120"/>
            <a:ext cx="2834640" cy="365760"/>
          </a:xfrm>
          <a:prstGeom prst="rect">
            <a:avLst/>
          </a:prstGeom>
          <a:solidFill>
            <a:srgbClr val="1F3864"/>
          </a:solidFill>
          <a:ln w="12700">
            <a:solidFill>
              <a:srgbClr val="1F3864"/>
            </a:solidFill>
            <a:prstDash val="solid"/>
          </a:ln>
        </p:spPr>
      </p:sp>
      <p:sp>
        <p:nvSpPr>
          <p:cNvPr id="6" name="Text 3"/>
          <p:cNvSpPr/>
          <p:nvPr/>
        </p:nvSpPr>
        <p:spPr>
          <a:xfrm>
            <a:off x="274320" y="960120"/>
            <a:ext cx="2834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C++</a:t>
            </a:r>
            <a:endParaRPr lang="en-US" sz="1200" dirty="0"/>
          </a:p>
        </p:txBody>
      </p:sp>
      <p:sp>
        <p:nvSpPr>
          <p:cNvPr id="7" name="Text 4"/>
          <p:cNvSpPr/>
          <p:nvPr/>
        </p:nvSpPr>
        <p:spPr>
          <a:xfrm>
            <a:off x="365760" y="1399032"/>
            <a:ext cx="2651760" cy="3465576"/>
          </a:xfrm>
          <a:prstGeom prst="rect">
            <a:avLst/>
          </a:prstGeom>
          <a:noFill/>
          <a:ln/>
        </p:spPr>
        <p:txBody>
          <a:bodyPr wrap="square" rtlCol="0" anchor="t"/>
          <a:lstStyle/>
          <a:p>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include</a:t>
            </a:r>
            <a:pPr algn="l" indent="0" marL="0">
              <a:buNone/>
            </a:pPr>
            <a:r>
              <a:rPr lang="en-US" sz="850" dirty="0">
                <a:solidFill>
                  <a:srgbClr val="E5E7EB"/>
                </a:solidFill>
                <a:latin typeface="Consolas" pitchFamily="34" charset="0"/>
                <a:ea typeface="Consolas" pitchFamily="34" charset="-122"/>
                <a:cs typeface="Consolas" pitchFamily="34" charset="-120"/>
              </a:rPr>
              <a:t> &lt;</a:t>
            </a:r>
            <a:pPr algn="l" indent="0" marL="0">
              <a:buNone/>
            </a:pPr>
            <a:r>
              <a:rPr lang="en-US" sz="850" dirty="0">
                <a:solidFill>
                  <a:srgbClr val="E5E7EB"/>
                </a:solidFill>
                <a:latin typeface="Consolas" pitchFamily="34" charset="0"/>
                <a:ea typeface="Consolas" pitchFamily="34" charset="-122"/>
                <a:cs typeface="Consolas" pitchFamily="34" charset="-120"/>
              </a:rPr>
              <a:t>vector</a:t>
            </a:r>
            <a:pPr algn="l" indent="0" marL="0">
              <a:buNone/>
            </a:pPr>
            <a:r>
              <a:rPr lang="en-US" sz="850" dirty="0">
                <a:solidFill>
                  <a:srgbClr val="E5E7EB"/>
                </a:solidFill>
                <a:latin typeface="Consolas" pitchFamily="34" charset="0"/>
                <a:ea typeface="Consolas" pitchFamily="34" charset="-122"/>
                <a:cs typeface="Consolas" pitchFamily="34" charset="-120"/>
              </a:rPr>
              <a:t>&gt;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include</a:t>
            </a:r>
            <a:pPr algn="l" indent="0" marL="0">
              <a:buNone/>
            </a:pPr>
            <a:r>
              <a:rPr lang="en-US" sz="850" dirty="0">
                <a:solidFill>
                  <a:srgbClr val="E5E7EB"/>
                </a:solidFill>
                <a:latin typeface="Consolas" pitchFamily="34" charset="0"/>
                <a:ea typeface="Consolas" pitchFamily="34" charset="-122"/>
                <a:cs typeface="Consolas" pitchFamily="34" charset="-120"/>
              </a:rPr>
              <a:t> &lt;</a:t>
            </a:r>
            <a:pPr algn="l" indent="0" marL="0">
              <a:buNone/>
            </a:pPr>
            <a:r>
              <a:rPr lang="en-US" sz="850" dirty="0">
                <a:solidFill>
                  <a:srgbClr val="E5E7EB"/>
                </a:solidFill>
                <a:latin typeface="Consolas" pitchFamily="34" charset="0"/>
                <a:ea typeface="Consolas" pitchFamily="34" charset="-122"/>
                <a:cs typeface="Consolas" pitchFamily="34" charset="-120"/>
              </a:rPr>
              <a:t>unordered_map</a:t>
            </a:r>
            <a:pPr algn="l" indent="0" marL="0">
              <a:buNone/>
            </a:pPr>
            <a:r>
              <a:rPr lang="en-US" sz="850" dirty="0">
                <a:solidFill>
                  <a:srgbClr val="E5E7EB"/>
                </a:solidFill>
                <a:latin typeface="Consolas" pitchFamily="34" charset="0"/>
                <a:ea typeface="Consolas" pitchFamily="34" charset="-122"/>
                <a:cs typeface="Consolas" pitchFamily="34" charset="-120"/>
              </a:rPr>
              <a:t>&gt;</a:t>
            </a:r>
            <a:endParaRPr lang="en-US" sz="850" dirty="0"/>
          </a:p>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using</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namespace</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std</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class</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Solution</a:t>
            </a:r>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public</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vector</a:t>
            </a:r>
            <a:pPr algn="l" indent="0" marL="0">
              <a:buNone/>
            </a:pPr>
            <a:r>
              <a:rPr lang="en-US" sz="850" dirty="0">
                <a:solidFill>
                  <a:srgbClr val="E5E7EB"/>
                </a:solidFill>
                <a:latin typeface="Consolas" pitchFamily="34" charset="0"/>
                <a:ea typeface="Consolas" pitchFamily="34" charset="-122"/>
                <a:cs typeface="Consolas" pitchFamily="34" charset="-120"/>
              </a:rPr>
              <a:t>&lt;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&gt; </a:t>
            </a:r>
            <a:pPr algn="l" indent="0" marL="0">
              <a:buNone/>
            </a:pPr>
            <a:r>
              <a:rPr lang="en-US" sz="850" dirty="0">
                <a:solidFill>
                  <a:srgbClr val="E5E7EB"/>
                </a:solidFill>
                <a:latin typeface="Consolas" pitchFamily="34" charset="0"/>
                <a:ea typeface="Consolas" pitchFamily="34" charset="-122"/>
                <a:cs typeface="Consolas" pitchFamily="34" charset="-120"/>
              </a:rPr>
              <a:t>twoSum</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vector</a:t>
            </a:r>
            <a:pPr algn="l" indent="0" marL="0">
              <a:buNone/>
            </a:pPr>
            <a:r>
              <a:rPr lang="en-US" sz="850" dirty="0">
                <a:solidFill>
                  <a:srgbClr val="E5E7EB"/>
                </a:solidFill>
                <a:latin typeface="Consolas" pitchFamily="34" charset="0"/>
                <a:ea typeface="Consolas" pitchFamily="34" charset="-122"/>
                <a:cs typeface="Consolas" pitchFamily="34" charset="-120"/>
              </a:rPr>
              <a:t>&lt;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&gt;&amp;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target</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unordered_map</a:t>
            </a:r>
            <a:pPr algn="l" indent="0" marL="0">
              <a:buNone/>
            </a:pPr>
            <a:r>
              <a:rPr lang="en-US" sz="850" dirty="0">
                <a:solidFill>
                  <a:srgbClr val="E5E7EB"/>
                </a:solidFill>
                <a:latin typeface="Consolas" pitchFamily="34" charset="0"/>
                <a:ea typeface="Consolas" pitchFamily="34" charset="-122"/>
                <a:cs typeface="Consolas" pitchFamily="34" charset="-120"/>
              </a:rPr>
              <a:t>&lt;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&gt; </a:t>
            </a:r>
            <a:pPr algn="l" indent="0" marL="0">
              <a:buNone/>
            </a:pPr>
            <a:r>
              <a:rPr lang="en-US" sz="850" dirty="0">
                <a:solidFill>
                  <a:srgbClr val="E5E7EB"/>
                </a:solidFill>
                <a:latin typeface="Consolas" pitchFamily="34" charset="0"/>
                <a:ea typeface="Consolas" pitchFamily="34" charset="-122"/>
                <a:cs typeface="Consolas" pitchFamily="34" charset="-120"/>
              </a:rPr>
              <a:t>seen</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for</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size</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comp</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target</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seen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count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comp</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seen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comp</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seen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9CA3AF"/>
                </a:solidFill>
                <a:latin typeface="Consolas" pitchFamily="34" charset="0"/>
                <a:ea typeface="Consolas" pitchFamily="34" charset="-122"/>
                <a:cs typeface="Consolas" pitchFamily="34" charset="-120"/>
              </a:rPr>
              <a:t>// Custom chaining sketch:</a:t>
            </a:r>
            <a:endParaRPr lang="en-US" sz="850" dirty="0"/>
          </a:p>
          <a:p>
            <a:pPr algn="l" indent="0" marL="0">
              <a:buNone/>
            </a:pPr>
            <a:r>
              <a:rPr lang="en-US" sz="850" dirty="0">
                <a:solidFill>
                  <a:srgbClr val="9CA3AF"/>
                </a:solidFill>
                <a:latin typeface="Consolas" pitchFamily="34" charset="0"/>
                <a:ea typeface="Consolas" pitchFamily="34" charset="-122"/>
                <a:cs typeface="Consolas" pitchFamily="34" charset="-120"/>
              </a:rPr>
              <a:t>// vector&lt;list&lt;pair&lt;int,int&gt;&gt;&gt; table(SIZE);</a:t>
            </a:r>
            <a:endParaRPr lang="en-US" sz="850" dirty="0"/>
          </a:p>
          <a:p>
            <a:pPr algn="l" indent="0" marL="0">
              <a:buNone/>
            </a:pPr>
            <a:r>
              <a:rPr lang="en-US" sz="850" dirty="0">
                <a:solidFill>
                  <a:srgbClr val="9CA3AF"/>
                </a:solidFill>
                <a:latin typeface="Consolas" pitchFamily="34" charset="0"/>
                <a:ea typeface="Consolas" pitchFamily="34" charset="-122"/>
                <a:cs typeface="Consolas" pitchFamily="34" charset="-120"/>
              </a:rPr>
              <a:t>// void put(int k, int v){</a:t>
            </a:r>
            <a:endParaRPr lang="en-US" sz="850" dirty="0"/>
          </a:p>
          <a:p>
            <a:pPr algn="l" indent="0" marL="0">
              <a:buNone/>
            </a:pPr>
            <a:r>
              <a:rPr lang="en-US" sz="850" dirty="0">
                <a:solidFill>
                  <a:srgbClr val="9CA3AF"/>
                </a:solidFill>
                <a:latin typeface="Consolas" pitchFamily="34" charset="0"/>
                <a:ea typeface="Consolas" pitchFamily="34" charset="-122"/>
                <a:cs typeface="Consolas" pitchFamily="34" charset="-120"/>
              </a:rPr>
              <a:t>//   int idx = hash(k) % SIZE;</a:t>
            </a:r>
            <a:endParaRPr lang="en-US" sz="850" dirty="0"/>
          </a:p>
          <a:p>
            <a:pPr algn="l" indent="0" marL="0">
              <a:buNone/>
            </a:pPr>
            <a:r>
              <a:rPr lang="en-US" sz="850" dirty="0">
                <a:solidFill>
                  <a:srgbClr val="9CA3AF"/>
                </a:solidFill>
                <a:latin typeface="Consolas" pitchFamily="34" charset="0"/>
                <a:ea typeface="Consolas" pitchFamily="34" charset="-122"/>
                <a:cs typeface="Consolas" pitchFamily="34" charset="-120"/>
              </a:rPr>
              <a:t>//   for(auto&amp; p : table[idx])</a:t>
            </a:r>
            <a:endParaRPr lang="en-US" sz="850" dirty="0"/>
          </a:p>
          <a:p>
            <a:pPr algn="l" indent="0" marL="0">
              <a:buNone/>
            </a:pPr>
            <a:r>
              <a:rPr lang="en-US" sz="850" dirty="0">
                <a:solidFill>
                  <a:srgbClr val="9CA3AF"/>
                </a:solidFill>
                <a:latin typeface="Consolas" pitchFamily="34" charset="0"/>
                <a:ea typeface="Consolas" pitchFamily="34" charset="-122"/>
                <a:cs typeface="Consolas" pitchFamily="34" charset="-120"/>
              </a:rPr>
              <a:t>//     if(p.first == k){ p.second = v; return; }</a:t>
            </a:r>
            <a:endParaRPr lang="en-US" sz="850" dirty="0"/>
          </a:p>
          <a:p>
            <a:pPr algn="l" indent="0" marL="0">
              <a:buNone/>
            </a:pPr>
            <a:r>
              <a:rPr lang="en-US" sz="850" dirty="0">
                <a:solidFill>
                  <a:srgbClr val="9CA3AF"/>
                </a:solidFill>
                <a:latin typeface="Consolas" pitchFamily="34" charset="0"/>
                <a:ea typeface="Consolas" pitchFamily="34" charset="-122"/>
                <a:cs typeface="Consolas" pitchFamily="34" charset="-120"/>
              </a:rPr>
              <a:t>//   table[idx].push_back({k, v});</a:t>
            </a:r>
            <a:endParaRPr lang="en-US" sz="850" dirty="0"/>
          </a:p>
          <a:p>
            <a:pPr algn="l" indent="0" marL="0">
              <a:buNone/>
            </a:pPr>
            <a:r>
              <a:rPr lang="en-US" sz="850" dirty="0">
                <a:solidFill>
                  <a:srgbClr val="9CA3AF"/>
                </a:solidFill>
                <a:latin typeface="Consolas" pitchFamily="34" charset="0"/>
                <a:ea typeface="Consolas" pitchFamily="34" charset="-122"/>
                <a:cs typeface="Consolas" pitchFamily="34" charset="-120"/>
              </a:rPr>
              <a:t>// }</a:t>
            </a:r>
            <a:endParaRPr lang="en-US" sz="850" dirty="0"/>
          </a:p>
        </p:txBody>
      </p:sp>
      <p:sp>
        <p:nvSpPr>
          <p:cNvPr id="8" name="Shape 5"/>
          <p:cNvSpPr/>
          <p:nvPr/>
        </p:nvSpPr>
        <p:spPr>
          <a:xfrm>
            <a:off x="3182112" y="960120"/>
            <a:ext cx="2834640" cy="3977640"/>
          </a:xfrm>
          <a:prstGeom prst="rect">
            <a:avLst/>
          </a:prstGeom>
          <a:solidFill>
            <a:srgbClr val="111827"/>
          </a:solidFill>
          <a:ln w="12700">
            <a:solidFill>
              <a:srgbClr val="111827"/>
            </a:solidFill>
            <a:prstDash val="solid"/>
          </a:ln>
        </p:spPr>
      </p:sp>
      <p:sp>
        <p:nvSpPr>
          <p:cNvPr id="9" name="Shape 6"/>
          <p:cNvSpPr/>
          <p:nvPr/>
        </p:nvSpPr>
        <p:spPr>
          <a:xfrm>
            <a:off x="3182112" y="960120"/>
            <a:ext cx="2834640" cy="365760"/>
          </a:xfrm>
          <a:prstGeom prst="rect">
            <a:avLst/>
          </a:prstGeom>
          <a:solidFill>
            <a:srgbClr val="2C5F2D"/>
          </a:solidFill>
          <a:ln w="12700">
            <a:solidFill>
              <a:srgbClr val="2C5F2D"/>
            </a:solidFill>
            <a:prstDash val="solid"/>
          </a:ln>
        </p:spPr>
      </p:sp>
      <p:sp>
        <p:nvSpPr>
          <p:cNvPr id="10" name="Text 7"/>
          <p:cNvSpPr/>
          <p:nvPr/>
        </p:nvSpPr>
        <p:spPr>
          <a:xfrm>
            <a:off x="3182112" y="960120"/>
            <a:ext cx="2834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Java  (Functional Style)</a:t>
            </a:r>
            <a:endParaRPr lang="en-US" sz="1200" dirty="0"/>
          </a:p>
        </p:txBody>
      </p:sp>
      <p:sp>
        <p:nvSpPr>
          <p:cNvPr id="11" name="Text 8"/>
          <p:cNvSpPr/>
          <p:nvPr/>
        </p:nvSpPr>
        <p:spPr>
          <a:xfrm>
            <a:off x="3273552" y="1399032"/>
            <a:ext cx="2651760" cy="3465576"/>
          </a:xfrm>
          <a:prstGeom prst="rect">
            <a:avLst/>
          </a:prstGeom>
          <a:noFill/>
          <a:ln/>
        </p:spPr>
        <p:txBody>
          <a:bodyPr wrap="square" rtlCol="0" anchor="t"/>
          <a:lstStyle/>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import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java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util</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b="1" dirty="0">
                <a:solidFill>
                  <a:srgbClr val="60A5FA"/>
                </a:solidFill>
                <a:latin typeface="Consolas" pitchFamily="34" charset="0"/>
                <a:ea typeface="Consolas" pitchFamily="34" charset="-122"/>
                <a:cs typeface="Consolas" pitchFamily="34" charset="-120"/>
              </a:rPr>
              <a:t>HashMap</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import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java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util</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b="1" dirty="0">
                <a:solidFill>
                  <a:srgbClr val="60A5FA"/>
                </a:solidFill>
                <a:latin typeface="Consolas" pitchFamily="34" charset="0"/>
                <a:ea typeface="Consolas" pitchFamily="34" charset="-122"/>
                <a:cs typeface="Consolas" pitchFamily="34" charset="-120"/>
              </a:rPr>
              <a:t>Map</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public</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class</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Solution</a:t>
            </a:r>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public</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twoSum</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target</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Map</a:t>
            </a:r>
            <a:pPr algn="l" indent="0" marL="0">
              <a:buNone/>
            </a:pPr>
            <a:r>
              <a:rPr lang="en-US" sz="850" dirty="0">
                <a:solidFill>
                  <a:srgbClr val="E5E7EB"/>
                </a:solidFill>
                <a:latin typeface="Consolas" pitchFamily="34" charset="0"/>
                <a:ea typeface="Consolas" pitchFamily="34" charset="-122"/>
                <a:cs typeface="Consolas" pitchFamily="34" charset="-120"/>
              </a:rPr>
              <a:t>&lt;</a:t>
            </a:r>
            <a:pPr algn="l" indent="0" marL="0">
              <a:buNone/>
            </a:pPr>
            <a:r>
              <a:rPr lang="en-US" sz="850" dirty="0">
                <a:solidFill>
                  <a:srgbClr val="E5E7EB"/>
                </a:solidFill>
                <a:latin typeface="Consolas" pitchFamily="34" charset="0"/>
                <a:ea typeface="Consolas" pitchFamily="34" charset="-122"/>
                <a:cs typeface="Consolas" pitchFamily="34" charset="-120"/>
              </a:rPr>
              <a:t>Integer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Integer</a:t>
            </a:r>
            <a:pPr algn="l" indent="0" marL="0">
              <a:buNone/>
            </a:pPr>
            <a:r>
              <a:rPr lang="en-US" sz="850" dirty="0">
                <a:solidFill>
                  <a:srgbClr val="E5E7EB"/>
                </a:solidFill>
                <a:latin typeface="Consolas" pitchFamily="34" charset="0"/>
                <a:ea typeface="Consolas" pitchFamily="34" charset="-122"/>
                <a:cs typeface="Consolas" pitchFamily="34" charset="-120"/>
              </a:rPr>
              <a:t>&gt; </a:t>
            </a:r>
            <a:pPr algn="l" indent="0" marL="0">
              <a:buNone/>
            </a:pPr>
            <a:r>
              <a:rPr lang="en-US" sz="850" dirty="0">
                <a:solidFill>
                  <a:srgbClr val="E5E7EB"/>
                </a:solidFill>
                <a:latin typeface="Consolas" pitchFamily="34" charset="0"/>
                <a:ea typeface="Consolas" pitchFamily="34" charset="-122"/>
                <a:cs typeface="Consolas" pitchFamily="34" charset="-120"/>
              </a:rPr>
              <a:t>seen</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b="1" dirty="0">
                <a:solidFill>
                  <a:srgbClr val="60A5FA"/>
                </a:solidFill>
                <a:latin typeface="Consolas" pitchFamily="34" charset="0"/>
                <a:ea typeface="Consolas" pitchFamily="34" charset="-122"/>
                <a:cs typeface="Consolas" pitchFamily="34" charset="-120"/>
              </a:rPr>
              <a:t>new</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HashMap</a:t>
            </a:r>
            <a:pPr algn="l" indent="0" marL="0">
              <a:buNone/>
            </a:pPr>
            <a:r>
              <a:rPr lang="en-US" sz="850" dirty="0">
                <a:solidFill>
                  <a:srgbClr val="E5E7EB"/>
                </a:solidFill>
                <a:latin typeface="Consolas" pitchFamily="34" charset="0"/>
                <a:ea typeface="Consolas" pitchFamily="34" charset="-122"/>
                <a:cs typeface="Consolas" pitchFamily="34" charset="-120"/>
              </a:rPr>
              <a:t>&lt;&gt;();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for</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length</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comp</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target</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seen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containsKey</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comp</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new</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seen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get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comp</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seen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put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new</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9CA3AF"/>
                </a:solidFill>
                <a:latin typeface="Consolas" pitchFamily="34" charset="0"/>
                <a:ea typeface="Consolas" pitchFamily="34" charset="-122"/>
                <a:cs typeface="Consolas" pitchFamily="34" charset="-120"/>
              </a:rPr>
              <a:t>// Linear probing sketch:</a:t>
            </a:r>
            <a:endParaRPr lang="en-US" sz="850" dirty="0"/>
          </a:p>
          <a:p>
            <a:pPr algn="l" indent="0" marL="0">
              <a:buNone/>
            </a:pPr>
            <a:r>
              <a:rPr lang="en-US" sz="850" dirty="0">
                <a:solidFill>
                  <a:srgbClr val="9CA3AF"/>
                </a:solidFill>
                <a:latin typeface="Consolas" pitchFamily="34" charset="0"/>
                <a:ea typeface="Consolas" pitchFamily="34" charset="-122"/>
                <a:cs typeface="Consolas" pitchFamily="34" charset="-120"/>
              </a:rPr>
              <a:t>// int probe(int key){</a:t>
            </a:r>
            <a:endParaRPr lang="en-US" sz="850" dirty="0"/>
          </a:p>
          <a:p>
            <a:pPr algn="l" indent="0" marL="0">
              <a:buNone/>
            </a:pPr>
            <a:r>
              <a:rPr lang="en-US" sz="850" dirty="0">
                <a:solidFill>
                  <a:srgbClr val="9CA3AF"/>
                </a:solidFill>
                <a:latin typeface="Consolas" pitchFamily="34" charset="0"/>
                <a:ea typeface="Consolas" pitchFamily="34" charset="-122"/>
                <a:cs typeface="Consolas" pitchFamily="34" charset="-120"/>
              </a:rPr>
              <a:t>//   int idx = hash(key) % SIZE;</a:t>
            </a:r>
            <a:endParaRPr lang="en-US" sz="850" dirty="0"/>
          </a:p>
          <a:p>
            <a:pPr algn="l" indent="0" marL="0">
              <a:buNone/>
            </a:pPr>
            <a:r>
              <a:rPr lang="en-US" sz="850" dirty="0">
                <a:solidFill>
                  <a:srgbClr val="9CA3AF"/>
                </a:solidFill>
                <a:latin typeface="Consolas" pitchFamily="34" charset="0"/>
                <a:ea typeface="Consolas" pitchFamily="34" charset="-122"/>
                <a:cs typeface="Consolas" pitchFamily="34" charset="-120"/>
              </a:rPr>
              <a:t>//   while(table[idx] != null</a:t>
            </a:r>
            <a:endParaRPr lang="en-US" sz="850" dirty="0"/>
          </a:p>
          <a:p>
            <a:pPr algn="l" indent="0" marL="0">
              <a:buNone/>
            </a:pPr>
            <a:r>
              <a:rPr lang="en-US" sz="850" dirty="0">
                <a:solidFill>
                  <a:srgbClr val="9CA3AF"/>
                </a:solidFill>
                <a:latin typeface="Consolas" pitchFamily="34" charset="0"/>
                <a:ea typeface="Consolas" pitchFamily="34" charset="-122"/>
                <a:cs typeface="Consolas" pitchFamily="34" charset="-120"/>
              </a:rPr>
              <a:t>//      &amp;&amp; table[idx].key != key){</a:t>
            </a:r>
            <a:endParaRPr lang="en-US" sz="850" dirty="0"/>
          </a:p>
          <a:p>
            <a:pPr algn="l" indent="0" marL="0">
              <a:buNone/>
            </a:pPr>
            <a:r>
              <a:rPr lang="en-US" sz="850" dirty="0">
                <a:solidFill>
                  <a:srgbClr val="9CA3AF"/>
                </a:solidFill>
                <a:latin typeface="Consolas" pitchFamily="34" charset="0"/>
                <a:ea typeface="Consolas" pitchFamily="34" charset="-122"/>
                <a:cs typeface="Consolas" pitchFamily="34" charset="-120"/>
              </a:rPr>
              <a:t>//     idx = (idx + 1) % SIZE;</a:t>
            </a:r>
            <a:endParaRPr lang="en-US" sz="850" dirty="0"/>
          </a:p>
          <a:p>
            <a:pPr algn="l" indent="0" marL="0">
              <a:buNone/>
            </a:pPr>
            <a:r>
              <a:rPr lang="en-US" sz="850" dirty="0">
                <a:solidFill>
                  <a:srgbClr val="9CA3AF"/>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9CA3AF"/>
                </a:solidFill>
                <a:latin typeface="Consolas" pitchFamily="34" charset="0"/>
                <a:ea typeface="Consolas" pitchFamily="34" charset="-122"/>
                <a:cs typeface="Consolas" pitchFamily="34" charset="-120"/>
              </a:rPr>
              <a:t>//   return idx;</a:t>
            </a:r>
            <a:endParaRPr lang="en-US" sz="850" dirty="0"/>
          </a:p>
          <a:p>
            <a:pPr algn="l" indent="0" marL="0">
              <a:buNone/>
            </a:pPr>
            <a:r>
              <a:rPr lang="en-US" sz="850" dirty="0">
                <a:solidFill>
                  <a:srgbClr val="9CA3AF"/>
                </a:solidFill>
                <a:latin typeface="Consolas" pitchFamily="34" charset="0"/>
                <a:ea typeface="Consolas" pitchFamily="34" charset="-122"/>
                <a:cs typeface="Consolas" pitchFamily="34" charset="-120"/>
              </a:rPr>
              <a:t>// }</a:t>
            </a:r>
            <a:endParaRPr lang="en-US" sz="850" dirty="0"/>
          </a:p>
        </p:txBody>
      </p:sp>
      <p:sp>
        <p:nvSpPr>
          <p:cNvPr id="12" name="Shape 9"/>
          <p:cNvSpPr/>
          <p:nvPr/>
        </p:nvSpPr>
        <p:spPr>
          <a:xfrm>
            <a:off x="6089904" y="960120"/>
            <a:ext cx="2834640" cy="3977640"/>
          </a:xfrm>
          <a:prstGeom prst="rect">
            <a:avLst/>
          </a:prstGeom>
          <a:solidFill>
            <a:srgbClr val="111827"/>
          </a:solidFill>
          <a:ln w="12700">
            <a:solidFill>
              <a:srgbClr val="111827"/>
            </a:solidFill>
            <a:prstDash val="solid"/>
          </a:ln>
        </p:spPr>
      </p:sp>
      <p:sp>
        <p:nvSpPr>
          <p:cNvPr id="13" name="Shape 10"/>
          <p:cNvSpPr/>
          <p:nvPr/>
        </p:nvSpPr>
        <p:spPr>
          <a:xfrm>
            <a:off x="6089904" y="960120"/>
            <a:ext cx="2834640" cy="365760"/>
          </a:xfrm>
          <a:prstGeom prst="rect">
            <a:avLst/>
          </a:prstGeom>
          <a:solidFill>
            <a:srgbClr val="B22234"/>
          </a:solidFill>
          <a:ln w="12700">
            <a:solidFill>
              <a:srgbClr val="B22234"/>
            </a:solidFill>
            <a:prstDash val="solid"/>
          </a:ln>
        </p:spPr>
      </p:sp>
      <p:sp>
        <p:nvSpPr>
          <p:cNvPr id="14" name="Text 11"/>
          <p:cNvSpPr/>
          <p:nvPr/>
        </p:nvSpPr>
        <p:spPr>
          <a:xfrm>
            <a:off x="6089904" y="960120"/>
            <a:ext cx="2834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Python</a:t>
            </a:r>
            <a:endParaRPr lang="en-US" sz="1200" dirty="0"/>
          </a:p>
        </p:txBody>
      </p:sp>
      <p:sp>
        <p:nvSpPr>
          <p:cNvPr id="15" name="Text 12"/>
          <p:cNvSpPr/>
          <p:nvPr/>
        </p:nvSpPr>
        <p:spPr>
          <a:xfrm>
            <a:off x="6181344" y="1399032"/>
            <a:ext cx="2651760" cy="3465576"/>
          </a:xfrm>
          <a:prstGeom prst="rect">
            <a:avLst/>
          </a:prstGeom>
          <a:noFill/>
          <a:ln/>
        </p:spPr>
        <p:txBody>
          <a:bodyPr wrap="square" rtlCol="0" anchor="t"/>
          <a:lstStyle/>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class</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Solution</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def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twoSum</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self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target</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seen</a:t>
            </a:r>
            <a:pPr algn="l" indent="0" marL="0">
              <a:buNone/>
            </a:pPr>
            <a:r>
              <a:rPr lang="en-US" sz="850" dirty="0">
                <a:solidFill>
                  <a:srgbClr val="E5E7EB"/>
                </a:solidFill>
                <a:latin typeface="Consolas" pitchFamily="34" charset="0"/>
                <a:ea typeface="Consolas" pitchFamily="34" charset="-122"/>
                <a:cs typeface="Consolas" pitchFamily="34" charset="-120"/>
              </a:rPr>
              <a:t> =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for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num</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enumerate</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comp</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target</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num</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comp</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seen</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seen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comp</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seen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num</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9CA3AF"/>
                </a:solidFill>
                <a:latin typeface="Consolas" pitchFamily="34" charset="0"/>
                <a:ea typeface="Consolas" pitchFamily="34" charset="-122"/>
                <a:cs typeface="Consolas" pitchFamily="34" charset="-120"/>
              </a:rPr>
              <a:t># Custom chaining hash table:</a:t>
            </a:r>
            <a:endParaRPr lang="en-US" sz="850" dirty="0"/>
          </a:p>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class</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HashTable</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def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__init__</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self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size</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16</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self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size</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size</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self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table</a:t>
            </a:r>
            <a:pPr algn="l" indent="0" marL="0">
              <a:buNone/>
            </a:pPr>
            <a:r>
              <a:rPr lang="en-US" sz="850" dirty="0">
                <a:solidFill>
                  <a:srgbClr val="E5E7EB"/>
                </a:solidFill>
                <a:latin typeface="Consolas" pitchFamily="34" charset="0"/>
                <a:ea typeface="Consolas" pitchFamily="34" charset="-122"/>
                <a:cs typeface="Consolas" pitchFamily="34" charset="-120"/>
              </a:rPr>
              <a:t> = [[] </a:t>
            </a:r>
            <a:pPr algn="l" indent="0" marL="0">
              <a:buNone/>
            </a:pPr>
            <a:r>
              <a:rPr lang="en-US" sz="850" b="1" dirty="0">
                <a:solidFill>
                  <a:srgbClr val="60A5FA"/>
                </a:solidFill>
                <a:latin typeface="Consolas" pitchFamily="34" charset="0"/>
                <a:ea typeface="Consolas" pitchFamily="34" charset="-122"/>
                <a:cs typeface="Consolas" pitchFamily="34" charset="-120"/>
              </a:rPr>
              <a:t>for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_</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range</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size</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def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put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self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k</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idx</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hash</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k</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self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size</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for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ek</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_</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enumerate</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self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table</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idx</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ek</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k</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self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table</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idx</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k</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self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table</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idx</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append</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k</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def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get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self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k</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idx</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hash</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k</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self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size</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for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ek</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ev</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self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table</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idx</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ek</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k</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ev</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None</a:t>
            </a:r>
            <a:pPr algn="l" indent="0" marL="0">
              <a:buNone/>
            </a:pP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Learning Outcomes</a:t>
            </a:r>
            <a:endParaRPr lang="en-US" sz="2800" dirty="0"/>
          </a:p>
        </p:txBody>
      </p:sp>
      <p:sp>
        <p:nvSpPr>
          <p:cNvPr id="4" name="Shape 1"/>
          <p:cNvSpPr/>
          <p:nvPr/>
        </p:nvSpPr>
        <p:spPr>
          <a:xfrm>
            <a:off x="365760" y="1005840"/>
            <a:ext cx="4160520" cy="1600200"/>
          </a:xfrm>
          <a:prstGeom prst="rect">
            <a:avLst/>
          </a:prstGeom>
          <a:solidFill>
            <a:srgbClr val="FFFFFF"/>
          </a:solidFill>
          <a:ln w="15875">
            <a:solidFill>
              <a:srgbClr val="B22234"/>
            </a:solidFill>
            <a:prstDash val="solid"/>
          </a:ln>
        </p:spPr>
      </p:sp>
      <p:sp>
        <p:nvSpPr>
          <p:cNvPr id="5" name="Shape 2"/>
          <p:cNvSpPr/>
          <p:nvPr/>
        </p:nvSpPr>
        <p:spPr>
          <a:xfrm>
            <a:off x="365760" y="1005840"/>
            <a:ext cx="164592" cy="1600200"/>
          </a:xfrm>
          <a:prstGeom prst="rect">
            <a:avLst/>
          </a:prstGeom>
          <a:solidFill>
            <a:srgbClr val="B22234"/>
          </a:solidFill>
          <a:ln w="12700">
            <a:solidFill>
              <a:srgbClr val="B22234"/>
            </a:solidFill>
            <a:prstDash val="solid"/>
          </a:ln>
        </p:spPr>
      </p:sp>
      <p:sp>
        <p:nvSpPr>
          <p:cNvPr id="6" name="Text 3"/>
          <p:cNvSpPr/>
          <p:nvPr/>
        </p:nvSpPr>
        <p:spPr>
          <a:xfrm>
            <a:off x="640080" y="1143000"/>
            <a:ext cx="868680" cy="1325880"/>
          </a:xfrm>
          <a:prstGeom prst="rect">
            <a:avLst/>
          </a:prstGeom>
          <a:noFill/>
          <a:ln/>
        </p:spPr>
        <p:txBody>
          <a:bodyPr wrap="square" lIns="0" tIns="0" rIns="0" bIns="0" rtlCol="0" anchor="ctr"/>
          <a:lstStyle/>
          <a:p>
            <a:pPr algn="l" indent="0" marL="0">
              <a:buNone/>
            </a:pPr>
            <a:r>
              <a:rPr lang="en-US" sz="3200" b="1" dirty="0">
                <a:solidFill>
                  <a:srgbClr val="B22234"/>
                </a:solidFill>
                <a:latin typeface="Georgia" pitchFamily="34" charset="0"/>
                <a:ea typeface="Georgia" pitchFamily="34" charset="-122"/>
                <a:cs typeface="Georgia" pitchFamily="34" charset="-120"/>
              </a:rPr>
              <a:t>01</a:t>
            </a:r>
            <a:endParaRPr lang="en-US" sz="3200" dirty="0"/>
          </a:p>
        </p:txBody>
      </p:sp>
      <p:sp>
        <p:nvSpPr>
          <p:cNvPr id="7" name="Text 4"/>
          <p:cNvSpPr/>
          <p:nvPr/>
        </p:nvSpPr>
        <p:spPr>
          <a:xfrm>
            <a:off x="1554480" y="1188720"/>
            <a:ext cx="2880360" cy="1234440"/>
          </a:xfrm>
          <a:prstGeom prst="rect">
            <a:avLst/>
          </a:prstGeom>
          <a:noFill/>
          <a:ln/>
        </p:spPr>
        <p:txBody>
          <a:bodyPr wrap="square" rtlCol="0" anchor="ctr"/>
          <a:lstStyle/>
          <a:p>
            <a:pPr algn="l" indent="0" marL="0">
              <a:buNone/>
            </a:pPr>
            <a:r>
              <a:rPr lang="en-US" sz="1200" dirty="0">
                <a:solidFill>
                  <a:srgbClr val="333333"/>
                </a:solidFill>
                <a:latin typeface="Arial" pitchFamily="34" charset="0"/>
                <a:ea typeface="Arial" pitchFamily="34" charset="-122"/>
                <a:cs typeface="Arial" pitchFamily="34" charset="-120"/>
              </a:rPr>
              <a:t>CO1: Design a hash function and articulate uniform-distribution requirements.</a:t>
            </a:r>
            <a:endParaRPr lang="en-US" sz="1200" dirty="0"/>
          </a:p>
        </p:txBody>
      </p:sp>
      <p:sp>
        <p:nvSpPr>
          <p:cNvPr id="8" name="Shape 5"/>
          <p:cNvSpPr/>
          <p:nvPr/>
        </p:nvSpPr>
        <p:spPr>
          <a:xfrm>
            <a:off x="4709160" y="1005840"/>
            <a:ext cx="4160520" cy="1600200"/>
          </a:xfrm>
          <a:prstGeom prst="rect">
            <a:avLst/>
          </a:prstGeom>
          <a:solidFill>
            <a:srgbClr val="FFFFFF"/>
          </a:solidFill>
          <a:ln w="15875">
            <a:solidFill>
              <a:srgbClr val="1F3864"/>
            </a:solidFill>
            <a:prstDash val="solid"/>
          </a:ln>
        </p:spPr>
      </p:sp>
      <p:sp>
        <p:nvSpPr>
          <p:cNvPr id="9" name="Shape 6"/>
          <p:cNvSpPr/>
          <p:nvPr/>
        </p:nvSpPr>
        <p:spPr>
          <a:xfrm>
            <a:off x="4709160" y="1005840"/>
            <a:ext cx="164592" cy="1600200"/>
          </a:xfrm>
          <a:prstGeom prst="rect">
            <a:avLst/>
          </a:prstGeom>
          <a:solidFill>
            <a:srgbClr val="1F3864"/>
          </a:solidFill>
          <a:ln w="12700">
            <a:solidFill>
              <a:srgbClr val="1F3864"/>
            </a:solidFill>
            <a:prstDash val="solid"/>
          </a:ln>
        </p:spPr>
      </p:sp>
      <p:sp>
        <p:nvSpPr>
          <p:cNvPr id="10" name="Text 7"/>
          <p:cNvSpPr/>
          <p:nvPr/>
        </p:nvSpPr>
        <p:spPr>
          <a:xfrm>
            <a:off x="4983480" y="1143000"/>
            <a:ext cx="868680" cy="1325880"/>
          </a:xfrm>
          <a:prstGeom prst="rect">
            <a:avLst/>
          </a:prstGeom>
          <a:noFill/>
          <a:ln/>
        </p:spPr>
        <p:txBody>
          <a:bodyPr wrap="square" lIns="0" tIns="0" rIns="0" bIns="0" rtlCol="0" anchor="ctr"/>
          <a:lstStyle/>
          <a:p>
            <a:pPr algn="l" indent="0" marL="0">
              <a:buNone/>
            </a:pPr>
            <a:r>
              <a:rPr lang="en-US" sz="3200" b="1" dirty="0">
                <a:solidFill>
                  <a:srgbClr val="1F3864"/>
                </a:solidFill>
                <a:latin typeface="Georgia" pitchFamily="34" charset="0"/>
                <a:ea typeface="Georgia" pitchFamily="34" charset="-122"/>
                <a:cs typeface="Georgia" pitchFamily="34" charset="-120"/>
              </a:rPr>
              <a:t>02</a:t>
            </a:r>
            <a:endParaRPr lang="en-US" sz="3200" dirty="0"/>
          </a:p>
        </p:txBody>
      </p:sp>
      <p:sp>
        <p:nvSpPr>
          <p:cNvPr id="11" name="Text 8"/>
          <p:cNvSpPr/>
          <p:nvPr/>
        </p:nvSpPr>
        <p:spPr>
          <a:xfrm>
            <a:off x="5897880" y="1188720"/>
            <a:ext cx="2880360" cy="1234440"/>
          </a:xfrm>
          <a:prstGeom prst="rect">
            <a:avLst/>
          </a:prstGeom>
          <a:noFill/>
          <a:ln/>
        </p:spPr>
        <p:txBody>
          <a:bodyPr wrap="square" rtlCol="0" anchor="ctr"/>
          <a:lstStyle/>
          <a:p>
            <a:pPr algn="l" indent="0" marL="0">
              <a:buNone/>
            </a:pPr>
            <a:r>
              <a:rPr lang="en-US" sz="1200" dirty="0">
                <a:solidFill>
                  <a:srgbClr val="333333"/>
                </a:solidFill>
                <a:latin typeface="Arial" pitchFamily="34" charset="0"/>
                <a:ea typeface="Arial" pitchFamily="34" charset="-122"/>
                <a:cs typeface="Arial" pitchFamily="34" charset="-120"/>
              </a:rPr>
              <a:t>CO2: Implement separate chaining and linear probing for collision resolution.</a:t>
            </a:r>
            <a:endParaRPr lang="en-US" sz="1200" dirty="0"/>
          </a:p>
        </p:txBody>
      </p:sp>
      <p:sp>
        <p:nvSpPr>
          <p:cNvPr id="12" name="Shape 9"/>
          <p:cNvSpPr/>
          <p:nvPr/>
        </p:nvSpPr>
        <p:spPr>
          <a:xfrm>
            <a:off x="365760" y="2788920"/>
            <a:ext cx="4160520" cy="1600200"/>
          </a:xfrm>
          <a:prstGeom prst="rect">
            <a:avLst/>
          </a:prstGeom>
          <a:solidFill>
            <a:srgbClr val="FFFFFF"/>
          </a:solidFill>
          <a:ln w="15875">
            <a:solidFill>
              <a:srgbClr val="2C5F2D"/>
            </a:solidFill>
            <a:prstDash val="solid"/>
          </a:ln>
        </p:spPr>
      </p:sp>
      <p:sp>
        <p:nvSpPr>
          <p:cNvPr id="13" name="Shape 10"/>
          <p:cNvSpPr/>
          <p:nvPr/>
        </p:nvSpPr>
        <p:spPr>
          <a:xfrm>
            <a:off x="365760" y="2788920"/>
            <a:ext cx="164592" cy="1600200"/>
          </a:xfrm>
          <a:prstGeom prst="rect">
            <a:avLst/>
          </a:prstGeom>
          <a:solidFill>
            <a:srgbClr val="2C5F2D"/>
          </a:solidFill>
          <a:ln w="12700">
            <a:solidFill>
              <a:srgbClr val="2C5F2D"/>
            </a:solidFill>
            <a:prstDash val="solid"/>
          </a:ln>
        </p:spPr>
      </p:sp>
      <p:sp>
        <p:nvSpPr>
          <p:cNvPr id="14" name="Text 11"/>
          <p:cNvSpPr/>
          <p:nvPr/>
        </p:nvSpPr>
        <p:spPr>
          <a:xfrm>
            <a:off x="640080" y="2926080"/>
            <a:ext cx="868680" cy="1325880"/>
          </a:xfrm>
          <a:prstGeom prst="rect">
            <a:avLst/>
          </a:prstGeom>
          <a:noFill/>
          <a:ln/>
        </p:spPr>
        <p:txBody>
          <a:bodyPr wrap="square" lIns="0" tIns="0" rIns="0" bIns="0" rtlCol="0" anchor="ctr"/>
          <a:lstStyle/>
          <a:p>
            <a:pPr algn="l" indent="0" marL="0">
              <a:buNone/>
            </a:pPr>
            <a:r>
              <a:rPr lang="en-US" sz="3200" b="1" dirty="0">
                <a:solidFill>
                  <a:srgbClr val="2C5F2D"/>
                </a:solidFill>
                <a:latin typeface="Georgia" pitchFamily="34" charset="0"/>
                <a:ea typeface="Georgia" pitchFamily="34" charset="-122"/>
                <a:cs typeface="Georgia" pitchFamily="34" charset="-120"/>
              </a:rPr>
              <a:t>03</a:t>
            </a:r>
            <a:endParaRPr lang="en-US" sz="3200" dirty="0"/>
          </a:p>
        </p:txBody>
      </p:sp>
      <p:sp>
        <p:nvSpPr>
          <p:cNvPr id="15" name="Text 12"/>
          <p:cNvSpPr/>
          <p:nvPr/>
        </p:nvSpPr>
        <p:spPr>
          <a:xfrm>
            <a:off x="1554480" y="2971800"/>
            <a:ext cx="2880360" cy="1234440"/>
          </a:xfrm>
          <a:prstGeom prst="rect">
            <a:avLst/>
          </a:prstGeom>
          <a:noFill/>
          <a:ln/>
        </p:spPr>
        <p:txBody>
          <a:bodyPr wrap="square" rtlCol="0" anchor="ctr"/>
          <a:lstStyle/>
          <a:p>
            <a:pPr algn="l" indent="0" marL="0">
              <a:buNone/>
            </a:pPr>
            <a:r>
              <a:rPr lang="en-US" sz="1200" dirty="0">
                <a:solidFill>
                  <a:srgbClr val="333333"/>
                </a:solidFill>
                <a:latin typeface="Arial" pitchFamily="34" charset="0"/>
                <a:ea typeface="Arial" pitchFamily="34" charset="-122"/>
                <a:cs typeface="Arial" pitchFamily="34" charset="-120"/>
              </a:rPr>
              <a:t>CO3: Analyze the impact of load factor on hash-table performance.</a:t>
            </a:r>
            <a:endParaRPr lang="en-US" sz="1200" dirty="0"/>
          </a:p>
        </p:txBody>
      </p:sp>
      <p:sp>
        <p:nvSpPr>
          <p:cNvPr id="16" name="Shape 13"/>
          <p:cNvSpPr/>
          <p:nvPr/>
        </p:nvSpPr>
        <p:spPr>
          <a:xfrm>
            <a:off x="4709160" y="2788920"/>
            <a:ext cx="4160520" cy="1600200"/>
          </a:xfrm>
          <a:prstGeom prst="rect">
            <a:avLst/>
          </a:prstGeom>
          <a:solidFill>
            <a:srgbClr val="FFFFFF"/>
          </a:solidFill>
          <a:ln w="15875">
            <a:solidFill>
              <a:srgbClr val="6B2D8C"/>
            </a:solidFill>
            <a:prstDash val="solid"/>
          </a:ln>
        </p:spPr>
      </p:sp>
      <p:sp>
        <p:nvSpPr>
          <p:cNvPr id="17" name="Shape 14"/>
          <p:cNvSpPr/>
          <p:nvPr/>
        </p:nvSpPr>
        <p:spPr>
          <a:xfrm>
            <a:off x="4709160" y="2788920"/>
            <a:ext cx="164592" cy="1600200"/>
          </a:xfrm>
          <a:prstGeom prst="rect">
            <a:avLst/>
          </a:prstGeom>
          <a:solidFill>
            <a:srgbClr val="6B2D8C"/>
          </a:solidFill>
          <a:ln w="12700">
            <a:solidFill>
              <a:srgbClr val="6B2D8C"/>
            </a:solidFill>
            <a:prstDash val="solid"/>
          </a:ln>
        </p:spPr>
      </p:sp>
      <p:sp>
        <p:nvSpPr>
          <p:cNvPr id="18" name="Text 15"/>
          <p:cNvSpPr/>
          <p:nvPr/>
        </p:nvSpPr>
        <p:spPr>
          <a:xfrm>
            <a:off x="4983480" y="2926080"/>
            <a:ext cx="868680" cy="1325880"/>
          </a:xfrm>
          <a:prstGeom prst="rect">
            <a:avLst/>
          </a:prstGeom>
          <a:noFill/>
          <a:ln/>
        </p:spPr>
        <p:txBody>
          <a:bodyPr wrap="square" lIns="0" tIns="0" rIns="0" bIns="0" rtlCol="0" anchor="ctr"/>
          <a:lstStyle/>
          <a:p>
            <a:pPr algn="l" indent="0" marL="0">
              <a:buNone/>
            </a:pPr>
            <a:r>
              <a:rPr lang="en-US" sz="3200" b="1" dirty="0">
                <a:solidFill>
                  <a:srgbClr val="6B2D8C"/>
                </a:solidFill>
                <a:latin typeface="Georgia" pitchFamily="34" charset="0"/>
                <a:ea typeface="Georgia" pitchFamily="34" charset="-122"/>
                <a:cs typeface="Georgia" pitchFamily="34" charset="-120"/>
              </a:rPr>
              <a:t>04</a:t>
            </a:r>
            <a:endParaRPr lang="en-US" sz="3200" dirty="0"/>
          </a:p>
        </p:txBody>
      </p:sp>
      <p:sp>
        <p:nvSpPr>
          <p:cNvPr id="19" name="Text 16"/>
          <p:cNvSpPr/>
          <p:nvPr/>
        </p:nvSpPr>
        <p:spPr>
          <a:xfrm>
            <a:off x="5897880" y="2971800"/>
            <a:ext cx="2880360" cy="1234440"/>
          </a:xfrm>
          <a:prstGeom prst="rect">
            <a:avLst/>
          </a:prstGeom>
          <a:noFill/>
          <a:ln/>
        </p:spPr>
        <p:txBody>
          <a:bodyPr wrap="square" rtlCol="0" anchor="ctr"/>
          <a:lstStyle/>
          <a:p>
            <a:pPr algn="l" indent="0" marL="0">
              <a:buNone/>
            </a:pPr>
            <a:r>
              <a:rPr lang="en-US" sz="1200" dirty="0">
                <a:solidFill>
                  <a:srgbClr val="333333"/>
                </a:solidFill>
                <a:latin typeface="Arial" pitchFamily="34" charset="0"/>
                <a:ea typeface="Arial" pitchFamily="34" charset="-122"/>
                <a:cs typeface="Arial" pitchFamily="34" charset="-120"/>
              </a:rPr>
              <a:t>CO4: Apply hash maps to solve practical problems with O(1) average-time lookups.</a:t>
            </a:r>
            <a:endParaRPr lang="en-US" sz="1200" dirty="0"/>
          </a:p>
        </p:txBody>
      </p:sp>
      <p:sp>
        <p:nvSpPr>
          <p:cNvPr id="20" name="Shape 17"/>
          <p:cNvSpPr/>
          <p:nvPr/>
        </p:nvSpPr>
        <p:spPr>
          <a:xfrm>
            <a:off x="2194560" y="4709160"/>
            <a:ext cx="4754880" cy="365760"/>
          </a:xfrm>
          <a:prstGeom prst="rect">
            <a:avLst/>
          </a:prstGeom>
          <a:solidFill>
            <a:srgbClr val="B22234"/>
          </a:solidFill>
          <a:ln w="12700">
            <a:solidFill>
              <a:srgbClr val="B22234"/>
            </a:solidFill>
            <a:prstDash val="solid"/>
          </a:ln>
        </p:spPr>
      </p:sp>
      <p:sp>
        <p:nvSpPr>
          <p:cNvPr id="21" name="Text 18"/>
          <p:cNvSpPr/>
          <p:nvPr/>
        </p:nvSpPr>
        <p:spPr>
          <a:xfrm>
            <a:off x="2194560" y="4709160"/>
            <a:ext cx="47548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CO Mapping: CO2 — Hashing &amp; Collision Handling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 07 — Implementation of Hash Table and Collision Resolution Techniques</dc:title>
  <dc:subject>PptxGenJS Presentation</dc:subject>
  <dc:creator>Chandigarh University — DSA Lab</dc:creator>
  <cp:lastModifiedBy>Chandigarh University — DSA Lab</cp:lastModifiedBy>
  <cp:revision>1</cp:revision>
  <dcterms:created xsi:type="dcterms:W3CDTF">2026-05-13T03:22:05Z</dcterms:created>
  <dcterms:modified xsi:type="dcterms:W3CDTF">2026-05-13T03:22:05Z</dcterms:modified>
</cp:coreProperties>
</file>
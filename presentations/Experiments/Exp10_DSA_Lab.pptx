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gear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-182880" y="1097280"/>
            <a:ext cx="3291840" cy="3291840"/>
          </a:xfrm>
          <a:prstGeom prst="rect">
            <a:avLst/>
          </a:prstGeom>
        </p:spPr>
      </p:pic>
      <p:pic>
        <p:nvPicPr>
          <p:cNvPr id="3" name="Image 1" descr="cu_bann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4592"/>
            <a:ext cx="731520" cy="9601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0" y="1645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Session 2026-27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486400" y="4389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 Semester July-Dec 2026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1371600" y="9144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INSTITUTE OF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1371600" y="1417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TT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1371600" y="2011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DATA STRUCTURE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371600" y="2331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1000" b="1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Sem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371600" y="2606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(25CSH-242)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48640" y="32918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Abhishek Thakur (E19789)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Sourav Jaiswal (E19756) – MSC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Trainer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754880" y="329184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CUmail-ID :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Sourav.e19756@cumail.in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abhishek.e19789@cumail.in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 flipH="1">
            <a:off x="7680960" y="4434840"/>
            <a:ext cx="1463040" cy="713232"/>
          </a:xfrm>
          <a:prstGeom prst="rtTriangl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 10 — Overview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51560"/>
          <a:ext cx="8686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7665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Experiment No.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Title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of Topological Sorting for Directed Graphs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Objective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 topological sorting using both DFS-based approach and Kahn's Algorithm (BFS-based).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 Mapping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CO4 — Apply graph algorithms to scheduling problems.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Key Concepts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DAG Structure  |  In-Degree  |  Kahn's Algorithm (BFS)  |  DFS + Stack  |  Cycle Detection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Tools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/ Java / C++  |  IDE (VS Code / Eclipse / g++)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Topological Sort: Two Approaches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20040" y="1371600"/>
            <a:ext cx="4160520" cy="3520440"/>
          </a:xfrm>
          <a:prstGeom prst="rect">
            <a:avLst/>
          </a:prstGeom>
          <a:solidFill>
            <a:srgbClr val="FBEEF0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20040" y="960120"/>
            <a:ext cx="4160520" cy="41148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9601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KAHN'S ALGORITHM  (BFS)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38862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in-degree (incoming edge count) for every vertex.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 a queue with all vertices whose in-degree is zero.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Dequeue a vertex u, append it to the result, decrement in-degree of its neighbours.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neighbour's in-degree becomes zero, enqueue it.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processed vertex count &lt; V at the end, the graph has a cycle → no topological order.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O(V + E). Space: O(V) for the queue and in-degree array.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4160520" cy="3520440"/>
          </a:xfrm>
          <a:prstGeom prst="rect">
            <a:avLst/>
          </a:prstGeom>
          <a:solidFill>
            <a:srgbClr val="EEF2F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960120"/>
            <a:ext cx="416052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9601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DFS-BASED TOPOLOGICAL SORT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00600" y="1508760"/>
            <a:ext cx="38862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DFS on every unvisited vertex.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exploring all descendants, push the vertex onto a finish stack.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DFS completes, pop the stack to obtain a valid topological order.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three-colour scheme (WHITE/GRAY/BLACK) to detect cycles during traversal.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vertex encountered during DFS = back edge = cycle → topological sort impossible.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O(V + E). Space: O(V) for recursion stack and visited array.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141732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74320" y="1005840"/>
            <a:ext cx="2862072" cy="41148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00584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DAG Structure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84048" y="149047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Directed Acyclic Graph. Topological sort is defined only on DAGs — any cycle makes it impossible.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9544" y="141732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9544" y="1005840"/>
            <a:ext cx="2862072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9544" y="100584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In-Degree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319272" y="149047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incoming edges to a vertex. Kahn's algorithm starts with vertices of zero in-degree.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44768" y="141732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44768" y="1005840"/>
            <a:ext cx="2862072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44768" y="100584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Kahn's Algorithm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54496" y="149047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 variant: iteratively remove zero in-degree vertices. Naturally detects cycles when stuck.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342900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3017520"/>
            <a:ext cx="2862072" cy="41148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301752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DFS + Stack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84048" y="350215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each vertex onto a stack after its DFS subtree is fully processed. Pop to read the order.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9544" y="342900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09544" y="3017520"/>
            <a:ext cx="2862072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09544" y="301752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 Detection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319272" y="350215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algorithms detect cycles. Kahn's via vertex count; DFS via GRAY-coloured back edges.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44768" y="342900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44768" y="3017520"/>
            <a:ext cx="2862072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44768" y="301752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254496" y="350215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scheduling, build systems (make, Maven), course prerequisites, compiler dependency resolution.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960120"/>
            <a:ext cx="8595360" cy="868680"/>
          </a:xfrm>
          <a:prstGeom prst="rect">
            <a:avLst/>
          </a:prstGeom>
          <a:solidFill>
            <a:srgbClr val="FBEEF0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00584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B222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algn="l"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Schedule II (LeetCode #210)</a:t>
            </a:r>
            <a:endParaRPr lang="en-US" sz="11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numCourses courses labeled 0 to numCourses−1. Given prerequisites[i] = [a, b] meaning you must take course b before course a, return any valid ordering of courses you should take to finish all of them. Return an empty array if it is impossible.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274320" y="1965960"/>
            <a:ext cx="859536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>
            <a:hlinkClick r:id="rIdundefined" tooltip=""/>
          </p:cNvPr>
          <p:cNvSpPr/>
          <p:nvPr/>
        </p:nvSpPr>
        <p:spPr>
          <a:xfrm>
            <a:off x="411480" y="19659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u="sng" dirty="0">
                <a:solidFill>
                  <a:srgbClr val="000000"/>
                </a:solidFill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</a:t>
            </a:r>
            <a:pPr algn="l" indent="0" marL="0">
              <a:buNone/>
            </a:pPr>
            <a:r>
              <a:rPr lang="en-US" sz="1100" b="1" u="sng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LeetCode Reference:  https://leetcode.com/problems/course-schedule-ii/  (#210)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Cases: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43200"/>
          <a:ext cx="8595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44805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Expected Output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Explanation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numCourses=2, prereqs=[[1,0]]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[0,1]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Take course 0 first, then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numCourses=4, prereqs=[[1,0],[2,0],[3,1],[3,2]]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[0,2,1,3]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valid topological order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numCourses=1, prereqs=[]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[0]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course, no prerequisites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numCourses=2, prereqs=[[1,0],[0,1]]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Cycle detected — impossible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1325880"/>
            <a:ext cx="4297680" cy="361188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74320" y="960120"/>
            <a:ext cx="4297680" cy="36576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960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Step-by-Step Approach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572768"/>
            <a:ext cx="384048" cy="384048"/>
          </a:xfrm>
          <a:prstGeom prst="ellips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1508760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adjacency list: for each prerequisite [a, b], add a to graph[b] and increment indegree[a].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240280"/>
            <a:ext cx="384048" cy="384048"/>
          </a:xfrm>
          <a:prstGeom prst="ellips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0120" y="2176272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Kahn's: initialize a queue with all vertices where indegree == 0.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907792"/>
            <a:ext cx="384048" cy="384048"/>
          </a:xfrm>
          <a:prstGeom prst="ellips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60120" y="2843784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Dequeue u, append to result, decrement indegree of every neighbour; enqueue neighbours hitting zero.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575304"/>
            <a:ext cx="384048" cy="384048"/>
          </a:xfrm>
          <a:prstGeom prst="ellips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60120" y="3511296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len(result) &lt; numCourses, a cycle exists — return [].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4242816"/>
            <a:ext cx="384048" cy="384048"/>
          </a:xfrm>
          <a:prstGeom prst="ellips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60120" y="4178808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DFS alternative: colour vertices WHITE/GRAY/BLACK; push BLACK vertices to result stack; abort on GRAY hit (cycle).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09160" y="960120"/>
            <a:ext cx="416052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09160" y="960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 Analysis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371600"/>
          <a:ext cx="41605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508760"/>
                <a:gridCol w="12344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Approach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Time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Space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Kahn's (BFS)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O(V + E)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O(V + 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DFS-based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O(V + E)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O(V + 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Cycle Detection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O(V + E)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O(V)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4709160" y="2834640"/>
            <a:ext cx="4160520" cy="637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709160" y="2834640"/>
            <a:ext cx="64008" cy="637032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73752" y="2871216"/>
            <a:ext cx="3922776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222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Cycles Make Sort Impossible: 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topological order requires every edge u→v to have u appear before v. A cycle forces a contradiction — no valid order exists.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709160" y="3544824"/>
            <a:ext cx="4160520" cy="637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709160" y="3544824"/>
            <a:ext cx="64008" cy="637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873752" y="3581400"/>
            <a:ext cx="3922776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Kahn's vs DFS: 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Kahn's is easier to reason about and naturally detects cycles. DFS variant is elegant but requires careful colour bookkeeping.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4709160" y="4255008"/>
            <a:ext cx="4160520" cy="637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709160" y="4255008"/>
            <a:ext cx="64008" cy="637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873752" y="4291584"/>
            <a:ext cx="3922776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It's Used: 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tools (make, Maven, Gradle), spreadsheet recomputation, package managers (apt, pip), course catalogs, and CI/CD pipelines.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Pseudocode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960120"/>
            <a:ext cx="416052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74320" y="960120"/>
            <a:ext cx="4160520" cy="36576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960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Kahn's Algorithm  —  O(V + E)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1417320"/>
            <a:ext cx="38862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topologicalSort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prereqs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defaultdict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indegree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*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prereqs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 </a:t>
            </a:r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 before 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indegree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+=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indegree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[]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popleft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indegree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-=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indegree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[]           </a:t>
            </a:r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cycle detected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709160" y="960120"/>
            <a:ext cx="416052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09160" y="960120"/>
            <a:ext cx="416052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9160" y="960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DFS-Based  —  O(V + E)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46320" y="1417320"/>
            <a:ext cx="38862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BLACK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topoDFS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prereqs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build_adj_list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prereqs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*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[]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has_cycle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nonlocal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has_cycle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has_cycle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back edge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BLACK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[]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has_cycle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reversed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Implementation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960120"/>
            <a:ext cx="283464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74320" y="960120"/>
            <a:ext cx="283464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960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1399032"/>
            <a:ext cx="265176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findOrder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&gt;&gt;&amp;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prereqs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prereqs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push_back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]]++;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push_back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(--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!=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{};                  </a:t>
            </a:r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cycle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182112" y="960120"/>
            <a:ext cx="283464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82112" y="960120"/>
            <a:ext cx="2834640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82112" y="960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 (Functional Style)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73552" y="1399032"/>
            <a:ext cx="265176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.*;</a:t>
            </a: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findOrder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[][]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prereqs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&lt;&gt;();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&lt;&gt;());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prereqs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]]++;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LinkedList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&lt;&gt;();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offer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isEmpty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++]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(--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offer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?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[]{};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089904" y="960120"/>
            <a:ext cx="283464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89904" y="960120"/>
            <a:ext cx="2834640" cy="36576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9904" y="960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81344" y="1399032"/>
            <a:ext cx="265176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defaultdict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findOrder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numCourses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prerequisites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defaultdict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*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numCourses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prerequisites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+=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numCourses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[]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popleft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-=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\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numCourses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\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[]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Outcomes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416052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B2223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005840"/>
            <a:ext cx="164592" cy="160020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143000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222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554480" y="118872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CO1: Understand the DAG structure and why topological sort is undefined for cyclic graphs.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1005840"/>
            <a:ext cx="416052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09160" y="1005840"/>
            <a:ext cx="164592" cy="1600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83480" y="1143000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897880" y="118872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CO2: Implement Kahn's Algorithm using in-degree tracking and a BFS queue.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2788920"/>
            <a:ext cx="416052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2788920"/>
            <a:ext cx="164592" cy="1600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926080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1554480" y="297180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CO3: Implement DFS-based topological sort using three-colour cycle detection.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09160" y="2788920"/>
            <a:ext cx="416052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6B2D8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2788920"/>
            <a:ext cx="164592" cy="1600200"/>
          </a:xfrm>
          <a:prstGeom prst="rect">
            <a:avLst/>
          </a:prstGeom>
          <a:solidFill>
            <a:srgbClr val="6B2D8C"/>
          </a:solidFill>
          <a:ln w="12700">
            <a:solidFill>
              <a:srgbClr val="6B2D8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83480" y="2926080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2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5897880" y="297180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CO4: Apply topological sort to course scheduling and dependency-resolution problems.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194560" y="4709160"/>
            <a:ext cx="4754880" cy="36576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194560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 Mapping: CO4 — DAG / Scheduling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 10 — Implementation of Topological Sorting for Directed Graphs</dc:title>
  <dc:subject>PptxGenJS Presentation</dc:subject>
  <dc:creator>Chandigarh University — DSA Lab</dc:creator>
  <cp:lastModifiedBy>Chandigarh University — DSA Lab</cp:lastModifiedBy>
  <cp:revision>1</cp:revision>
  <dcterms:created xsi:type="dcterms:W3CDTF">2026-05-13T03:22:05Z</dcterms:created>
  <dcterms:modified xsi:type="dcterms:W3CDTF">2026-05-13T03:22:05Z</dcterms:modified>
</cp:coreProperties>
</file>
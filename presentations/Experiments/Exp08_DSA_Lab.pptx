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_gear.png">    </p:cNvPr>
          <p:cNvPicPr>
            <a:picLocks noChangeAspect="1"/>
          </p:cNvPicPr>
          <p:nvPr/>
        </p:nvPicPr>
        <p:blipFill>
          <a:blip r:embed="rId1">
            <a:alphaModFix amt="15000"/>
          </a:blip>
          <a:stretch>
            <a:fillRect/>
          </a:stretch>
        </p:blipFill>
        <p:spPr>
          <a:xfrm>
            <a:off x="-182880" y="1097280"/>
            <a:ext cx="3291840" cy="3291840"/>
          </a:xfrm>
          <a:prstGeom prst="rect">
            <a:avLst/>
          </a:prstGeom>
        </p:spPr>
      </p:pic>
      <p:pic>
        <p:nvPicPr>
          <p:cNvPr id="3" name="Image 1" descr="cu_banner.jpg">    </p:cNvPr>
          <p:cNvPicPr>
            <a:picLocks noChangeAspect="1"/>
          </p:cNvPicPr>
          <p:nvPr/>
        </p:nvPicPr>
        <p:blipFill>
          <a:blip r:embed="rId2"/>
          <a:stretch>
            <a:fillRect/>
          </a:stretch>
        </p:blipFill>
        <p:spPr>
          <a:xfrm>
            <a:off x="182880" y="164592"/>
            <a:ext cx="731520" cy="960120"/>
          </a:xfrm>
          <a:prstGeom prst="rect">
            <a:avLst/>
          </a:prstGeom>
        </p:spPr>
      </p:pic>
      <p:sp>
        <p:nvSpPr>
          <p:cNvPr id="4" name="Text 0"/>
          <p:cNvSpPr/>
          <p:nvPr/>
        </p:nvSpPr>
        <p:spPr>
          <a:xfrm>
            <a:off x="5486400" y="164592"/>
            <a:ext cx="3520440" cy="274320"/>
          </a:xfrm>
          <a:prstGeom prst="rect">
            <a:avLst/>
          </a:prstGeom>
          <a:noFill/>
          <a:ln/>
        </p:spPr>
        <p:txBody>
          <a:bodyPr wrap="square" lIns="0" tIns="0" rIns="0" bIns="0" rtlCol="0" anchor="ctr"/>
          <a:lstStyle/>
          <a:p>
            <a:pPr algn="r" indent="0" marL="0">
              <a:buNone/>
            </a:pPr>
            <a:r>
              <a:rPr lang="en-US" sz="1300" b="1" dirty="0">
                <a:solidFill>
                  <a:srgbClr val="1A1A1A"/>
                </a:solidFill>
                <a:latin typeface="Arial" pitchFamily="34" charset="0"/>
                <a:ea typeface="Arial" pitchFamily="34" charset="-122"/>
                <a:cs typeface="Arial" pitchFamily="34" charset="-120"/>
              </a:rPr>
              <a:t>Academic Session 2026-27</a:t>
            </a:r>
            <a:endParaRPr lang="en-US" sz="1300" dirty="0"/>
          </a:p>
        </p:txBody>
      </p:sp>
      <p:sp>
        <p:nvSpPr>
          <p:cNvPr id="5" name="Text 1"/>
          <p:cNvSpPr/>
          <p:nvPr/>
        </p:nvSpPr>
        <p:spPr>
          <a:xfrm>
            <a:off x="5486400" y="438912"/>
            <a:ext cx="3520440" cy="274320"/>
          </a:xfrm>
          <a:prstGeom prst="rect">
            <a:avLst/>
          </a:prstGeom>
          <a:noFill/>
          <a:ln/>
        </p:spPr>
        <p:txBody>
          <a:bodyPr wrap="square" lIns="0" tIns="0" rIns="0" bIns="0" rtlCol="0" anchor="ctr"/>
          <a:lstStyle/>
          <a:p>
            <a:pPr algn="r" indent="0" marL="0">
              <a:buNone/>
            </a:pPr>
            <a:r>
              <a:rPr lang="en-US" sz="1200" b="1" dirty="0">
                <a:solidFill>
                  <a:srgbClr val="1A1A1A"/>
                </a:solidFill>
                <a:latin typeface="Arial" pitchFamily="34" charset="0"/>
                <a:ea typeface="Arial" pitchFamily="34" charset="-122"/>
                <a:cs typeface="Arial" pitchFamily="34" charset="-120"/>
              </a:rPr>
              <a:t>ODD Semester July-Dec 2026</a:t>
            </a:r>
            <a:endParaRPr lang="en-US" sz="1200" dirty="0"/>
          </a:p>
        </p:txBody>
      </p:sp>
      <p:sp>
        <p:nvSpPr>
          <p:cNvPr id="6" name="Text 2"/>
          <p:cNvSpPr/>
          <p:nvPr/>
        </p:nvSpPr>
        <p:spPr>
          <a:xfrm>
            <a:off x="1371600" y="914400"/>
            <a:ext cx="6858000" cy="502920"/>
          </a:xfrm>
          <a:prstGeom prst="rect">
            <a:avLst/>
          </a:prstGeom>
          <a:noFill/>
          <a:ln/>
        </p:spPr>
        <p:txBody>
          <a:bodyPr wrap="square" lIns="0" tIns="0" rIns="0" bIns="0" rtlCol="0" anchor="ctr"/>
          <a:lstStyle/>
          <a:p>
            <a:pPr algn="ctr" indent="0" marL="0">
              <a:buNone/>
            </a:pPr>
            <a:r>
              <a:rPr lang="en-US" sz="2800" b="1" dirty="0">
                <a:solidFill>
                  <a:srgbClr val="1A1A1A"/>
                </a:solidFill>
                <a:latin typeface="Arial" pitchFamily="34" charset="0"/>
                <a:ea typeface="Arial" pitchFamily="34" charset="-122"/>
                <a:cs typeface="Arial" pitchFamily="34" charset="-120"/>
              </a:rPr>
              <a:t>UNIVERSITY INSTITUTE OF</a:t>
            </a:r>
            <a:endParaRPr lang="en-US" sz="2800" dirty="0"/>
          </a:p>
        </p:txBody>
      </p:sp>
      <p:sp>
        <p:nvSpPr>
          <p:cNvPr id="7" name="Text 3"/>
          <p:cNvSpPr/>
          <p:nvPr/>
        </p:nvSpPr>
        <p:spPr>
          <a:xfrm>
            <a:off x="1371600" y="1417320"/>
            <a:ext cx="6858000" cy="502920"/>
          </a:xfrm>
          <a:prstGeom prst="rect">
            <a:avLst/>
          </a:prstGeom>
          <a:noFill/>
          <a:ln/>
        </p:spPr>
        <p:txBody>
          <a:bodyPr wrap="square" lIns="0" tIns="0" rIns="0" bIns="0" rtlCol="0" anchor="ctr"/>
          <a:lstStyle/>
          <a:p>
            <a:pPr algn="ctr" indent="0" marL="0">
              <a:buNone/>
            </a:pPr>
            <a:r>
              <a:rPr lang="en-US" sz="2800" b="1" dirty="0">
                <a:solidFill>
                  <a:srgbClr val="1A1A1A"/>
                </a:solidFill>
                <a:latin typeface="Arial" pitchFamily="34" charset="0"/>
                <a:ea typeface="Arial" pitchFamily="34" charset="-122"/>
                <a:cs typeface="Arial" pitchFamily="34" charset="-120"/>
              </a:rPr>
              <a:t>DEPARTMENT OF TT</a:t>
            </a:r>
            <a:endParaRPr lang="en-US" sz="2800" dirty="0"/>
          </a:p>
        </p:txBody>
      </p:sp>
      <p:sp>
        <p:nvSpPr>
          <p:cNvPr id="8" name="Text 4"/>
          <p:cNvSpPr/>
          <p:nvPr/>
        </p:nvSpPr>
        <p:spPr>
          <a:xfrm>
            <a:off x="1371600" y="2011680"/>
            <a:ext cx="6858000" cy="320040"/>
          </a:xfrm>
          <a:prstGeom prst="rect">
            <a:avLst/>
          </a:prstGeom>
          <a:noFill/>
          <a:ln/>
        </p:spPr>
        <p:txBody>
          <a:bodyPr wrap="square" lIns="0" tIns="0" rIns="0" bIns="0" rtlCol="0" anchor="ctr"/>
          <a:lstStyle/>
          <a:p>
            <a:pPr algn="ctr" indent="0" marL="0">
              <a:buNone/>
            </a:pPr>
            <a:r>
              <a:rPr lang="en-US" sz="1600" dirty="0">
                <a:solidFill>
                  <a:srgbClr val="1A1A1A"/>
                </a:solidFill>
                <a:latin typeface="Arial" pitchFamily="34" charset="0"/>
                <a:ea typeface="Arial" pitchFamily="34" charset="-122"/>
                <a:cs typeface="Arial" pitchFamily="34" charset="-120"/>
              </a:rPr>
              <a:t>ADVANCED DATA STRUCTURE</a:t>
            </a:r>
            <a:endParaRPr lang="en-US" sz="1600" dirty="0"/>
          </a:p>
        </p:txBody>
      </p:sp>
      <p:sp>
        <p:nvSpPr>
          <p:cNvPr id="9" name="Text 5"/>
          <p:cNvSpPr/>
          <p:nvPr/>
        </p:nvSpPr>
        <p:spPr>
          <a:xfrm>
            <a:off x="1371600" y="2331720"/>
            <a:ext cx="6858000" cy="274320"/>
          </a:xfrm>
          <a:prstGeom prst="rect">
            <a:avLst/>
          </a:prstGeom>
          <a:noFill/>
          <a:ln/>
        </p:spPr>
        <p:txBody>
          <a:bodyPr wrap="square" lIns="0" tIns="0" rIns="0" bIns="0" rtlCol="0" anchor="ctr"/>
          <a:lstStyle/>
          <a:p>
            <a:pPr algn="ctr" indent="0" marL="0">
              <a:buNone/>
            </a:pPr>
            <a:r>
              <a:rPr lang="en-US" sz="1500" b="1" dirty="0">
                <a:solidFill>
                  <a:srgbClr val="1A1A1A"/>
                </a:solidFill>
                <a:latin typeface="Arial" pitchFamily="34" charset="0"/>
                <a:ea typeface="Arial" pitchFamily="34" charset="-122"/>
                <a:cs typeface="Arial" pitchFamily="34" charset="-120"/>
              </a:rPr>
              <a:t>3</a:t>
            </a:r>
            <a:pPr algn="ctr" indent="0" marL="0">
              <a:buNone/>
            </a:pPr>
            <a:r>
              <a:rPr lang="en-US" sz="1000" b="1" baseline="30000" dirty="0">
                <a:solidFill>
                  <a:srgbClr val="1A1A1A"/>
                </a:solidFill>
                <a:latin typeface="Arial" pitchFamily="34" charset="0"/>
                <a:ea typeface="Arial" pitchFamily="34" charset="-122"/>
                <a:cs typeface="Arial" pitchFamily="34" charset="-120"/>
              </a:rPr>
              <a:t>rd</a:t>
            </a:r>
            <a:pPr algn="ctr" indent="0" marL="0">
              <a:buNone/>
            </a:pPr>
            <a:r>
              <a:rPr lang="en-US" sz="1500" b="1" dirty="0">
                <a:solidFill>
                  <a:srgbClr val="1A1A1A"/>
                </a:solidFill>
                <a:latin typeface="Arial" pitchFamily="34" charset="0"/>
                <a:ea typeface="Arial" pitchFamily="34" charset="-122"/>
                <a:cs typeface="Arial" pitchFamily="34" charset="-120"/>
              </a:rPr>
              <a:t> Sem</a:t>
            </a:r>
            <a:endParaRPr lang="en-US" sz="1500" dirty="0"/>
          </a:p>
        </p:txBody>
      </p:sp>
      <p:sp>
        <p:nvSpPr>
          <p:cNvPr id="10" name="Text 6"/>
          <p:cNvSpPr/>
          <p:nvPr/>
        </p:nvSpPr>
        <p:spPr>
          <a:xfrm>
            <a:off x="1371600" y="2606040"/>
            <a:ext cx="6858000" cy="274320"/>
          </a:xfrm>
          <a:prstGeom prst="rect">
            <a:avLst/>
          </a:prstGeom>
          <a:noFill/>
          <a:ln/>
        </p:spPr>
        <p:txBody>
          <a:bodyPr wrap="square" lIns="0" tIns="0" rIns="0" bIns="0" rtlCol="0" anchor="ctr"/>
          <a:lstStyle/>
          <a:p>
            <a:pPr algn="ctr" indent="0" marL="0">
              <a:buNone/>
            </a:pPr>
            <a:r>
              <a:rPr lang="en-US" sz="1500" dirty="0">
                <a:solidFill>
                  <a:srgbClr val="1A1A1A"/>
                </a:solidFill>
                <a:latin typeface="Arial" pitchFamily="34" charset="0"/>
                <a:ea typeface="Arial" pitchFamily="34" charset="-122"/>
                <a:cs typeface="Arial" pitchFamily="34" charset="-120"/>
              </a:rPr>
              <a:t>(25CSH-242)</a:t>
            </a:r>
            <a:endParaRPr lang="en-US" sz="1500" dirty="0"/>
          </a:p>
        </p:txBody>
      </p:sp>
      <p:sp>
        <p:nvSpPr>
          <p:cNvPr id="11" name="Text 7"/>
          <p:cNvSpPr/>
          <p:nvPr/>
        </p:nvSpPr>
        <p:spPr>
          <a:xfrm>
            <a:off x="548640" y="3291840"/>
            <a:ext cx="3840480" cy="1280160"/>
          </a:xfrm>
          <a:prstGeom prst="rect">
            <a:avLst/>
          </a:prstGeom>
          <a:noFill/>
          <a:ln/>
        </p:spPr>
        <p:txBody>
          <a:bodyPr wrap="square" rtlCol="0" anchor="t"/>
          <a:lstStyle/>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Abhishek Thakur (E19789)</a:t>
            </a:r>
            <a:endParaRPr lang="en-US" sz="1300" dirty="0"/>
          </a:p>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Sourav Jaiswal (E19756) – MSC</a:t>
            </a:r>
            <a:endParaRPr lang="en-US" sz="1300" dirty="0"/>
          </a:p>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Technical Trainer</a:t>
            </a:r>
            <a:endParaRPr lang="en-US" sz="1300" dirty="0"/>
          </a:p>
        </p:txBody>
      </p:sp>
      <p:sp>
        <p:nvSpPr>
          <p:cNvPr id="12" name="Text 8"/>
          <p:cNvSpPr/>
          <p:nvPr/>
        </p:nvSpPr>
        <p:spPr>
          <a:xfrm>
            <a:off x="4754880" y="3291840"/>
            <a:ext cx="4023360" cy="1280160"/>
          </a:xfrm>
          <a:prstGeom prst="rect">
            <a:avLst/>
          </a:prstGeom>
          <a:noFill/>
          <a:ln/>
        </p:spPr>
        <p:txBody>
          <a:bodyPr wrap="square" rtlCol="0" anchor="t"/>
          <a:lstStyle/>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CUmail-ID :</a:t>
            </a:r>
            <a:endParaRPr lang="en-US" sz="1300" dirty="0"/>
          </a:p>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Sourav.e19756@cumail.in</a:t>
            </a:r>
            <a:endParaRPr lang="en-US" sz="1300" dirty="0"/>
          </a:p>
          <a:p>
            <a:pPr algn="l" indent="0" marL="0">
              <a:spcAft>
                <a:spcPts val="800"/>
              </a:spcAft>
              <a:buNone/>
            </a:pPr>
            <a:r>
              <a:rPr lang="en-US" sz="1300" b="1" dirty="0">
                <a:solidFill>
                  <a:srgbClr val="1A1A1A"/>
                </a:solidFill>
                <a:latin typeface="Arial" pitchFamily="34" charset="0"/>
                <a:ea typeface="Arial" pitchFamily="34" charset="-122"/>
                <a:cs typeface="Arial" pitchFamily="34" charset="-120"/>
              </a:rPr>
              <a:t>abhishek.e19789@cumail.in</a:t>
            </a:r>
            <a:endParaRPr lang="en-US" sz="1300" dirty="0"/>
          </a:p>
        </p:txBody>
      </p:sp>
      <p:sp>
        <p:nvSpPr>
          <p:cNvPr id="13" name="Shape 9"/>
          <p:cNvSpPr/>
          <p:nvPr/>
        </p:nvSpPr>
        <p:spPr>
          <a:xfrm flipH="1">
            <a:off x="7680960" y="4434840"/>
            <a:ext cx="1463040" cy="713232"/>
          </a:xfrm>
          <a:prstGeom prst="rtTriangle">
            <a:avLst/>
          </a:prstGeom>
          <a:solidFill>
            <a:srgbClr val="B22234"/>
          </a:solidFill>
          <a:ln w="12700">
            <a:solidFill>
              <a:srgbClr val="B22234"/>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Experiment 08 — Overview</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28600" y="1051560"/>
          <a:ext cx="8686800" cy="914400"/>
        </p:xfrm>
        <a:graphic>
          <a:graphicData uri="http://schemas.openxmlformats.org/drawingml/2006/table">
            <a:tbl>
              <a:tblPr/>
              <a:tblGrid>
                <a:gridCol w="1920240"/>
                <a:gridCol w="6766560"/>
              </a:tblGrid>
              <a:tr h="502920">
                <a:tc>
                  <a:txBody>
                    <a:bodyPr/>
                    <a:lstStyle/>
                    <a:p>
                      <a:pPr algn="l" indent="0" marL="0">
                        <a:buNone/>
                      </a:pPr>
                      <a:r>
                        <a:rPr lang="en-US" sz="1400" b="1" dirty="0">
                          <a:solidFill>
                            <a:srgbClr val="FFFFFF"/>
                          </a:solidFill>
                          <a:latin typeface="Georgia" pitchFamily="34" charset="0"/>
                          <a:ea typeface="Georgia" pitchFamily="34" charset="-122"/>
                          <a:cs typeface="Georgia" pitchFamily="34" charset="-120"/>
                        </a:rPr>
                        <a:t>Experiment No.</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08</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r h="502920">
                <a:tc>
                  <a:txBody>
                    <a:bodyPr/>
                    <a:lstStyle/>
                    <a:p>
                      <a:pPr algn="l" indent="0" marL="0">
                        <a:buNone/>
                      </a:pPr>
                      <a:r>
                        <a:rPr lang="en-US" sz="1400" b="1" dirty="0">
                          <a:solidFill>
                            <a:srgbClr val="1A1A1A"/>
                          </a:solidFill>
                          <a:latin typeface="Georgia" pitchFamily="34" charset="0"/>
                          <a:ea typeface="Georgia" pitchFamily="34" charset="-122"/>
                          <a:cs typeface="Georgia" pitchFamily="34" charset="-120"/>
                        </a:rPr>
                        <a:t>Title</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Implementation of Quick Sort Using Divide and Conquer</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02920">
                <a:tc>
                  <a:txBody>
                    <a:bodyPr/>
                    <a:lstStyle/>
                    <a:p>
                      <a:pPr algn="l" indent="0" marL="0">
                        <a:buNone/>
                      </a:pPr>
                      <a:r>
                        <a:rPr lang="en-US" sz="1400" b="1" dirty="0">
                          <a:solidFill>
                            <a:srgbClr val="FFFFFF"/>
                          </a:solidFill>
                          <a:latin typeface="Georgia" pitchFamily="34" charset="0"/>
                          <a:ea typeface="Georgia" pitchFamily="34" charset="-122"/>
                          <a:cs typeface="Georgia" pitchFamily="34" charset="-120"/>
                        </a:rPr>
                        <a:t>Objective</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Implement Quick Sort and analyze its best, average, and worst-case time complexity.</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r h="502920">
                <a:tc>
                  <a:txBody>
                    <a:bodyPr/>
                    <a:lstStyle/>
                    <a:p>
                      <a:pPr algn="l" indent="0" marL="0">
                        <a:buNone/>
                      </a:pPr>
                      <a:r>
                        <a:rPr lang="en-US" sz="1400" b="1" dirty="0">
                          <a:solidFill>
                            <a:srgbClr val="1A1A1A"/>
                          </a:solidFill>
                          <a:latin typeface="Georgia" pitchFamily="34" charset="0"/>
                          <a:ea typeface="Georgia" pitchFamily="34" charset="-122"/>
                          <a:cs typeface="Georgia" pitchFamily="34" charset="-120"/>
                        </a:rPr>
                        <a:t>CO Mapping</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CO3 — Apply divide-and-conquer techniques.</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02920">
                <a:tc>
                  <a:txBody>
                    <a:bodyPr/>
                    <a:lstStyle/>
                    <a:p>
                      <a:pPr algn="l" indent="0" marL="0">
                        <a:buNone/>
                      </a:pPr>
                      <a:r>
                        <a:rPr lang="en-US" sz="1400" b="1" dirty="0">
                          <a:solidFill>
                            <a:srgbClr val="FFFFFF"/>
                          </a:solidFill>
                          <a:latin typeface="Georgia" pitchFamily="34" charset="0"/>
                          <a:ea typeface="Georgia" pitchFamily="34" charset="-122"/>
                          <a:cs typeface="Georgia" pitchFamily="34" charset="-120"/>
                        </a:rPr>
                        <a:t>Key Concepts</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Pivot Selection  |  Partitioning  |  Lomuto / Hoare Scheme  |  Divide &amp; Conquer  |  Randomized QS</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r h="502920">
                <a:tc>
                  <a:txBody>
                    <a:bodyPr/>
                    <a:lstStyle/>
                    <a:p>
                      <a:pPr algn="l" indent="0" marL="0">
                        <a:buNone/>
                      </a:pPr>
                      <a:r>
                        <a:rPr lang="en-US" sz="1400" b="1" dirty="0">
                          <a:solidFill>
                            <a:srgbClr val="1A1A1A"/>
                          </a:solidFill>
                          <a:latin typeface="Georgia" pitchFamily="34" charset="0"/>
                          <a:ea typeface="Georgia" pitchFamily="34" charset="-122"/>
                          <a:cs typeface="Georgia" pitchFamily="34" charset="-120"/>
                        </a:rPr>
                        <a:t>Tools</a:t>
                      </a:r>
                      <a:endParaRPr lang="en-US" sz="14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200" dirty="0">
                          <a:solidFill>
                            <a:srgbClr val="333333"/>
                          </a:solidFill>
                          <a:latin typeface="Arial" pitchFamily="34" charset="0"/>
                          <a:ea typeface="Arial" pitchFamily="34" charset="-122"/>
                          <a:cs typeface="Arial" pitchFamily="34" charset="-120"/>
                        </a:rPr>
                        <a:t>Python / Java / C++  |  IDE (VS Code / Eclipse / g++)</a:t>
                      </a:r>
                      <a:endParaRPr lang="en-US" sz="12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Quick Sort: Divide &amp; Conquer</a:t>
            </a:r>
            <a:endParaRPr lang="en-US" sz="2800" dirty="0"/>
          </a:p>
        </p:txBody>
      </p:sp>
      <p:sp>
        <p:nvSpPr>
          <p:cNvPr id="4" name="Shape 1"/>
          <p:cNvSpPr/>
          <p:nvPr/>
        </p:nvSpPr>
        <p:spPr>
          <a:xfrm>
            <a:off x="320040" y="1371600"/>
            <a:ext cx="4160520" cy="3520440"/>
          </a:xfrm>
          <a:prstGeom prst="rect">
            <a:avLst/>
          </a:prstGeom>
          <a:solidFill>
            <a:srgbClr val="FBEEF0"/>
          </a:solidFill>
          <a:ln w="12700">
            <a:solidFill>
              <a:srgbClr val="B22234"/>
            </a:solidFill>
            <a:prstDash val="solid"/>
          </a:ln>
        </p:spPr>
      </p:sp>
      <p:sp>
        <p:nvSpPr>
          <p:cNvPr id="5" name="Shape 2"/>
          <p:cNvSpPr/>
          <p:nvPr/>
        </p:nvSpPr>
        <p:spPr>
          <a:xfrm>
            <a:off x="320040" y="960120"/>
            <a:ext cx="4160520" cy="411480"/>
          </a:xfrm>
          <a:prstGeom prst="rect">
            <a:avLst/>
          </a:prstGeom>
          <a:solidFill>
            <a:srgbClr val="B22234"/>
          </a:solidFill>
          <a:ln w="12700">
            <a:solidFill>
              <a:srgbClr val="B22234"/>
            </a:solidFill>
            <a:prstDash val="solid"/>
          </a:ln>
        </p:spPr>
      </p:sp>
      <p:sp>
        <p:nvSpPr>
          <p:cNvPr id="6" name="Text 3"/>
          <p:cNvSpPr/>
          <p:nvPr/>
        </p:nvSpPr>
        <p:spPr>
          <a:xfrm>
            <a:off x="320040" y="960120"/>
            <a:ext cx="416052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ALGORITHM IDEA</a:t>
            </a:r>
            <a:endParaRPr lang="en-US" sz="1600" dirty="0"/>
          </a:p>
        </p:txBody>
      </p:sp>
      <p:sp>
        <p:nvSpPr>
          <p:cNvPr id="7" name="Text 4"/>
          <p:cNvSpPr/>
          <p:nvPr/>
        </p:nvSpPr>
        <p:spPr>
          <a:xfrm>
            <a:off x="457200" y="1508760"/>
            <a:ext cx="3886200" cy="3246120"/>
          </a:xfrm>
          <a:prstGeom prst="rect">
            <a:avLst/>
          </a:prstGeom>
          <a:noFill/>
          <a:ln/>
        </p:spPr>
        <p:txBody>
          <a:bodyPr wrap="square" rtlCol="0" anchor="t"/>
          <a:lstStyle/>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An in-place, divide-and-conquer sorting algorithm based on partitioning.</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Pick a pivot element; partition the array so that left &lt; pivot ≤ right.</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Recursively sort the left and right sub-arrays — pivot is already in its final position.</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Best/average case: O(n log n) when pivot splits the array roughly in half.</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Worst case: O(n²) when pivot is always smallest or largest (e.g., sorted input).</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In practice usually faster than Heap Sort and Merge Sort due to cache locality.</a:t>
            </a:r>
            <a:endParaRPr lang="en-US" sz="1200" dirty="0"/>
          </a:p>
        </p:txBody>
      </p:sp>
      <p:sp>
        <p:nvSpPr>
          <p:cNvPr id="8" name="Shape 5"/>
          <p:cNvSpPr/>
          <p:nvPr/>
        </p:nvSpPr>
        <p:spPr>
          <a:xfrm>
            <a:off x="4663440" y="1371600"/>
            <a:ext cx="4160520" cy="3520440"/>
          </a:xfrm>
          <a:prstGeom prst="rect">
            <a:avLst/>
          </a:prstGeom>
          <a:solidFill>
            <a:srgbClr val="EEF2FA"/>
          </a:solidFill>
          <a:ln w="12700">
            <a:solidFill>
              <a:srgbClr val="1F3864"/>
            </a:solidFill>
            <a:prstDash val="solid"/>
          </a:ln>
        </p:spPr>
      </p:sp>
      <p:sp>
        <p:nvSpPr>
          <p:cNvPr id="9" name="Shape 6"/>
          <p:cNvSpPr/>
          <p:nvPr/>
        </p:nvSpPr>
        <p:spPr>
          <a:xfrm>
            <a:off x="4663440" y="960120"/>
            <a:ext cx="4160520" cy="411480"/>
          </a:xfrm>
          <a:prstGeom prst="rect">
            <a:avLst/>
          </a:prstGeom>
          <a:solidFill>
            <a:srgbClr val="1F3864"/>
          </a:solidFill>
          <a:ln w="12700">
            <a:solidFill>
              <a:srgbClr val="1F3864"/>
            </a:solidFill>
            <a:prstDash val="solid"/>
          </a:ln>
        </p:spPr>
      </p:sp>
      <p:sp>
        <p:nvSpPr>
          <p:cNvPr id="10" name="Text 7"/>
          <p:cNvSpPr/>
          <p:nvPr/>
        </p:nvSpPr>
        <p:spPr>
          <a:xfrm>
            <a:off x="4663440" y="960120"/>
            <a:ext cx="416052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PARTITION SCHEMES</a:t>
            </a:r>
            <a:endParaRPr lang="en-US" sz="1600" dirty="0"/>
          </a:p>
        </p:txBody>
      </p:sp>
      <p:sp>
        <p:nvSpPr>
          <p:cNvPr id="11" name="Text 8"/>
          <p:cNvSpPr/>
          <p:nvPr/>
        </p:nvSpPr>
        <p:spPr>
          <a:xfrm>
            <a:off x="4800600" y="1508760"/>
            <a:ext cx="3886200" cy="3246120"/>
          </a:xfrm>
          <a:prstGeom prst="rect">
            <a:avLst/>
          </a:prstGeom>
          <a:noFill/>
          <a:ln/>
        </p:spPr>
        <p:txBody>
          <a:bodyPr wrap="square" rtlCol="0" anchor="t"/>
          <a:lstStyle/>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Lomuto: pivot = last element. Pointer i tracks the boundary of elements ≤ pivot.</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Hoare: pivot = first element. Two pointers move from ends inward until they cross.</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Lomuto is simpler to code; Hoare does fewer swaps and is faster in practice.</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Randomized QS: pick a random pivot before partitioning — makes worst case improbable.</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Median-of-three: pivot = median(first, middle, last) — robust against sorted input.</a:t>
            </a:r>
            <a:endParaRPr lang="en-US" sz="1200" dirty="0"/>
          </a:p>
          <a:p>
            <a:pPr algn="l" marL="342900" indent="-342900">
              <a:spcAft>
                <a:spcPts val="600"/>
              </a:spcAft>
              <a:buSzPct val="100000"/>
              <a:buChar char="•"/>
            </a:pPr>
            <a:r>
              <a:rPr lang="en-US" sz="1200" dirty="0">
                <a:solidFill>
                  <a:srgbClr val="333333"/>
                </a:solidFill>
                <a:latin typeface="Arial" pitchFamily="34" charset="0"/>
                <a:ea typeface="Arial" pitchFamily="34" charset="-122"/>
                <a:cs typeface="Arial" pitchFamily="34" charset="-120"/>
              </a:rPr>
              <a:t>Introsort: switch to Heap Sort after recursion depth exceeds 2·log₂(n) — C++ std::sort uses this.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Key Concepts</a:t>
            </a:r>
            <a:endParaRPr lang="en-US" sz="2800" dirty="0"/>
          </a:p>
        </p:txBody>
      </p:sp>
      <p:sp>
        <p:nvSpPr>
          <p:cNvPr id="4" name="Shape 1"/>
          <p:cNvSpPr/>
          <p:nvPr/>
        </p:nvSpPr>
        <p:spPr>
          <a:xfrm>
            <a:off x="274320" y="1417320"/>
            <a:ext cx="2862072" cy="1463040"/>
          </a:xfrm>
          <a:prstGeom prst="rect">
            <a:avLst/>
          </a:prstGeom>
          <a:solidFill>
            <a:srgbClr val="FFFFFF"/>
          </a:solidFill>
          <a:ln w="12700">
            <a:solidFill>
              <a:srgbClr val="B22234"/>
            </a:solidFill>
            <a:prstDash val="solid"/>
          </a:ln>
        </p:spPr>
      </p:sp>
      <p:sp>
        <p:nvSpPr>
          <p:cNvPr id="5" name="Shape 2"/>
          <p:cNvSpPr/>
          <p:nvPr/>
        </p:nvSpPr>
        <p:spPr>
          <a:xfrm>
            <a:off x="274320" y="1005840"/>
            <a:ext cx="2862072" cy="411480"/>
          </a:xfrm>
          <a:prstGeom prst="rect">
            <a:avLst/>
          </a:prstGeom>
          <a:solidFill>
            <a:srgbClr val="B22234"/>
          </a:solidFill>
          <a:ln w="12700">
            <a:solidFill>
              <a:srgbClr val="B22234"/>
            </a:solidFill>
            <a:prstDash val="solid"/>
          </a:ln>
        </p:spPr>
      </p:sp>
      <p:sp>
        <p:nvSpPr>
          <p:cNvPr id="6" name="Text 3"/>
          <p:cNvSpPr/>
          <p:nvPr/>
        </p:nvSpPr>
        <p:spPr>
          <a:xfrm>
            <a:off x="274320" y="100584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Pivot Selection</a:t>
            </a:r>
            <a:endParaRPr lang="en-US" sz="1400" dirty="0"/>
          </a:p>
        </p:txBody>
      </p:sp>
      <p:sp>
        <p:nvSpPr>
          <p:cNvPr id="7" name="Text 4"/>
          <p:cNvSpPr/>
          <p:nvPr/>
        </p:nvSpPr>
        <p:spPr>
          <a:xfrm>
            <a:off x="384048" y="149047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The pivot drives performance. Bad choices (always smallest) give O(n²); random or median-of-three avoids this.</a:t>
            </a:r>
            <a:endParaRPr lang="en-US" sz="1100" dirty="0"/>
          </a:p>
        </p:txBody>
      </p:sp>
      <p:sp>
        <p:nvSpPr>
          <p:cNvPr id="8" name="Shape 5"/>
          <p:cNvSpPr/>
          <p:nvPr/>
        </p:nvSpPr>
        <p:spPr>
          <a:xfrm>
            <a:off x="3209544" y="1417320"/>
            <a:ext cx="2862072" cy="1463040"/>
          </a:xfrm>
          <a:prstGeom prst="rect">
            <a:avLst/>
          </a:prstGeom>
          <a:solidFill>
            <a:srgbClr val="FFFFFF"/>
          </a:solidFill>
          <a:ln w="12700">
            <a:solidFill>
              <a:srgbClr val="1F3864"/>
            </a:solidFill>
            <a:prstDash val="solid"/>
          </a:ln>
        </p:spPr>
      </p:sp>
      <p:sp>
        <p:nvSpPr>
          <p:cNvPr id="9" name="Shape 6"/>
          <p:cNvSpPr/>
          <p:nvPr/>
        </p:nvSpPr>
        <p:spPr>
          <a:xfrm>
            <a:off x="3209544" y="1005840"/>
            <a:ext cx="2862072" cy="411480"/>
          </a:xfrm>
          <a:prstGeom prst="rect">
            <a:avLst/>
          </a:prstGeom>
          <a:solidFill>
            <a:srgbClr val="1F3864"/>
          </a:solidFill>
          <a:ln w="12700">
            <a:solidFill>
              <a:srgbClr val="1F3864"/>
            </a:solidFill>
            <a:prstDash val="solid"/>
          </a:ln>
        </p:spPr>
      </p:sp>
      <p:sp>
        <p:nvSpPr>
          <p:cNvPr id="10" name="Text 7"/>
          <p:cNvSpPr/>
          <p:nvPr/>
        </p:nvSpPr>
        <p:spPr>
          <a:xfrm>
            <a:off x="3209544" y="100584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Partitioning</a:t>
            </a:r>
            <a:endParaRPr lang="en-US" sz="1400" dirty="0"/>
          </a:p>
        </p:txBody>
      </p:sp>
      <p:sp>
        <p:nvSpPr>
          <p:cNvPr id="11" name="Text 8"/>
          <p:cNvSpPr/>
          <p:nvPr/>
        </p:nvSpPr>
        <p:spPr>
          <a:xfrm>
            <a:off x="3319272" y="149047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Rearrange the array so all elements ≤ pivot come before all elements &gt; pivot. The pivot ends in its final sorted position.</a:t>
            </a:r>
            <a:endParaRPr lang="en-US" sz="1100" dirty="0"/>
          </a:p>
        </p:txBody>
      </p:sp>
      <p:sp>
        <p:nvSpPr>
          <p:cNvPr id="12" name="Shape 9"/>
          <p:cNvSpPr/>
          <p:nvPr/>
        </p:nvSpPr>
        <p:spPr>
          <a:xfrm>
            <a:off x="6144768" y="1417320"/>
            <a:ext cx="2862072" cy="1463040"/>
          </a:xfrm>
          <a:prstGeom prst="rect">
            <a:avLst/>
          </a:prstGeom>
          <a:solidFill>
            <a:srgbClr val="FFFFFF"/>
          </a:solidFill>
          <a:ln w="12700">
            <a:solidFill>
              <a:srgbClr val="2C5F2D"/>
            </a:solidFill>
            <a:prstDash val="solid"/>
          </a:ln>
        </p:spPr>
      </p:sp>
      <p:sp>
        <p:nvSpPr>
          <p:cNvPr id="13" name="Shape 10"/>
          <p:cNvSpPr/>
          <p:nvPr/>
        </p:nvSpPr>
        <p:spPr>
          <a:xfrm>
            <a:off x="6144768" y="1005840"/>
            <a:ext cx="2862072" cy="411480"/>
          </a:xfrm>
          <a:prstGeom prst="rect">
            <a:avLst/>
          </a:prstGeom>
          <a:solidFill>
            <a:srgbClr val="2C5F2D"/>
          </a:solidFill>
          <a:ln w="12700">
            <a:solidFill>
              <a:srgbClr val="2C5F2D"/>
            </a:solidFill>
            <a:prstDash val="solid"/>
          </a:ln>
        </p:spPr>
      </p:sp>
      <p:sp>
        <p:nvSpPr>
          <p:cNvPr id="14" name="Text 11"/>
          <p:cNvSpPr/>
          <p:nvPr/>
        </p:nvSpPr>
        <p:spPr>
          <a:xfrm>
            <a:off x="6144768" y="100584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Lomuto Scheme</a:t>
            </a:r>
            <a:endParaRPr lang="en-US" sz="1400" dirty="0"/>
          </a:p>
        </p:txBody>
      </p:sp>
      <p:sp>
        <p:nvSpPr>
          <p:cNvPr id="15" name="Text 12"/>
          <p:cNvSpPr/>
          <p:nvPr/>
        </p:nvSpPr>
        <p:spPr>
          <a:xfrm>
            <a:off x="6254496" y="149047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Uses the last element as pivot. Scans left-to-right with one pointer. Simpler but does more swaps.</a:t>
            </a:r>
            <a:endParaRPr lang="en-US" sz="1100" dirty="0"/>
          </a:p>
        </p:txBody>
      </p:sp>
      <p:sp>
        <p:nvSpPr>
          <p:cNvPr id="16" name="Shape 13"/>
          <p:cNvSpPr/>
          <p:nvPr/>
        </p:nvSpPr>
        <p:spPr>
          <a:xfrm>
            <a:off x="274320" y="3429000"/>
            <a:ext cx="2862072" cy="1463040"/>
          </a:xfrm>
          <a:prstGeom prst="rect">
            <a:avLst/>
          </a:prstGeom>
          <a:solidFill>
            <a:srgbClr val="FFFFFF"/>
          </a:solidFill>
          <a:ln w="12700">
            <a:solidFill>
              <a:srgbClr val="B22234"/>
            </a:solidFill>
            <a:prstDash val="solid"/>
          </a:ln>
        </p:spPr>
      </p:sp>
      <p:sp>
        <p:nvSpPr>
          <p:cNvPr id="17" name="Shape 14"/>
          <p:cNvSpPr/>
          <p:nvPr/>
        </p:nvSpPr>
        <p:spPr>
          <a:xfrm>
            <a:off x="274320" y="3017520"/>
            <a:ext cx="2862072" cy="411480"/>
          </a:xfrm>
          <a:prstGeom prst="rect">
            <a:avLst/>
          </a:prstGeom>
          <a:solidFill>
            <a:srgbClr val="B22234"/>
          </a:solidFill>
          <a:ln w="12700">
            <a:solidFill>
              <a:srgbClr val="B22234"/>
            </a:solidFill>
            <a:prstDash val="solid"/>
          </a:ln>
        </p:spPr>
      </p:sp>
      <p:sp>
        <p:nvSpPr>
          <p:cNvPr id="18" name="Text 15"/>
          <p:cNvSpPr/>
          <p:nvPr/>
        </p:nvSpPr>
        <p:spPr>
          <a:xfrm>
            <a:off x="274320" y="301752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Hoare Scheme</a:t>
            </a:r>
            <a:endParaRPr lang="en-US" sz="1400" dirty="0"/>
          </a:p>
        </p:txBody>
      </p:sp>
      <p:sp>
        <p:nvSpPr>
          <p:cNvPr id="19" name="Text 16"/>
          <p:cNvSpPr/>
          <p:nvPr/>
        </p:nvSpPr>
        <p:spPr>
          <a:xfrm>
            <a:off x="384048" y="350215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Uses the first element. Two pointers converge from both ends. Fewer swaps and faster in practice.</a:t>
            </a:r>
            <a:endParaRPr lang="en-US" sz="1100" dirty="0"/>
          </a:p>
        </p:txBody>
      </p:sp>
      <p:sp>
        <p:nvSpPr>
          <p:cNvPr id="20" name="Shape 17"/>
          <p:cNvSpPr/>
          <p:nvPr/>
        </p:nvSpPr>
        <p:spPr>
          <a:xfrm>
            <a:off x="3209544" y="3429000"/>
            <a:ext cx="2862072" cy="1463040"/>
          </a:xfrm>
          <a:prstGeom prst="rect">
            <a:avLst/>
          </a:prstGeom>
          <a:solidFill>
            <a:srgbClr val="FFFFFF"/>
          </a:solidFill>
          <a:ln w="12700">
            <a:solidFill>
              <a:srgbClr val="1F3864"/>
            </a:solidFill>
            <a:prstDash val="solid"/>
          </a:ln>
        </p:spPr>
      </p:sp>
      <p:sp>
        <p:nvSpPr>
          <p:cNvPr id="21" name="Shape 18"/>
          <p:cNvSpPr/>
          <p:nvPr/>
        </p:nvSpPr>
        <p:spPr>
          <a:xfrm>
            <a:off x="3209544" y="3017520"/>
            <a:ext cx="2862072" cy="411480"/>
          </a:xfrm>
          <a:prstGeom prst="rect">
            <a:avLst/>
          </a:prstGeom>
          <a:solidFill>
            <a:srgbClr val="1F3864"/>
          </a:solidFill>
          <a:ln w="12700">
            <a:solidFill>
              <a:srgbClr val="1F3864"/>
            </a:solidFill>
            <a:prstDash val="solid"/>
          </a:ln>
        </p:spPr>
      </p:sp>
      <p:sp>
        <p:nvSpPr>
          <p:cNvPr id="22" name="Text 19"/>
          <p:cNvSpPr/>
          <p:nvPr/>
        </p:nvSpPr>
        <p:spPr>
          <a:xfrm>
            <a:off x="3209544" y="301752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Divide &amp; Conquer</a:t>
            </a:r>
            <a:endParaRPr lang="en-US" sz="1400" dirty="0"/>
          </a:p>
        </p:txBody>
      </p:sp>
      <p:sp>
        <p:nvSpPr>
          <p:cNvPr id="23" name="Text 20"/>
          <p:cNvSpPr/>
          <p:nvPr/>
        </p:nvSpPr>
        <p:spPr>
          <a:xfrm>
            <a:off x="3319272" y="350215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Partition once → recurse on the two halves. Recursion depth determines the call-stack space cost.</a:t>
            </a:r>
            <a:endParaRPr lang="en-US" sz="1100" dirty="0"/>
          </a:p>
        </p:txBody>
      </p:sp>
      <p:sp>
        <p:nvSpPr>
          <p:cNvPr id="24" name="Shape 21"/>
          <p:cNvSpPr/>
          <p:nvPr/>
        </p:nvSpPr>
        <p:spPr>
          <a:xfrm>
            <a:off x="6144768" y="3429000"/>
            <a:ext cx="2862072" cy="1463040"/>
          </a:xfrm>
          <a:prstGeom prst="rect">
            <a:avLst/>
          </a:prstGeom>
          <a:solidFill>
            <a:srgbClr val="FFFFFF"/>
          </a:solidFill>
          <a:ln w="12700">
            <a:solidFill>
              <a:srgbClr val="2C5F2D"/>
            </a:solidFill>
            <a:prstDash val="solid"/>
          </a:ln>
        </p:spPr>
      </p:sp>
      <p:sp>
        <p:nvSpPr>
          <p:cNvPr id="25" name="Shape 22"/>
          <p:cNvSpPr/>
          <p:nvPr/>
        </p:nvSpPr>
        <p:spPr>
          <a:xfrm>
            <a:off x="6144768" y="3017520"/>
            <a:ext cx="2862072" cy="411480"/>
          </a:xfrm>
          <a:prstGeom prst="rect">
            <a:avLst/>
          </a:prstGeom>
          <a:solidFill>
            <a:srgbClr val="2C5F2D"/>
          </a:solidFill>
          <a:ln w="12700">
            <a:solidFill>
              <a:srgbClr val="2C5F2D"/>
            </a:solidFill>
            <a:prstDash val="solid"/>
          </a:ln>
        </p:spPr>
      </p:sp>
      <p:sp>
        <p:nvSpPr>
          <p:cNvPr id="26" name="Text 23"/>
          <p:cNvSpPr/>
          <p:nvPr/>
        </p:nvSpPr>
        <p:spPr>
          <a:xfrm>
            <a:off x="6144768" y="3017520"/>
            <a:ext cx="2862072"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Randomized QS</a:t>
            </a:r>
            <a:endParaRPr lang="en-US" sz="1400" dirty="0"/>
          </a:p>
        </p:txBody>
      </p:sp>
      <p:sp>
        <p:nvSpPr>
          <p:cNvPr id="27" name="Text 24"/>
          <p:cNvSpPr/>
          <p:nvPr/>
        </p:nvSpPr>
        <p:spPr>
          <a:xfrm>
            <a:off x="6254496" y="3502152"/>
            <a:ext cx="2642616" cy="1316736"/>
          </a:xfrm>
          <a:prstGeom prst="rect">
            <a:avLst/>
          </a:prstGeom>
          <a:noFill/>
          <a:ln/>
        </p:spPr>
        <p:txBody>
          <a:bodyPr wrap="square" rtlCol="0" anchor="t"/>
          <a:lstStyle/>
          <a:p>
            <a:pPr algn="l" indent="0" marL="0">
              <a:spcAft>
                <a:spcPts val="300"/>
              </a:spcAft>
              <a:buNone/>
            </a:pPr>
            <a:r>
              <a:rPr lang="en-US" sz="1100" dirty="0">
                <a:solidFill>
                  <a:srgbClr val="333333"/>
                </a:solidFill>
                <a:latin typeface="Arial" pitchFamily="34" charset="0"/>
                <a:ea typeface="Arial" pitchFamily="34" charset="-122"/>
                <a:cs typeface="Arial" pitchFamily="34" charset="-120"/>
              </a:rPr>
              <a:t>Pick a uniformly random pivot. Expected O(n log n) regardless of input distribution.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Problem Statement</a:t>
            </a:r>
            <a:endParaRPr lang="en-US" sz="2800" dirty="0"/>
          </a:p>
        </p:txBody>
      </p:sp>
      <p:sp>
        <p:nvSpPr>
          <p:cNvPr id="4" name="Shape 1"/>
          <p:cNvSpPr/>
          <p:nvPr/>
        </p:nvSpPr>
        <p:spPr>
          <a:xfrm>
            <a:off x="274320" y="960120"/>
            <a:ext cx="8595360" cy="868680"/>
          </a:xfrm>
          <a:prstGeom prst="rect">
            <a:avLst/>
          </a:prstGeom>
          <a:solidFill>
            <a:srgbClr val="FBEEF0"/>
          </a:solidFill>
          <a:ln w="12700">
            <a:solidFill>
              <a:srgbClr val="B22234"/>
            </a:solidFill>
            <a:prstDash val="solid"/>
          </a:ln>
        </p:spPr>
      </p:sp>
      <p:sp>
        <p:nvSpPr>
          <p:cNvPr id="5" name="Text 2"/>
          <p:cNvSpPr/>
          <p:nvPr/>
        </p:nvSpPr>
        <p:spPr>
          <a:xfrm>
            <a:off x="411480" y="1005840"/>
            <a:ext cx="8321040" cy="777240"/>
          </a:xfrm>
          <a:prstGeom prst="rect">
            <a:avLst/>
          </a:prstGeom>
          <a:noFill/>
          <a:ln/>
        </p:spPr>
        <p:txBody>
          <a:bodyPr wrap="square" rtlCol="0" anchor="t"/>
          <a:lstStyle/>
          <a:p>
            <a:pPr algn="l" indent="0" marL="0">
              <a:spcAft>
                <a:spcPts val="400"/>
              </a:spcAft>
              <a:buNone/>
            </a:pPr>
            <a:r>
              <a:rPr lang="en-US" sz="1150" b="1" dirty="0">
                <a:solidFill>
                  <a:srgbClr val="B22234"/>
                </a:solidFill>
                <a:latin typeface="Arial" pitchFamily="34" charset="0"/>
                <a:ea typeface="Arial" pitchFamily="34" charset="-122"/>
                <a:cs typeface="Arial" pitchFamily="34" charset="-120"/>
              </a:rPr>
              <a:t>Problem: </a:t>
            </a:r>
            <a:pPr algn="l" indent="0" marL="0">
              <a:spcAft>
                <a:spcPts val="400"/>
              </a:spcAft>
              <a:buNone/>
            </a:pPr>
            <a:r>
              <a:rPr lang="en-US" sz="1150" b="1" dirty="0">
                <a:solidFill>
                  <a:srgbClr val="1A1A1A"/>
                </a:solidFill>
                <a:latin typeface="Arial" pitchFamily="34" charset="0"/>
                <a:ea typeface="Arial" pitchFamily="34" charset="-122"/>
                <a:cs typeface="Arial" pitchFamily="34" charset="-120"/>
              </a:rPr>
              <a:t>Sort an Array (LeetCode #912)</a:t>
            </a:r>
            <a:endParaRPr lang="en-US" sz="1150" dirty="0"/>
          </a:p>
          <a:p>
            <a:pPr algn="l" indent="0" marL="0">
              <a:spcAft>
                <a:spcPts val="400"/>
              </a:spcAft>
              <a:buNone/>
            </a:pPr>
            <a:r>
              <a:rPr lang="en-US" sz="1150" dirty="0">
                <a:solidFill>
                  <a:srgbClr val="333333"/>
                </a:solidFill>
                <a:latin typeface="Arial" pitchFamily="34" charset="0"/>
                <a:ea typeface="Arial" pitchFamily="34" charset="-122"/>
                <a:cs typeface="Arial" pitchFamily="34" charset="-120"/>
              </a:rPr>
              <a:t>Given an array of integers nums, sort the array in ascending order using the Quick Sort algorithm. Implement either the Lomuto or the Hoare partition scheme and return the sorted array. Do not use any built-in sort function.</a:t>
            </a:r>
            <a:endParaRPr lang="en-US" sz="1150" dirty="0"/>
          </a:p>
        </p:txBody>
      </p:sp>
      <p:sp>
        <p:nvSpPr>
          <p:cNvPr id="6" name="Shape 3"/>
          <p:cNvSpPr/>
          <p:nvPr/>
        </p:nvSpPr>
        <p:spPr>
          <a:xfrm>
            <a:off x="274320" y="1965960"/>
            <a:ext cx="8595360" cy="365760"/>
          </a:xfrm>
          <a:prstGeom prst="rect">
            <a:avLst/>
          </a:prstGeom>
          <a:solidFill>
            <a:srgbClr val="FEF3C7"/>
          </a:solidFill>
          <a:ln w="12700">
            <a:solidFill>
              <a:srgbClr val="F59E0B"/>
            </a:solidFill>
            <a:prstDash val="solid"/>
          </a:ln>
        </p:spPr>
      </p:sp>
      <p:sp>
        <p:nvSpPr>
          <p:cNvPr id="7" name="Text 4">
            <a:hlinkClick r:id="rIdundefined" tooltip=""/>
          </p:cNvPr>
          <p:cNvSpPr/>
          <p:nvPr/>
        </p:nvSpPr>
        <p:spPr>
          <a:xfrm>
            <a:off x="411480" y="1965960"/>
            <a:ext cx="8321040" cy="365760"/>
          </a:xfrm>
          <a:prstGeom prst="rect">
            <a:avLst/>
          </a:prstGeom>
          <a:noFill/>
          <a:ln/>
        </p:spPr>
        <p:txBody>
          <a:bodyPr wrap="square" lIns="0" tIns="0" rIns="0" bIns="0" rtlCol="0" anchor="ctr"/>
          <a:lstStyle/>
          <a:p>
            <a:pPr algn="l" indent="0" marL="0">
              <a:buNone/>
            </a:pPr>
            <a:r>
              <a:rPr lang="en-US" sz="1200" u="sng" dirty="0">
                <a:solidFill>
                  <a:srgbClr val="000000"/>
                </a:solidFill>
                <a:hlinkClick r:id="rIdundefined" invalidUrl="" action="" tgtFrame="" tooltip="" history="1" highlightClick="0" endSnd="0">
                  <a:extLst>
                    <a:ext uri="{A12FA001-AC4F-418D-AE19-62706E023703}">
                      <ahyp:hlinkClr xmlns:ahyp="http://schemas.microsoft.com/office/drawing/2018/hyperlinkcolor" val="tx"/>
                    </a:ext>
                  </a:extLst>
                </a:hlinkClick>
              </a:rPr>
              <a:t>🔗  </a:t>
            </a:r>
            <a:pPr algn="l" indent="0" marL="0">
              <a:buNone/>
            </a:pPr>
            <a:r>
              <a:rPr lang="en-US" sz="1100" b="1" u="sng" dirty="0">
                <a:solidFill>
                  <a:srgbClr val="1A1A1A"/>
                </a:solidFill>
                <a:latin typeface="Consolas" pitchFamily="34" charset="0"/>
                <a:ea typeface="Consolas" pitchFamily="34" charset="-122"/>
                <a:cs typeface="Consolas" pitchFamily="34" charset="-120"/>
                <a:hlinkClick r:id="rIdundefined" invalidUrl="" action="" tgtFrame="" tooltip="" history="1" highlightClick="0" endSnd="0">
                  <a:extLst>
                    <a:ext uri="{A12FA001-AC4F-418D-AE19-62706E023703}">
                      <ahyp:hlinkClr xmlns:ahyp="http://schemas.microsoft.com/office/drawing/2018/hyperlinkcolor" val="tx"/>
                    </a:ext>
                  </a:extLst>
                </a:hlinkClick>
              </a:rPr>
              <a:t>LeetCode Reference:  https://leetcode.com/problems/sort-an-array/  (#912)</a:t>
            </a:r>
            <a:endParaRPr lang="en-US" sz="1200" dirty="0"/>
          </a:p>
        </p:txBody>
      </p:sp>
      <p:sp>
        <p:nvSpPr>
          <p:cNvPr id="8" name="Text 5"/>
          <p:cNvSpPr/>
          <p:nvPr/>
        </p:nvSpPr>
        <p:spPr>
          <a:xfrm>
            <a:off x="274320" y="2423160"/>
            <a:ext cx="2743200" cy="274320"/>
          </a:xfrm>
          <a:prstGeom prst="rect">
            <a:avLst/>
          </a:prstGeom>
          <a:noFill/>
          <a:ln/>
        </p:spPr>
        <p:txBody>
          <a:bodyPr wrap="square" lIns="0" tIns="0" rIns="0" bIns="0" rtlCol="0" anchor="ctr"/>
          <a:lstStyle/>
          <a:p>
            <a:pPr algn="l" indent="0" marL="0">
              <a:buNone/>
            </a:pPr>
            <a:r>
              <a:rPr lang="en-US" sz="1400" b="1" dirty="0">
                <a:solidFill>
                  <a:srgbClr val="1A1A1A"/>
                </a:solidFill>
                <a:latin typeface="Georgia" pitchFamily="34" charset="0"/>
                <a:ea typeface="Georgia" pitchFamily="34" charset="-122"/>
                <a:cs typeface="Georgia" pitchFamily="34" charset="-120"/>
              </a:rPr>
              <a:t>Test Cases: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2743200"/>
          <a:ext cx="8595360" cy="914400"/>
        </p:xfrm>
        <a:graphic>
          <a:graphicData uri="http://schemas.openxmlformats.org/drawingml/2006/table">
            <a:tbl>
              <a:tblPr/>
              <a:tblGrid>
                <a:gridCol w="2286000"/>
                <a:gridCol w="1828800"/>
                <a:gridCol w="4480560"/>
              </a:tblGrid>
              <a:tr h="411480">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Input</a:t>
                      </a:r>
                      <a:endParaRPr lang="en-US" sz="12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Expected Output</a:t>
                      </a:r>
                      <a:endParaRPr lang="en-US" sz="12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Explanation</a:t>
                      </a:r>
                      <a:endParaRPr lang="en-US" sz="1200" dirty="0">
                        <a:latin typeface="Georgia" charset="0"/>
                        <a:ea typeface="Georgia" charset="0"/>
                        <a:cs typeface="Georgia"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B22234"/>
                    </a:solidFill>
                  </a:tcPr>
                </a:tc>
              </a:tr>
              <a:tr h="411480">
                <a:tc>
                  <a:txBody>
                    <a:bodyPr/>
                    <a:lstStyle/>
                    <a:p>
                      <a:pPr algn="ctr" indent="0" marL="0">
                        <a:buNone/>
                      </a:pPr>
                      <a:r>
                        <a:rPr lang="en-US" sz="1100" dirty="0">
                          <a:solidFill>
                            <a:srgbClr val="1A1A1A"/>
                          </a:solidFill>
                          <a:latin typeface="Consolas" pitchFamily="34" charset="0"/>
                          <a:ea typeface="Consolas" pitchFamily="34" charset="-122"/>
                          <a:cs typeface="Consolas" pitchFamily="34" charset="-120"/>
                        </a:rPr>
                        <a:t>nums = [5,2,3,1]</a:t>
                      </a:r>
                      <a:endParaRPr lang="en-US" sz="11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C5F2D"/>
                          </a:solidFill>
                          <a:latin typeface="Consolas" pitchFamily="34" charset="0"/>
                          <a:ea typeface="Consolas" pitchFamily="34" charset="-122"/>
                          <a:cs typeface="Consolas" pitchFamily="34" charset="-120"/>
                        </a:rPr>
                        <a:t>[1,2,3,5]</a:t>
                      </a:r>
                      <a:endParaRPr lang="en-US" sz="12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3333"/>
                          </a:solidFill>
                          <a:latin typeface="Arial" pitchFamily="34" charset="0"/>
                          <a:ea typeface="Arial" pitchFamily="34" charset="-122"/>
                          <a:cs typeface="Arial" pitchFamily="34" charset="-120"/>
                        </a:rPr>
                        <a:t>Sorted ascending using Quick Sort</a:t>
                      </a:r>
                      <a:endParaRPr lang="en-US" sz="11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algn="ctr" indent="0" marL="0">
                        <a:buNone/>
                      </a:pPr>
                      <a:r>
                        <a:rPr lang="en-US" sz="1100" dirty="0">
                          <a:solidFill>
                            <a:srgbClr val="1A1A1A"/>
                          </a:solidFill>
                          <a:latin typeface="Consolas" pitchFamily="34" charset="0"/>
                          <a:ea typeface="Consolas" pitchFamily="34" charset="-122"/>
                          <a:cs typeface="Consolas" pitchFamily="34" charset="-120"/>
                        </a:rPr>
                        <a:t>nums = [5,1,1,2,0,0]</a:t>
                      </a:r>
                      <a:endParaRPr lang="en-US" sz="11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ctr" indent="0" marL="0">
                        <a:buNone/>
                      </a:pPr>
                      <a:r>
                        <a:rPr lang="en-US" sz="1200" b="1" dirty="0">
                          <a:solidFill>
                            <a:srgbClr val="2C5F2D"/>
                          </a:solidFill>
                          <a:latin typeface="Consolas" pitchFamily="34" charset="0"/>
                          <a:ea typeface="Consolas" pitchFamily="34" charset="-122"/>
                          <a:cs typeface="Consolas" pitchFamily="34" charset="-120"/>
                        </a:rPr>
                        <a:t>[0,0,1,1,2,5]</a:t>
                      </a:r>
                      <a:endParaRPr lang="en-US" sz="12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l" indent="0" marL="0">
                        <a:buNone/>
                      </a:pPr>
                      <a:r>
                        <a:rPr lang="en-US" sz="1100" dirty="0">
                          <a:solidFill>
                            <a:srgbClr val="333333"/>
                          </a:solidFill>
                          <a:latin typeface="Arial" pitchFamily="34" charset="0"/>
                          <a:ea typeface="Arial" pitchFamily="34" charset="-122"/>
                          <a:cs typeface="Arial" pitchFamily="34" charset="-120"/>
                        </a:rPr>
                        <a:t>Handles duplicate values correctly</a:t>
                      </a:r>
                      <a:endParaRPr lang="en-US" sz="11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r h="411480">
                <a:tc>
                  <a:txBody>
                    <a:bodyPr/>
                    <a:lstStyle/>
                    <a:p>
                      <a:pPr algn="ctr" indent="0" marL="0">
                        <a:buNone/>
                      </a:pPr>
                      <a:r>
                        <a:rPr lang="en-US" sz="1100" dirty="0">
                          <a:solidFill>
                            <a:srgbClr val="1A1A1A"/>
                          </a:solidFill>
                          <a:latin typeface="Consolas" pitchFamily="34" charset="0"/>
                          <a:ea typeface="Consolas" pitchFamily="34" charset="-122"/>
                          <a:cs typeface="Consolas" pitchFamily="34" charset="-120"/>
                        </a:rPr>
                        <a:t>nums = [10,9,8,7,6]</a:t>
                      </a:r>
                      <a:endParaRPr lang="en-US" sz="11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C5F2D"/>
                          </a:solidFill>
                          <a:latin typeface="Consolas" pitchFamily="34" charset="0"/>
                          <a:ea typeface="Consolas" pitchFamily="34" charset="-122"/>
                          <a:cs typeface="Consolas" pitchFamily="34" charset="-120"/>
                        </a:rPr>
                        <a:t>[6,7,8,9,10]</a:t>
                      </a:r>
                      <a:endParaRPr lang="en-US" sz="12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33333"/>
                          </a:solidFill>
                          <a:latin typeface="Arial" pitchFamily="34" charset="0"/>
                          <a:ea typeface="Arial" pitchFamily="34" charset="-122"/>
                          <a:cs typeface="Arial" pitchFamily="34" charset="-120"/>
                        </a:rPr>
                        <a:t>Reverse-sorted (worst case for naive pivot)</a:t>
                      </a:r>
                      <a:endParaRPr lang="en-US" sz="11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algn="ctr" indent="0" marL="0">
                        <a:buNone/>
                      </a:pPr>
                      <a:r>
                        <a:rPr lang="en-US" sz="1100" dirty="0">
                          <a:solidFill>
                            <a:srgbClr val="1A1A1A"/>
                          </a:solidFill>
                          <a:latin typeface="Consolas" pitchFamily="34" charset="0"/>
                          <a:ea typeface="Consolas" pitchFamily="34" charset="-122"/>
                          <a:cs typeface="Consolas" pitchFamily="34" charset="-120"/>
                        </a:rPr>
                        <a:t>nums = [1]</a:t>
                      </a:r>
                      <a:endParaRPr lang="en-US" sz="11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ctr" indent="0" marL="0">
                        <a:buNone/>
                      </a:pPr>
                      <a:r>
                        <a:rPr lang="en-US" sz="1200" b="1" dirty="0">
                          <a:solidFill>
                            <a:srgbClr val="2C5F2D"/>
                          </a:solidFill>
                          <a:latin typeface="Consolas" pitchFamily="34" charset="0"/>
                          <a:ea typeface="Consolas" pitchFamily="34" charset="-122"/>
                          <a:cs typeface="Consolas" pitchFamily="34" charset="-120"/>
                        </a:rPr>
                        <a:t>[1]</a:t>
                      </a:r>
                      <a:endParaRPr lang="en-US" sz="1200" dirty="0">
                        <a:latin typeface="Consolas" charset="0"/>
                        <a:ea typeface="Consolas" charset="0"/>
                        <a:cs typeface="Consolas"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l" indent="0" marL="0">
                        <a:buNone/>
                      </a:pPr>
                      <a:r>
                        <a:rPr lang="en-US" sz="1100" dirty="0">
                          <a:solidFill>
                            <a:srgbClr val="333333"/>
                          </a:solidFill>
                          <a:latin typeface="Arial" pitchFamily="34" charset="0"/>
                          <a:ea typeface="Arial" pitchFamily="34" charset="-122"/>
                          <a:cs typeface="Arial" pitchFamily="34" charset="-120"/>
                        </a:rPr>
                        <a:t>Single element is trivially sorted</a:t>
                      </a:r>
                      <a:endParaRPr lang="en-US" sz="1100" dirty="0">
                        <a:latin typeface="Arial" charset="0"/>
                        <a:ea typeface="Arial" charset="0"/>
                        <a:cs typeface="Arial"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Approach</a:t>
            </a:r>
            <a:endParaRPr lang="en-US" sz="2800" dirty="0"/>
          </a:p>
        </p:txBody>
      </p:sp>
      <p:sp>
        <p:nvSpPr>
          <p:cNvPr id="4" name="Shape 1"/>
          <p:cNvSpPr/>
          <p:nvPr/>
        </p:nvSpPr>
        <p:spPr>
          <a:xfrm>
            <a:off x="274320" y="1325880"/>
            <a:ext cx="4297680" cy="3611880"/>
          </a:xfrm>
          <a:prstGeom prst="rect">
            <a:avLst/>
          </a:prstGeom>
          <a:solidFill>
            <a:srgbClr val="F5F5F5"/>
          </a:solidFill>
          <a:ln w="12700">
            <a:solidFill>
              <a:srgbClr val="D1D5DB"/>
            </a:solidFill>
            <a:prstDash val="solid"/>
          </a:ln>
        </p:spPr>
      </p:sp>
      <p:sp>
        <p:nvSpPr>
          <p:cNvPr id="5" name="Shape 2"/>
          <p:cNvSpPr/>
          <p:nvPr/>
        </p:nvSpPr>
        <p:spPr>
          <a:xfrm>
            <a:off x="274320" y="960120"/>
            <a:ext cx="4297680" cy="365760"/>
          </a:xfrm>
          <a:prstGeom prst="rect">
            <a:avLst/>
          </a:prstGeom>
          <a:solidFill>
            <a:srgbClr val="B22234"/>
          </a:solidFill>
          <a:ln w="12700">
            <a:solidFill>
              <a:srgbClr val="B22234"/>
            </a:solidFill>
            <a:prstDash val="solid"/>
          </a:ln>
        </p:spPr>
      </p:sp>
      <p:sp>
        <p:nvSpPr>
          <p:cNvPr id="6" name="Text 3"/>
          <p:cNvSpPr/>
          <p:nvPr/>
        </p:nvSpPr>
        <p:spPr>
          <a:xfrm>
            <a:off x="274320" y="960120"/>
            <a:ext cx="429768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Step-by-Step Approach</a:t>
            </a:r>
            <a:endParaRPr lang="en-US" sz="1500" dirty="0"/>
          </a:p>
        </p:txBody>
      </p:sp>
      <p:sp>
        <p:nvSpPr>
          <p:cNvPr id="7" name="Shape 4"/>
          <p:cNvSpPr/>
          <p:nvPr/>
        </p:nvSpPr>
        <p:spPr>
          <a:xfrm>
            <a:off x="457200" y="1572768"/>
            <a:ext cx="384048" cy="384048"/>
          </a:xfrm>
          <a:prstGeom prst="ellipse">
            <a:avLst/>
          </a:prstGeom>
          <a:solidFill>
            <a:srgbClr val="B22234"/>
          </a:solidFill>
          <a:ln w="12700">
            <a:solidFill>
              <a:srgbClr val="B22234"/>
            </a:solidFill>
            <a:prstDash val="solid"/>
          </a:ln>
        </p:spPr>
      </p:sp>
      <p:sp>
        <p:nvSpPr>
          <p:cNvPr id="8" name="Text 5"/>
          <p:cNvSpPr/>
          <p:nvPr/>
        </p:nvSpPr>
        <p:spPr>
          <a:xfrm>
            <a:off x="457200" y="1572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9" name="Text 6"/>
          <p:cNvSpPr/>
          <p:nvPr/>
        </p:nvSpPr>
        <p:spPr>
          <a:xfrm>
            <a:off x="960120" y="1508760"/>
            <a:ext cx="3520440" cy="576072"/>
          </a:xfrm>
          <a:prstGeom prst="rect">
            <a:avLst/>
          </a:prstGeom>
          <a:noFill/>
          <a:ln/>
        </p:spPr>
        <p:txBody>
          <a:bodyPr wrap="square" rtlCol="0" anchor="ctr"/>
          <a:lstStyle/>
          <a:p>
            <a:pPr algn="l" indent="0" marL="0">
              <a:buNone/>
            </a:pPr>
            <a:r>
              <a:rPr lang="en-US" sz="1100" dirty="0">
                <a:solidFill>
                  <a:srgbClr val="333333"/>
                </a:solidFill>
                <a:latin typeface="Arial" pitchFamily="34" charset="0"/>
                <a:ea typeface="Arial" pitchFamily="34" charset="-122"/>
                <a:cs typeface="Arial" pitchFamily="34" charset="-120"/>
              </a:rPr>
              <a:t>Choose pivot (last element for Lomuto scheme).</a:t>
            </a:r>
            <a:endParaRPr lang="en-US" sz="1100" dirty="0"/>
          </a:p>
        </p:txBody>
      </p:sp>
      <p:sp>
        <p:nvSpPr>
          <p:cNvPr id="10" name="Shape 7"/>
          <p:cNvSpPr/>
          <p:nvPr/>
        </p:nvSpPr>
        <p:spPr>
          <a:xfrm>
            <a:off x="457200" y="2240280"/>
            <a:ext cx="384048" cy="384048"/>
          </a:xfrm>
          <a:prstGeom prst="ellipse">
            <a:avLst/>
          </a:prstGeom>
          <a:solidFill>
            <a:srgbClr val="B22234"/>
          </a:solidFill>
          <a:ln w="12700">
            <a:solidFill>
              <a:srgbClr val="B22234"/>
            </a:solidFill>
            <a:prstDash val="solid"/>
          </a:ln>
        </p:spPr>
      </p:sp>
      <p:sp>
        <p:nvSpPr>
          <p:cNvPr id="11" name="Text 8"/>
          <p:cNvSpPr/>
          <p:nvPr/>
        </p:nvSpPr>
        <p:spPr>
          <a:xfrm>
            <a:off x="457200" y="2240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2" name="Text 9"/>
          <p:cNvSpPr/>
          <p:nvPr/>
        </p:nvSpPr>
        <p:spPr>
          <a:xfrm>
            <a:off x="960120" y="2176272"/>
            <a:ext cx="3520440" cy="576072"/>
          </a:xfrm>
          <a:prstGeom prst="rect">
            <a:avLst/>
          </a:prstGeom>
          <a:noFill/>
          <a:ln/>
        </p:spPr>
        <p:txBody>
          <a:bodyPr wrap="square" rtlCol="0" anchor="ctr"/>
          <a:lstStyle/>
          <a:p>
            <a:pPr algn="l" indent="0" marL="0">
              <a:buNone/>
            </a:pPr>
            <a:r>
              <a:rPr lang="en-US" sz="1100" dirty="0">
                <a:solidFill>
                  <a:srgbClr val="333333"/>
                </a:solidFill>
                <a:latin typeface="Arial" pitchFamily="34" charset="0"/>
                <a:ea typeface="Arial" pitchFamily="34" charset="-122"/>
                <a:cs typeface="Arial" pitchFamily="34" charset="-120"/>
              </a:rPr>
              <a:t>Partition: maintain i for elements ≤ pivot. Scan j from low to high−1; if arr[j] ≤ pivot, swap arr[++i] and arr[j].</a:t>
            </a:r>
            <a:endParaRPr lang="en-US" sz="1100" dirty="0"/>
          </a:p>
        </p:txBody>
      </p:sp>
      <p:sp>
        <p:nvSpPr>
          <p:cNvPr id="13" name="Shape 10"/>
          <p:cNvSpPr/>
          <p:nvPr/>
        </p:nvSpPr>
        <p:spPr>
          <a:xfrm>
            <a:off x="457200" y="2907792"/>
            <a:ext cx="384048" cy="384048"/>
          </a:xfrm>
          <a:prstGeom prst="ellipse">
            <a:avLst/>
          </a:prstGeom>
          <a:solidFill>
            <a:srgbClr val="B22234"/>
          </a:solidFill>
          <a:ln w="12700">
            <a:solidFill>
              <a:srgbClr val="B22234"/>
            </a:solidFill>
            <a:prstDash val="solid"/>
          </a:ln>
        </p:spPr>
      </p:sp>
      <p:sp>
        <p:nvSpPr>
          <p:cNvPr id="14" name="Text 11"/>
          <p:cNvSpPr/>
          <p:nvPr/>
        </p:nvSpPr>
        <p:spPr>
          <a:xfrm>
            <a:off x="457200" y="29077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5" name="Text 12"/>
          <p:cNvSpPr/>
          <p:nvPr/>
        </p:nvSpPr>
        <p:spPr>
          <a:xfrm>
            <a:off x="960120" y="2843784"/>
            <a:ext cx="3520440" cy="576072"/>
          </a:xfrm>
          <a:prstGeom prst="rect">
            <a:avLst/>
          </a:prstGeom>
          <a:noFill/>
          <a:ln/>
        </p:spPr>
        <p:txBody>
          <a:bodyPr wrap="square" rtlCol="0" anchor="ctr"/>
          <a:lstStyle/>
          <a:p>
            <a:pPr algn="l" indent="0" marL="0">
              <a:buNone/>
            </a:pPr>
            <a:r>
              <a:rPr lang="en-US" sz="1100" dirty="0">
                <a:solidFill>
                  <a:srgbClr val="333333"/>
                </a:solidFill>
                <a:latin typeface="Arial" pitchFamily="34" charset="0"/>
                <a:ea typeface="Arial" pitchFamily="34" charset="-122"/>
                <a:cs typeface="Arial" pitchFamily="34" charset="-120"/>
              </a:rPr>
              <a:t>Place pivot at its final position by swapping arr[i+1] with arr[high]; return i+1.</a:t>
            </a:r>
            <a:endParaRPr lang="en-US" sz="1100" dirty="0"/>
          </a:p>
        </p:txBody>
      </p:sp>
      <p:sp>
        <p:nvSpPr>
          <p:cNvPr id="16" name="Shape 13"/>
          <p:cNvSpPr/>
          <p:nvPr/>
        </p:nvSpPr>
        <p:spPr>
          <a:xfrm>
            <a:off x="457200" y="3575304"/>
            <a:ext cx="384048" cy="384048"/>
          </a:xfrm>
          <a:prstGeom prst="ellipse">
            <a:avLst/>
          </a:prstGeom>
          <a:solidFill>
            <a:srgbClr val="B22234"/>
          </a:solidFill>
          <a:ln w="12700">
            <a:solidFill>
              <a:srgbClr val="B22234"/>
            </a:solidFill>
            <a:prstDash val="solid"/>
          </a:ln>
        </p:spPr>
      </p:sp>
      <p:sp>
        <p:nvSpPr>
          <p:cNvPr id="17" name="Text 14"/>
          <p:cNvSpPr/>
          <p:nvPr/>
        </p:nvSpPr>
        <p:spPr>
          <a:xfrm>
            <a:off x="457200" y="35753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8" name="Text 15"/>
          <p:cNvSpPr/>
          <p:nvPr/>
        </p:nvSpPr>
        <p:spPr>
          <a:xfrm>
            <a:off x="960120" y="3511296"/>
            <a:ext cx="3520440" cy="576072"/>
          </a:xfrm>
          <a:prstGeom prst="rect">
            <a:avLst/>
          </a:prstGeom>
          <a:noFill/>
          <a:ln/>
        </p:spPr>
        <p:txBody>
          <a:bodyPr wrap="square" rtlCol="0" anchor="ctr"/>
          <a:lstStyle/>
          <a:p>
            <a:pPr algn="l" indent="0" marL="0">
              <a:buNone/>
            </a:pPr>
            <a:r>
              <a:rPr lang="en-US" sz="1100" dirty="0">
                <a:solidFill>
                  <a:srgbClr val="333333"/>
                </a:solidFill>
                <a:latin typeface="Arial" pitchFamily="34" charset="0"/>
                <a:ea typeface="Arial" pitchFamily="34" charset="-122"/>
                <a:cs typeface="Arial" pitchFamily="34" charset="-120"/>
              </a:rPr>
              <a:t>Recursively quickSort the left sub-array (low..pi−1) and right sub-array (pi+1..high).</a:t>
            </a:r>
            <a:endParaRPr lang="en-US" sz="1100" dirty="0"/>
          </a:p>
        </p:txBody>
      </p:sp>
      <p:sp>
        <p:nvSpPr>
          <p:cNvPr id="19" name="Shape 16"/>
          <p:cNvSpPr/>
          <p:nvPr/>
        </p:nvSpPr>
        <p:spPr>
          <a:xfrm>
            <a:off x="457200" y="4242816"/>
            <a:ext cx="384048" cy="384048"/>
          </a:xfrm>
          <a:prstGeom prst="ellipse">
            <a:avLst/>
          </a:prstGeom>
          <a:solidFill>
            <a:srgbClr val="B22234"/>
          </a:solidFill>
          <a:ln w="12700">
            <a:solidFill>
              <a:srgbClr val="B22234"/>
            </a:solidFill>
            <a:prstDash val="solid"/>
          </a:ln>
        </p:spPr>
      </p:sp>
      <p:sp>
        <p:nvSpPr>
          <p:cNvPr id="20" name="Text 17"/>
          <p:cNvSpPr/>
          <p:nvPr/>
        </p:nvSpPr>
        <p:spPr>
          <a:xfrm>
            <a:off x="457200" y="42428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21" name="Text 18"/>
          <p:cNvSpPr/>
          <p:nvPr/>
        </p:nvSpPr>
        <p:spPr>
          <a:xfrm>
            <a:off x="960120" y="4178808"/>
            <a:ext cx="3520440" cy="576072"/>
          </a:xfrm>
          <a:prstGeom prst="rect">
            <a:avLst/>
          </a:prstGeom>
          <a:noFill/>
          <a:ln/>
        </p:spPr>
        <p:txBody>
          <a:bodyPr wrap="square" rtlCol="0" anchor="ctr"/>
          <a:lstStyle/>
          <a:p>
            <a:pPr algn="l" indent="0" marL="0">
              <a:buNone/>
            </a:pPr>
            <a:r>
              <a:rPr lang="en-US" sz="1100" dirty="0">
                <a:solidFill>
                  <a:srgbClr val="333333"/>
                </a:solidFill>
                <a:latin typeface="Arial" pitchFamily="34" charset="0"/>
                <a:ea typeface="Arial" pitchFamily="34" charset="-122"/>
                <a:cs typeface="Arial" pitchFamily="34" charset="-120"/>
              </a:rPr>
              <a:t>For randomized Quick Sort: swap arr[random index] with arr[high] before partitioning.</a:t>
            </a:r>
            <a:endParaRPr lang="en-US" sz="1100" dirty="0"/>
          </a:p>
        </p:txBody>
      </p:sp>
      <p:sp>
        <p:nvSpPr>
          <p:cNvPr id="22" name="Shape 19"/>
          <p:cNvSpPr/>
          <p:nvPr/>
        </p:nvSpPr>
        <p:spPr>
          <a:xfrm>
            <a:off x="4709160" y="960120"/>
            <a:ext cx="4160520" cy="365760"/>
          </a:xfrm>
          <a:prstGeom prst="rect">
            <a:avLst/>
          </a:prstGeom>
          <a:solidFill>
            <a:srgbClr val="1F3864"/>
          </a:solidFill>
          <a:ln w="12700">
            <a:solidFill>
              <a:srgbClr val="1F3864"/>
            </a:solidFill>
            <a:prstDash val="solid"/>
          </a:ln>
        </p:spPr>
      </p:sp>
      <p:sp>
        <p:nvSpPr>
          <p:cNvPr id="23" name="Text 20"/>
          <p:cNvSpPr/>
          <p:nvPr/>
        </p:nvSpPr>
        <p:spPr>
          <a:xfrm>
            <a:off x="4709160" y="960120"/>
            <a:ext cx="41605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Complexity Analysis</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709160" y="1371600"/>
          <a:ext cx="4160520" cy="914400"/>
        </p:xfrm>
        <a:graphic>
          <a:graphicData uri="http://schemas.openxmlformats.org/drawingml/2006/table">
            <a:tbl>
              <a:tblPr/>
              <a:tblGrid>
                <a:gridCol w="1417320"/>
                <a:gridCol w="1508760"/>
                <a:gridCol w="1234440"/>
              </a:tblGrid>
              <a:tr h="347472">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Approach</a:t>
                      </a:r>
                      <a:endParaRPr lang="en-US" sz="1200" dirty="0">
                        <a:latin typeface="Georgia" charset="0"/>
                        <a:ea typeface="Georgia" charset="0"/>
                        <a:cs typeface="Georgia"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864"/>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Time</a:t>
                      </a:r>
                      <a:endParaRPr lang="en-US" sz="1200" dirty="0">
                        <a:latin typeface="Georgia" charset="0"/>
                        <a:ea typeface="Georgia" charset="0"/>
                        <a:cs typeface="Georgia"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864"/>
                    </a:solidFill>
                  </a:tcPr>
                </a:tc>
                <a:tc>
                  <a:txBody>
                    <a:bodyPr/>
                    <a:lstStyle/>
                    <a:p>
                      <a:pPr algn="ctr" indent="0" marL="0">
                        <a:buNone/>
                      </a:pPr>
                      <a:r>
                        <a:rPr lang="en-US" sz="1200" b="1" dirty="0">
                          <a:solidFill>
                            <a:srgbClr val="FFFFFF"/>
                          </a:solidFill>
                          <a:latin typeface="Georgia" pitchFamily="34" charset="0"/>
                          <a:ea typeface="Georgia" pitchFamily="34" charset="-122"/>
                          <a:cs typeface="Georgia" pitchFamily="34" charset="-120"/>
                        </a:rPr>
                        <a:t>Space</a:t>
                      </a:r>
                      <a:endParaRPr lang="en-US" sz="1200" dirty="0">
                        <a:latin typeface="Georgia" charset="0"/>
                        <a:ea typeface="Georgia" charset="0"/>
                        <a:cs typeface="Georgia"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864"/>
                    </a:solidFill>
                  </a:tcPr>
                </a:tc>
              </a:tr>
              <a:tr h="347472">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Best Case</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C5F2D"/>
                          </a:solidFill>
                          <a:latin typeface="Consolas" pitchFamily="34" charset="0"/>
                          <a:ea typeface="Consolas" pitchFamily="34" charset="-122"/>
                          <a:cs typeface="Consolas" pitchFamily="34" charset="-120"/>
                        </a:rPr>
                        <a:t>O(n log n)</a:t>
                      </a:r>
                      <a:endParaRPr lang="en-US" sz="1100" dirty="0">
                        <a:latin typeface="Consolas" charset="0"/>
                        <a:ea typeface="Consolas" charset="0"/>
                        <a:cs typeface="Consolas"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O(log n)</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47472">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Average</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ctr" indent="0" marL="0">
                        <a:buNone/>
                      </a:pPr>
                      <a:r>
                        <a:rPr lang="en-US" sz="1100" b="1" dirty="0">
                          <a:solidFill>
                            <a:srgbClr val="2C5F2D"/>
                          </a:solidFill>
                          <a:latin typeface="Consolas" pitchFamily="34" charset="0"/>
                          <a:ea typeface="Consolas" pitchFamily="34" charset="-122"/>
                          <a:cs typeface="Consolas" pitchFamily="34" charset="-120"/>
                        </a:rPr>
                        <a:t>O(n log n)</a:t>
                      </a:r>
                      <a:endParaRPr lang="en-US" sz="1100" dirty="0">
                        <a:latin typeface="Consolas" charset="0"/>
                        <a:ea typeface="Consolas" charset="0"/>
                        <a:cs typeface="Consolas"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O(log n)</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5F5F5"/>
                    </a:solidFill>
                  </a:tcPr>
                </a:tc>
              </a:tr>
              <a:tr h="347472">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Worst Case</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B22234"/>
                          </a:solidFill>
                          <a:latin typeface="Consolas" pitchFamily="34" charset="0"/>
                          <a:ea typeface="Consolas" pitchFamily="34" charset="-122"/>
                          <a:cs typeface="Consolas" pitchFamily="34" charset="-120"/>
                        </a:rPr>
                        <a:t>O(n²)</a:t>
                      </a:r>
                      <a:endParaRPr lang="en-US" sz="1100" dirty="0">
                        <a:latin typeface="Consolas" charset="0"/>
                        <a:ea typeface="Consolas" charset="0"/>
                        <a:cs typeface="Consolas"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3333"/>
                          </a:solidFill>
                          <a:latin typeface="Arial" pitchFamily="34" charset="0"/>
                          <a:ea typeface="Arial" pitchFamily="34" charset="-122"/>
                          <a:cs typeface="Arial" pitchFamily="34" charset="-120"/>
                        </a:rPr>
                        <a:t>O(n)</a:t>
                      </a:r>
                      <a:endParaRPr lang="en-US" sz="1100" dirty="0">
                        <a:latin typeface="Arial" charset="0"/>
                        <a:ea typeface="Arial" charset="0"/>
                        <a:cs typeface="Arial"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25" name="Shape 21"/>
          <p:cNvSpPr/>
          <p:nvPr/>
        </p:nvSpPr>
        <p:spPr>
          <a:xfrm>
            <a:off x="4709160" y="2834640"/>
            <a:ext cx="4160520" cy="637032"/>
          </a:xfrm>
          <a:prstGeom prst="rect">
            <a:avLst/>
          </a:prstGeom>
          <a:solidFill>
            <a:srgbClr val="FFFFFF"/>
          </a:solidFill>
          <a:ln w="12700">
            <a:solidFill>
              <a:srgbClr val="B22234"/>
            </a:solidFill>
            <a:prstDash val="solid"/>
          </a:ln>
        </p:spPr>
      </p:sp>
      <p:sp>
        <p:nvSpPr>
          <p:cNvPr id="26" name="Shape 22"/>
          <p:cNvSpPr/>
          <p:nvPr/>
        </p:nvSpPr>
        <p:spPr>
          <a:xfrm>
            <a:off x="4709160" y="2834640"/>
            <a:ext cx="64008" cy="637032"/>
          </a:xfrm>
          <a:prstGeom prst="rect">
            <a:avLst/>
          </a:prstGeom>
          <a:solidFill>
            <a:srgbClr val="B22234"/>
          </a:solidFill>
          <a:ln w="12700">
            <a:solidFill>
              <a:srgbClr val="B22234"/>
            </a:solidFill>
            <a:prstDash val="solid"/>
          </a:ln>
        </p:spPr>
      </p:sp>
      <p:sp>
        <p:nvSpPr>
          <p:cNvPr id="27" name="Text 23"/>
          <p:cNvSpPr/>
          <p:nvPr/>
        </p:nvSpPr>
        <p:spPr>
          <a:xfrm>
            <a:off x="4873752" y="2871216"/>
            <a:ext cx="3922776" cy="563880"/>
          </a:xfrm>
          <a:prstGeom prst="rect">
            <a:avLst/>
          </a:prstGeom>
          <a:noFill/>
          <a:ln/>
        </p:spPr>
        <p:txBody>
          <a:bodyPr wrap="square" rtlCol="0" anchor="ctr"/>
          <a:lstStyle/>
          <a:p>
            <a:pPr algn="l" indent="0" marL="0">
              <a:buNone/>
            </a:pPr>
            <a:r>
              <a:rPr lang="en-US" sz="1050" b="1" dirty="0">
                <a:solidFill>
                  <a:srgbClr val="B22234"/>
                </a:solidFill>
                <a:latin typeface="Arial" pitchFamily="34" charset="0"/>
                <a:ea typeface="Arial" pitchFamily="34" charset="-122"/>
                <a:cs typeface="Arial" pitchFamily="34" charset="-120"/>
              </a:rPr>
              <a:t>Worst Case is Avoidable: </a:t>
            </a:r>
            <a:pPr algn="l" indent="0" marL="0">
              <a:buNone/>
            </a:pPr>
            <a:r>
              <a:rPr lang="en-US" sz="1050" dirty="0">
                <a:solidFill>
                  <a:srgbClr val="333333"/>
                </a:solidFill>
                <a:latin typeface="Arial" pitchFamily="34" charset="0"/>
                <a:ea typeface="Arial" pitchFamily="34" charset="-122"/>
                <a:cs typeface="Arial" pitchFamily="34" charset="-120"/>
              </a:rPr>
              <a:t>Worst case O(n²) occurs on already-sorted input with naive pivot. Randomized pivot or median-of-three brings expected time back to O(n log n).</a:t>
            </a:r>
            <a:endParaRPr lang="en-US" sz="1050" dirty="0"/>
          </a:p>
        </p:txBody>
      </p:sp>
      <p:sp>
        <p:nvSpPr>
          <p:cNvPr id="28" name="Shape 24"/>
          <p:cNvSpPr/>
          <p:nvPr/>
        </p:nvSpPr>
        <p:spPr>
          <a:xfrm>
            <a:off x="4709160" y="3544824"/>
            <a:ext cx="4160520" cy="637032"/>
          </a:xfrm>
          <a:prstGeom prst="rect">
            <a:avLst/>
          </a:prstGeom>
          <a:solidFill>
            <a:srgbClr val="FFFFFF"/>
          </a:solidFill>
          <a:ln w="12700">
            <a:solidFill>
              <a:srgbClr val="2C5F2D"/>
            </a:solidFill>
            <a:prstDash val="solid"/>
          </a:ln>
        </p:spPr>
      </p:sp>
      <p:sp>
        <p:nvSpPr>
          <p:cNvPr id="29" name="Shape 25"/>
          <p:cNvSpPr/>
          <p:nvPr/>
        </p:nvSpPr>
        <p:spPr>
          <a:xfrm>
            <a:off x="4709160" y="3544824"/>
            <a:ext cx="64008" cy="637032"/>
          </a:xfrm>
          <a:prstGeom prst="rect">
            <a:avLst/>
          </a:prstGeom>
          <a:solidFill>
            <a:srgbClr val="2C5F2D"/>
          </a:solidFill>
          <a:ln w="12700">
            <a:solidFill>
              <a:srgbClr val="2C5F2D"/>
            </a:solidFill>
            <a:prstDash val="solid"/>
          </a:ln>
        </p:spPr>
      </p:sp>
      <p:sp>
        <p:nvSpPr>
          <p:cNvPr id="30" name="Text 26"/>
          <p:cNvSpPr/>
          <p:nvPr/>
        </p:nvSpPr>
        <p:spPr>
          <a:xfrm>
            <a:off x="4873752" y="3581400"/>
            <a:ext cx="3922776" cy="563880"/>
          </a:xfrm>
          <a:prstGeom prst="rect">
            <a:avLst/>
          </a:prstGeom>
          <a:noFill/>
          <a:ln/>
        </p:spPr>
        <p:txBody>
          <a:bodyPr wrap="square" rtlCol="0" anchor="ctr"/>
          <a:lstStyle/>
          <a:p>
            <a:pPr algn="l" indent="0" marL="0">
              <a:buNone/>
            </a:pPr>
            <a:r>
              <a:rPr lang="en-US" sz="1050" b="1" dirty="0">
                <a:solidFill>
                  <a:srgbClr val="2C5F2D"/>
                </a:solidFill>
                <a:latin typeface="Arial" pitchFamily="34" charset="0"/>
                <a:ea typeface="Arial" pitchFamily="34" charset="-122"/>
                <a:cs typeface="Arial" pitchFamily="34" charset="-120"/>
              </a:rPr>
              <a:t>In-Place but Not Stable: </a:t>
            </a:r>
            <a:pPr algn="l" indent="0" marL="0">
              <a:buNone/>
            </a:pPr>
            <a:r>
              <a:rPr lang="en-US" sz="1050" dirty="0">
                <a:solidFill>
                  <a:srgbClr val="333333"/>
                </a:solidFill>
                <a:latin typeface="Arial" pitchFamily="34" charset="0"/>
                <a:ea typeface="Arial" pitchFamily="34" charset="-122"/>
                <a:cs typeface="Arial" pitchFamily="34" charset="-120"/>
              </a:rPr>
              <a:t>Quick Sort sorts in-place with only O(log n) stack but may reorder equal elements. Use Merge Sort when stability matters.</a:t>
            </a:r>
            <a:endParaRPr lang="en-US" sz="1050" dirty="0"/>
          </a:p>
        </p:txBody>
      </p:sp>
      <p:sp>
        <p:nvSpPr>
          <p:cNvPr id="31" name="Shape 27"/>
          <p:cNvSpPr/>
          <p:nvPr/>
        </p:nvSpPr>
        <p:spPr>
          <a:xfrm>
            <a:off x="4709160" y="4255008"/>
            <a:ext cx="4160520" cy="637032"/>
          </a:xfrm>
          <a:prstGeom prst="rect">
            <a:avLst/>
          </a:prstGeom>
          <a:solidFill>
            <a:srgbClr val="FFFFFF"/>
          </a:solidFill>
          <a:ln w="12700">
            <a:solidFill>
              <a:srgbClr val="1F3864"/>
            </a:solidFill>
            <a:prstDash val="solid"/>
          </a:ln>
        </p:spPr>
      </p:sp>
      <p:sp>
        <p:nvSpPr>
          <p:cNvPr id="32" name="Shape 28"/>
          <p:cNvSpPr/>
          <p:nvPr/>
        </p:nvSpPr>
        <p:spPr>
          <a:xfrm>
            <a:off x="4709160" y="4255008"/>
            <a:ext cx="64008" cy="637032"/>
          </a:xfrm>
          <a:prstGeom prst="rect">
            <a:avLst/>
          </a:prstGeom>
          <a:solidFill>
            <a:srgbClr val="1F3864"/>
          </a:solidFill>
          <a:ln w="12700">
            <a:solidFill>
              <a:srgbClr val="1F3864"/>
            </a:solidFill>
            <a:prstDash val="solid"/>
          </a:ln>
        </p:spPr>
      </p:sp>
      <p:sp>
        <p:nvSpPr>
          <p:cNvPr id="33" name="Text 29"/>
          <p:cNvSpPr/>
          <p:nvPr/>
        </p:nvSpPr>
        <p:spPr>
          <a:xfrm>
            <a:off x="4873752" y="4291584"/>
            <a:ext cx="3922776" cy="563880"/>
          </a:xfrm>
          <a:prstGeom prst="rect">
            <a:avLst/>
          </a:prstGeom>
          <a:noFill/>
          <a:ln/>
        </p:spPr>
        <p:txBody>
          <a:bodyPr wrap="square" rtlCol="0" anchor="ctr"/>
          <a:lstStyle/>
          <a:p>
            <a:pPr algn="l" indent="0" marL="0">
              <a:buNone/>
            </a:pPr>
            <a:r>
              <a:rPr lang="en-US" sz="1050" b="1" dirty="0">
                <a:solidFill>
                  <a:srgbClr val="1F3864"/>
                </a:solidFill>
                <a:latin typeface="Arial" pitchFamily="34" charset="0"/>
                <a:ea typeface="Arial" pitchFamily="34" charset="-122"/>
                <a:cs typeface="Arial" pitchFamily="34" charset="-120"/>
              </a:rPr>
              <a:t>Why It Wins in Practice: </a:t>
            </a:r>
            <a:pPr algn="l" indent="0" marL="0">
              <a:buNone/>
            </a:pPr>
            <a:r>
              <a:rPr lang="en-US" sz="1050" dirty="0">
                <a:solidFill>
                  <a:srgbClr val="333333"/>
                </a:solidFill>
                <a:latin typeface="Arial" pitchFamily="34" charset="0"/>
                <a:ea typeface="Arial" pitchFamily="34" charset="-122"/>
                <a:cs typeface="Arial" pitchFamily="34" charset="-120"/>
              </a:rPr>
              <a:t>Excellent cache performance, low constant factor, and tunable recursion make Quick Sort the default in most standard libraries.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Pseudocode</a:t>
            </a:r>
            <a:endParaRPr lang="en-US" sz="2800" dirty="0"/>
          </a:p>
        </p:txBody>
      </p:sp>
      <p:sp>
        <p:nvSpPr>
          <p:cNvPr id="4" name="Shape 1"/>
          <p:cNvSpPr/>
          <p:nvPr/>
        </p:nvSpPr>
        <p:spPr>
          <a:xfrm>
            <a:off x="274320" y="960120"/>
            <a:ext cx="4160520" cy="3977640"/>
          </a:xfrm>
          <a:prstGeom prst="rect">
            <a:avLst/>
          </a:prstGeom>
          <a:solidFill>
            <a:srgbClr val="111827"/>
          </a:solidFill>
          <a:ln w="12700">
            <a:solidFill>
              <a:srgbClr val="111827"/>
            </a:solidFill>
            <a:prstDash val="solid"/>
          </a:ln>
        </p:spPr>
      </p:sp>
      <p:sp>
        <p:nvSpPr>
          <p:cNvPr id="5" name="Shape 2"/>
          <p:cNvSpPr/>
          <p:nvPr/>
        </p:nvSpPr>
        <p:spPr>
          <a:xfrm>
            <a:off x="274320" y="960120"/>
            <a:ext cx="4160520" cy="365760"/>
          </a:xfrm>
          <a:prstGeom prst="rect">
            <a:avLst/>
          </a:prstGeom>
          <a:solidFill>
            <a:srgbClr val="B22234"/>
          </a:solidFill>
          <a:ln w="12700">
            <a:solidFill>
              <a:srgbClr val="B22234"/>
            </a:solidFill>
            <a:prstDash val="solid"/>
          </a:ln>
        </p:spPr>
      </p:sp>
      <p:sp>
        <p:nvSpPr>
          <p:cNvPr id="6" name="Text 3"/>
          <p:cNvSpPr/>
          <p:nvPr/>
        </p:nvSpPr>
        <p:spPr>
          <a:xfrm>
            <a:off x="274320" y="960120"/>
            <a:ext cx="41605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Quick Sort  —  Divide &amp; Conquer</a:t>
            </a:r>
            <a:endParaRPr lang="en-US" sz="1300" dirty="0"/>
          </a:p>
        </p:txBody>
      </p:sp>
      <p:sp>
        <p:nvSpPr>
          <p:cNvPr id="7" name="Text 4"/>
          <p:cNvSpPr/>
          <p:nvPr/>
        </p:nvSpPr>
        <p:spPr>
          <a:xfrm>
            <a:off x="411480" y="1417320"/>
            <a:ext cx="3886200" cy="3429000"/>
          </a:xfrm>
          <a:prstGeom prst="rect">
            <a:avLst/>
          </a:prstGeom>
          <a:noFill/>
          <a:ln/>
        </p:spPr>
        <p:txBody>
          <a:bodyPr wrap="square" rtlCol="0" anchor="t"/>
          <a:lstStyle/>
          <a:p>
            <a:pPr algn="l" indent="0" marL="0">
              <a:buNone/>
            </a:pPr>
            <a:pPr algn="l" indent="0" marL="0">
              <a:buNone/>
            </a:pPr>
            <a:r>
              <a:rPr lang="en-US" sz="950" b="1" dirty="0">
                <a:solidFill>
                  <a:srgbClr val="60A5FA"/>
                </a:solidFill>
                <a:latin typeface="Consolas" pitchFamily="34" charset="0"/>
                <a:ea typeface="Consolas" pitchFamily="34" charset="-122"/>
                <a:cs typeface="Consolas" pitchFamily="34" charset="-120"/>
              </a:rPr>
              <a:t>function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quickSort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arr</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low</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high</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if</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low</a:t>
            </a:r>
            <a:pPr algn="l" indent="0" marL="0">
              <a:buNone/>
            </a:pPr>
            <a:r>
              <a:rPr lang="en-US" sz="950" dirty="0">
                <a:solidFill>
                  <a:srgbClr val="E5E7EB"/>
                </a:solidFill>
                <a:latin typeface="Consolas" pitchFamily="34" charset="0"/>
                <a:ea typeface="Consolas" pitchFamily="34" charset="-122"/>
                <a:cs typeface="Consolas" pitchFamily="34" charset="-120"/>
              </a:rPr>
              <a:t> &lt; </a:t>
            </a:r>
            <a:pPr algn="l" indent="0" marL="0">
              <a:buNone/>
            </a:pPr>
            <a:r>
              <a:rPr lang="en-US" sz="950" dirty="0">
                <a:solidFill>
                  <a:srgbClr val="E5E7EB"/>
                </a:solidFill>
                <a:latin typeface="Consolas" pitchFamily="34" charset="0"/>
                <a:ea typeface="Consolas" pitchFamily="34" charset="-122"/>
                <a:cs typeface="Consolas" pitchFamily="34" charset="-120"/>
              </a:rPr>
              <a:t>high</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pi</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partition</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arr</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low</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high</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quickSort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arr</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low</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pi</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1</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quickSort</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arr</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pi</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1</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high</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Trace for [5, 2, 3, 1]:</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Initial:   pivot = 1   low=0 high=3</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No element &lt;= 1 except 1 itself</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 partition index = 0</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left:  []      right: [5, 2, 3]</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Sub-array [5, 2, 3]: pivot = 3</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2 &lt;= 3 → swap to front</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 partition index = 2 (pivot at index 2)</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left: [2]   right: [5]</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Final: [1, 2, 3, 5]</a:t>
            </a:r>
            <a:endParaRPr lang="en-US" sz="950" dirty="0"/>
          </a:p>
        </p:txBody>
      </p:sp>
      <p:sp>
        <p:nvSpPr>
          <p:cNvPr id="8" name="Shape 5"/>
          <p:cNvSpPr/>
          <p:nvPr/>
        </p:nvSpPr>
        <p:spPr>
          <a:xfrm>
            <a:off x="4709160" y="960120"/>
            <a:ext cx="4160520" cy="3977640"/>
          </a:xfrm>
          <a:prstGeom prst="rect">
            <a:avLst/>
          </a:prstGeom>
          <a:solidFill>
            <a:srgbClr val="111827"/>
          </a:solidFill>
          <a:ln w="12700">
            <a:solidFill>
              <a:srgbClr val="111827"/>
            </a:solidFill>
            <a:prstDash val="solid"/>
          </a:ln>
        </p:spPr>
      </p:sp>
      <p:sp>
        <p:nvSpPr>
          <p:cNvPr id="9" name="Shape 6"/>
          <p:cNvSpPr/>
          <p:nvPr/>
        </p:nvSpPr>
        <p:spPr>
          <a:xfrm>
            <a:off x="4709160" y="960120"/>
            <a:ext cx="4160520" cy="365760"/>
          </a:xfrm>
          <a:prstGeom prst="rect">
            <a:avLst/>
          </a:prstGeom>
          <a:solidFill>
            <a:srgbClr val="1F3864"/>
          </a:solidFill>
          <a:ln w="12700">
            <a:solidFill>
              <a:srgbClr val="1F3864"/>
            </a:solidFill>
            <a:prstDash val="solid"/>
          </a:ln>
        </p:spPr>
      </p:sp>
      <p:sp>
        <p:nvSpPr>
          <p:cNvPr id="10" name="Text 7"/>
          <p:cNvSpPr/>
          <p:nvPr/>
        </p:nvSpPr>
        <p:spPr>
          <a:xfrm>
            <a:off x="4709160" y="960120"/>
            <a:ext cx="41605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Lomuto Partition  —  O(n)</a:t>
            </a:r>
            <a:endParaRPr lang="en-US" sz="1300" dirty="0"/>
          </a:p>
        </p:txBody>
      </p:sp>
      <p:sp>
        <p:nvSpPr>
          <p:cNvPr id="11" name="Text 8"/>
          <p:cNvSpPr/>
          <p:nvPr/>
        </p:nvSpPr>
        <p:spPr>
          <a:xfrm>
            <a:off x="4846320" y="1417320"/>
            <a:ext cx="3886200" cy="3429000"/>
          </a:xfrm>
          <a:prstGeom prst="rect">
            <a:avLst/>
          </a:prstGeom>
          <a:noFill/>
          <a:ln/>
        </p:spPr>
        <p:txBody>
          <a:bodyPr wrap="square" rtlCol="0" anchor="t"/>
          <a:lstStyle/>
          <a:p>
            <a:pPr algn="l" indent="0" marL="0">
              <a:buNone/>
            </a:pPr>
            <a:pPr algn="l" indent="0" marL="0">
              <a:buNone/>
            </a:pPr>
            <a:r>
              <a:rPr lang="en-US" sz="950" b="1" dirty="0">
                <a:solidFill>
                  <a:srgbClr val="60A5FA"/>
                </a:solidFill>
                <a:latin typeface="Consolas" pitchFamily="34" charset="0"/>
                <a:ea typeface="Consolas" pitchFamily="34" charset="-122"/>
                <a:cs typeface="Consolas" pitchFamily="34" charset="-120"/>
              </a:rPr>
              <a:t>function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partition</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arr</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low</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high</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pivot</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arr</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high</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i</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low</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1</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9CA3AF"/>
                </a:solidFill>
                <a:latin typeface="Consolas" pitchFamily="34" charset="0"/>
                <a:ea typeface="Consolas" pitchFamily="34" charset="-122"/>
                <a:cs typeface="Consolas" pitchFamily="34" charset="-120"/>
              </a:rPr>
              <a:t>// boundary of &lt;= pivot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for</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j</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from</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low</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to</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high</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1</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if</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arr</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j</a:t>
            </a:r>
            <a:pPr algn="l" indent="0" marL="0">
              <a:buNone/>
            </a:pPr>
            <a:r>
              <a:rPr lang="en-US" sz="950" dirty="0">
                <a:solidFill>
                  <a:srgbClr val="E5E7EB"/>
                </a:solidFill>
                <a:latin typeface="Consolas" pitchFamily="34" charset="0"/>
                <a:ea typeface="Consolas" pitchFamily="34" charset="-122"/>
                <a:cs typeface="Consolas" pitchFamily="34" charset="-120"/>
              </a:rPr>
              <a:t>] &lt;= </a:t>
            </a:r>
            <a:pPr algn="l" indent="0" marL="0">
              <a:buNone/>
            </a:pPr>
            <a:r>
              <a:rPr lang="en-US" sz="950" dirty="0">
                <a:solidFill>
                  <a:srgbClr val="E5E7EB"/>
                </a:solidFill>
                <a:latin typeface="Consolas" pitchFamily="34" charset="0"/>
                <a:ea typeface="Consolas" pitchFamily="34" charset="-122"/>
                <a:cs typeface="Consolas" pitchFamily="34" charset="-120"/>
              </a:rPr>
              <a:t>pivot</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i</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i</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1</a:t>
            </a:r>
            <a:pPr algn="l" indent="0" marL="0">
              <a:buNone/>
            </a:pP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swap</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arr</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i</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arr</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j</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swap</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arr</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i</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1</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arr</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high</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9CA3AF"/>
                </a:solidFill>
                <a:latin typeface="Consolas" pitchFamily="34" charset="0"/>
                <a:ea typeface="Consolas" pitchFamily="34" charset="-122"/>
                <a:cs typeface="Consolas" pitchFamily="34" charset="-120"/>
              </a:rPr>
              <a:t>// place pivot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return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i</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1</a:t>
            </a:r>
            <a:pPr algn="l" indent="0" marL="0">
              <a:buNone/>
            </a:pP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endParaRPr lang="en-US" sz="950" dirty="0"/>
          </a:p>
          <a:p>
            <a:pPr algn="l" indent="0" marL="0">
              <a:buNone/>
            </a:pPr>
            <a:r>
              <a:rPr lang="en-US" sz="950" dirty="0">
                <a:solidFill>
                  <a:srgbClr val="9CA3AF"/>
                </a:solidFill>
                <a:latin typeface="Consolas" pitchFamily="34" charset="0"/>
                <a:ea typeface="Consolas" pitchFamily="34" charset="-122"/>
                <a:cs typeface="Consolas" pitchFamily="34" charset="-120"/>
              </a:rPr>
              <a:t>// Randomized variant:</a:t>
            </a:r>
            <a:endParaRPr lang="en-US" sz="950" dirty="0"/>
          </a:p>
          <a:p>
            <a:pPr algn="l" indent="0" marL="0">
              <a:buNone/>
            </a:pPr>
            <a:pPr algn="l" indent="0" marL="0">
              <a:buNone/>
            </a:pPr>
            <a:r>
              <a:rPr lang="en-US" sz="950" b="1" dirty="0">
                <a:solidFill>
                  <a:srgbClr val="60A5FA"/>
                </a:solidFill>
                <a:latin typeface="Consolas" pitchFamily="34" charset="0"/>
                <a:ea typeface="Consolas" pitchFamily="34" charset="-122"/>
                <a:cs typeface="Consolas" pitchFamily="34" charset="-120"/>
              </a:rPr>
              <a:t>function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randomPartition</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arr</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low</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high</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r</a:t>
            </a:r>
            <a:pPr algn="l" indent="0" marL="0">
              <a:buNone/>
            </a:pPr>
            <a:r>
              <a:rPr lang="en-US" sz="950" dirty="0">
                <a:solidFill>
                  <a:srgbClr val="E5E7EB"/>
                </a:solidFill>
                <a:latin typeface="Consolas" pitchFamily="34" charset="0"/>
                <a:ea typeface="Consolas" pitchFamily="34" charset="-122"/>
                <a:cs typeface="Consolas" pitchFamily="34" charset="-120"/>
              </a:rPr>
              <a:t> = </a:t>
            </a:r>
            <a:pPr algn="l" indent="0" marL="0">
              <a:buNone/>
            </a:pPr>
            <a:r>
              <a:rPr lang="en-US" sz="950" dirty="0">
                <a:solidFill>
                  <a:srgbClr val="E5E7EB"/>
                </a:solidFill>
                <a:latin typeface="Consolas" pitchFamily="34" charset="0"/>
                <a:ea typeface="Consolas" pitchFamily="34" charset="-122"/>
                <a:cs typeface="Consolas" pitchFamily="34" charset="-120"/>
              </a:rPr>
              <a:t>random</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integer</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in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low</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high</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swap</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arr</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r</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arr</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high</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b="1" dirty="0">
                <a:solidFill>
                  <a:srgbClr val="60A5FA"/>
                </a:solidFill>
                <a:latin typeface="Consolas" pitchFamily="34" charset="0"/>
                <a:ea typeface="Consolas" pitchFamily="34" charset="-122"/>
                <a:cs typeface="Consolas" pitchFamily="34" charset="-120"/>
              </a:rPr>
              <a:t>return</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partition</a:t>
            </a:r>
            <a:pPr algn="l" indent="0" marL="0">
              <a:buNone/>
            </a:pPr>
            <a:r>
              <a:rPr lang="en-US" sz="950" dirty="0">
                <a:solidFill>
                  <a:srgbClr val="E5E7EB"/>
                </a:solidFill>
                <a:latin typeface="Consolas" pitchFamily="34" charset="0"/>
                <a:ea typeface="Consolas" pitchFamily="34" charset="-122"/>
                <a:cs typeface="Consolas" pitchFamily="34" charset="-120"/>
              </a:rPr>
              <a:t>(</a:t>
            </a:r>
            <a:pPr algn="l" indent="0" marL="0">
              <a:buNone/>
            </a:pPr>
            <a:r>
              <a:rPr lang="en-US" sz="950" dirty="0">
                <a:solidFill>
                  <a:srgbClr val="E5E7EB"/>
                </a:solidFill>
                <a:latin typeface="Consolas" pitchFamily="34" charset="0"/>
                <a:ea typeface="Consolas" pitchFamily="34" charset="-122"/>
                <a:cs typeface="Consolas" pitchFamily="34" charset="-120"/>
              </a:rPr>
              <a:t>arr</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low</a:t>
            </a:r>
            <a:pPr algn="l" indent="0" marL="0">
              <a:buNone/>
            </a:pPr>
            <a:r>
              <a:rPr lang="en-US" sz="950" dirty="0">
                <a:solidFill>
                  <a:srgbClr val="E5E7EB"/>
                </a:solidFill>
                <a:latin typeface="Consolas" pitchFamily="34" charset="0"/>
                <a:ea typeface="Consolas" pitchFamily="34" charset="-122"/>
                <a:cs typeface="Consolas" pitchFamily="34" charset="-120"/>
              </a:rPr>
              <a:t>, </a:t>
            </a:r>
            <a:pPr algn="l" indent="0" marL="0">
              <a:buNone/>
            </a:pPr>
            <a:r>
              <a:rPr lang="en-US" sz="950" dirty="0">
                <a:solidFill>
                  <a:srgbClr val="E5E7EB"/>
                </a:solidFill>
                <a:latin typeface="Consolas" pitchFamily="34" charset="0"/>
                <a:ea typeface="Consolas" pitchFamily="34" charset="-122"/>
                <a:cs typeface="Consolas" pitchFamily="34" charset="-120"/>
              </a:rPr>
              <a:t>high</a:t>
            </a:r>
            <a:pPr algn="l" indent="0" marL="0">
              <a:buNone/>
            </a:pPr>
            <a:r>
              <a:rPr lang="en-US" sz="950" dirty="0">
                <a:solidFill>
                  <a:srgbClr val="E5E7EB"/>
                </a:solidFill>
                <a:latin typeface="Consolas" pitchFamily="34" charset="0"/>
                <a:ea typeface="Consolas" pitchFamily="34" charset="-122"/>
                <a:cs typeface="Consolas" pitchFamily="34" charset="-120"/>
              </a:rPr>
              <a: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Code Implementation</a:t>
            </a:r>
            <a:endParaRPr lang="en-US" sz="2800" dirty="0"/>
          </a:p>
        </p:txBody>
      </p:sp>
      <p:sp>
        <p:nvSpPr>
          <p:cNvPr id="4" name="Shape 1"/>
          <p:cNvSpPr/>
          <p:nvPr/>
        </p:nvSpPr>
        <p:spPr>
          <a:xfrm>
            <a:off x="274320" y="960120"/>
            <a:ext cx="2834640" cy="3977640"/>
          </a:xfrm>
          <a:prstGeom prst="rect">
            <a:avLst/>
          </a:prstGeom>
          <a:solidFill>
            <a:srgbClr val="111827"/>
          </a:solidFill>
          <a:ln w="12700">
            <a:solidFill>
              <a:srgbClr val="111827"/>
            </a:solidFill>
            <a:prstDash val="solid"/>
          </a:ln>
        </p:spPr>
      </p:sp>
      <p:sp>
        <p:nvSpPr>
          <p:cNvPr id="5" name="Shape 2"/>
          <p:cNvSpPr/>
          <p:nvPr/>
        </p:nvSpPr>
        <p:spPr>
          <a:xfrm>
            <a:off x="274320" y="960120"/>
            <a:ext cx="2834640" cy="365760"/>
          </a:xfrm>
          <a:prstGeom prst="rect">
            <a:avLst/>
          </a:prstGeom>
          <a:solidFill>
            <a:srgbClr val="1F3864"/>
          </a:solidFill>
          <a:ln w="12700">
            <a:solidFill>
              <a:srgbClr val="1F3864"/>
            </a:solidFill>
            <a:prstDash val="solid"/>
          </a:ln>
        </p:spPr>
      </p:sp>
      <p:sp>
        <p:nvSpPr>
          <p:cNvPr id="6" name="Text 3"/>
          <p:cNvSpPr/>
          <p:nvPr/>
        </p:nvSpPr>
        <p:spPr>
          <a:xfrm>
            <a:off x="274320" y="960120"/>
            <a:ext cx="2834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C++</a:t>
            </a:r>
            <a:endParaRPr lang="en-US" sz="1200" dirty="0"/>
          </a:p>
        </p:txBody>
      </p:sp>
      <p:sp>
        <p:nvSpPr>
          <p:cNvPr id="7" name="Text 4"/>
          <p:cNvSpPr/>
          <p:nvPr/>
        </p:nvSpPr>
        <p:spPr>
          <a:xfrm>
            <a:off x="365760" y="1399032"/>
            <a:ext cx="2651760" cy="3465576"/>
          </a:xfrm>
          <a:prstGeom prst="rect">
            <a:avLst/>
          </a:prstGeom>
          <a:noFill/>
          <a:ln/>
        </p:spPr>
        <p:txBody>
          <a:bodyPr wrap="square" rtlCol="0" anchor="t"/>
          <a:lstStyle/>
          <a:p>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include</a:t>
            </a:r>
            <a:pPr algn="l" indent="0" marL="0">
              <a:buNone/>
            </a:pPr>
            <a:r>
              <a:rPr lang="en-US" sz="850" dirty="0">
                <a:solidFill>
                  <a:srgbClr val="E5E7EB"/>
                </a:solidFill>
                <a:latin typeface="Consolas" pitchFamily="34" charset="0"/>
                <a:ea typeface="Consolas" pitchFamily="34" charset="-122"/>
                <a:cs typeface="Consolas" pitchFamily="34" charset="-120"/>
              </a:rPr>
              <a:t> &lt;</a:t>
            </a:r>
            <a:pPr algn="l" indent="0" marL="0">
              <a:buNone/>
            </a:pPr>
            <a:r>
              <a:rPr lang="en-US" sz="850" dirty="0">
                <a:solidFill>
                  <a:srgbClr val="E5E7EB"/>
                </a:solidFill>
                <a:latin typeface="Consolas" pitchFamily="34" charset="0"/>
                <a:ea typeface="Consolas" pitchFamily="34" charset="-122"/>
                <a:cs typeface="Consolas" pitchFamily="34" charset="-120"/>
              </a:rPr>
              <a:t>vector</a:t>
            </a:r>
            <a:pPr algn="l" indent="0" marL="0">
              <a:buNone/>
            </a:pPr>
            <a:r>
              <a:rPr lang="en-US" sz="850" dirty="0">
                <a:solidFill>
                  <a:srgbClr val="E5E7EB"/>
                </a:solidFill>
                <a:latin typeface="Consolas" pitchFamily="34" charset="0"/>
                <a:ea typeface="Consolas" pitchFamily="34" charset="-122"/>
                <a:cs typeface="Consolas" pitchFamily="34" charset="-120"/>
              </a:rPr>
              <a:t>&gt;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include</a:t>
            </a:r>
            <a:pPr algn="l" indent="0" marL="0">
              <a:buNone/>
            </a:pPr>
            <a:r>
              <a:rPr lang="en-US" sz="850" dirty="0">
                <a:solidFill>
                  <a:srgbClr val="E5E7EB"/>
                </a:solidFill>
                <a:latin typeface="Consolas" pitchFamily="34" charset="0"/>
                <a:ea typeface="Consolas" pitchFamily="34" charset="-122"/>
                <a:cs typeface="Consolas" pitchFamily="34" charset="-120"/>
              </a:rPr>
              <a:t> &lt;</a:t>
            </a:r>
            <a:pPr algn="l" indent="0" marL="0">
              <a:buNone/>
            </a:pPr>
            <a:r>
              <a:rPr lang="en-US" sz="850" dirty="0">
                <a:solidFill>
                  <a:srgbClr val="E5E7EB"/>
                </a:solidFill>
                <a:latin typeface="Consolas" pitchFamily="34" charset="0"/>
                <a:ea typeface="Consolas" pitchFamily="34" charset="-122"/>
                <a:cs typeface="Consolas" pitchFamily="34" charset="-120"/>
              </a:rPr>
              <a:t>cstdlib</a:t>
            </a:r>
            <a:pPr algn="l" indent="0" marL="0">
              <a:buNone/>
            </a:pPr>
            <a:r>
              <a:rPr lang="en-US" sz="850" dirty="0">
                <a:solidFill>
                  <a:srgbClr val="E5E7EB"/>
                </a:solidFill>
                <a:latin typeface="Consolas" pitchFamily="34" charset="0"/>
                <a:ea typeface="Consolas" pitchFamily="34" charset="-122"/>
                <a:cs typeface="Consolas" pitchFamily="34" charset="-120"/>
              </a:rPr>
              <a:t>&gt;</a:t>
            </a:r>
            <a:endParaRPr lang="en-US" sz="850" dirty="0"/>
          </a:p>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using</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namespace</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std</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class</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Solution</a:t>
            </a:r>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public</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partition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vector</a:t>
            </a:r>
            <a:pPr algn="l" indent="0" marL="0">
              <a:buNone/>
            </a:pPr>
            <a:r>
              <a:rPr lang="en-US" sz="850" dirty="0">
                <a:solidFill>
                  <a:srgbClr val="E5E7EB"/>
                </a:solidFill>
                <a:latin typeface="Consolas" pitchFamily="34" charset="0"/>
                <a:ea typeface="Consolas" pitchFamily="34" charset="-122"/>
                <a:cs typeface="Consolas" pitchFamily="34" charset="-120"/>
              </a:rPr>
              <a:t>&lt;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&gt;&amp;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pivot</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for</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pivot</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swap</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swap</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void</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quickSort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vector</a:t>
            </a:r>
            <a:pPr algn="l" indent="0" marL="0">
              <a:buNone/>
            </a:pPr>
            <a:r>
              <a:rPr lang="en-US" sz="850" dirty="0">
                <a:solidFill>
                  <a:srgbClr val="E5E7EB"/>
                </a:solidFill>
                <a:latin typeface="Consolas" pitchFamily="34" charset="0"/>
                <a:ea typeface="Consolas" pitchFamily="34" charset="-122"/>
                <a:cs typeface="Consolas" pitchFamily="34" charset="-120"/>
              </a:rPr>
              <a:t>&lt;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&gt;&amp;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rand</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swap</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pi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partition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quickSort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pi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quickSort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pi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vector</a:t>
            </a:r>
            <a:pPr algn="l" indent="0" marL="0">
              <a:buNone/>
            </a:pPr>
            <a:r>
              <a:rPr lang="en-US" sz="850" dirty="0">
                <a:solidFill>
                  <a:srgbClr val="E5E7EB"/>
                </a:solidFill>
                <a:latin typeface="Consolas" pitchFamily="34" charset="0"/>
                <a:ea typeface="Consolas" pitchFamily="34" charset="-122"/>
                <a:cs typeface="Consolas" pitchFamily="34" charset="-120"/>
              </a:rPr>
              <a:t>&lt;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&gt; </a:t>
            </a:r>
            <a:pPr algn="l" indent="0" marL="0">
              <a:buNone/>
            </a:pPr>
            <a:r>
              <a:rPr lang="en-US" sz="850" dirty="0">
                <a:solidFill>
                  <a:srgbClr val="E5E7EB"/>
                </a:solidFill>
                <a:latin typeface="Consolas" pitchFamily="34" charset="0"/>
                <a:ea typeface="Consolas" pitchFamily="34" charset="-122"/>
                <a:cs typeface="Consolas" pitchFamily="34" charset="-120"/>
              </a:rPr>
              <a:t>sortArray</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vector</a:t>
            </a:r>
            <a:pPr algn="l" indent="0" marL="0">
              <a:buNone/>
            </a:pPr>
            <a:r>
              <a:rPr lang="en-US" sz="850" dirty="0">
                <a:solidFill>
                  <a:srgbClr val="E5E7EB"/>
                </a:solidFill>
                <a:latin typeface="Consolas" pitchFamily="34" charset="0"/>
                <a:ea typeface="Consolas" pitchFamily="34" charset="-122"/>
                <a:cs typeface="Consolas" pitchFamily="34" charset="-120"/>
              </a:rPr>
              <a:t>&lt;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&gt;&amp;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quickSort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size</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p:txBody>
      </p:sp>
      <p:sp>
        <p:nvSpPr>
          <p:cNvPr id="8" name="Shape 5"/>
          <p:cNvSpPr/>
          <p:nvPr/>
        </p:nvSpPr>
        <p:spPr>
          <a:xfrm>
            <a:off x="3182112" y="960120"/>
            <a:ext cx="2834640" cy="3977640"/>
          </a:xfrm>
          <a:prstGeom prst="rect">
            <a:avLst/>
          </a:prstGeom>
          <a:solidFill>
            <a:srgbClr val="111827"/>
          </a:solidFill>
          <a:ln w="12700">
            <a:solidFill>
              <a:srgbClr val="111827"/>
            </a:solidFill>
            <a:prstDash val="solid"/>
          </a:ln>
        </p:spPr>
      </p:sp>
      <p:sp>
        <p:nvSpPr>
          <p:cNvPr id="9" name="Shape 6"/>
          <p:cNvSpPr/>
          <p:nvPr/>
        </p:nvSpPr>
        <p:spPr>
          <a:xfrm>
            <a:off x="3182112" y="960120"/>
            <a:ext cx="2834640" cy="365760"/>
          </a:xfrm>
          <a:prstGeom prst="rect">
            <a:avLst/>
          </a:prstGeom>
          <a:solidFill>
            <a:srgbClr val="2C5F2D"/>
          </a:solidFill>
          <a:ln w="12700">
            <a:solidFill>
              <a:srgbClr val="2C5F2D"/>
            </a:solidFill>
            <a:prstDash val="solid"/>
          </a:ln>
        </p:spPr>
      </p:sp>
      <p:sp>
        <p:nvSpPr>
          <p:cNvPr id="10" name="Text 7"/>
          <p:cNvSpPr/>
          <p:nvPr/>
        </p:nvSpPr>
        <p:spPr>
          <a:xfrm>
            <a:off x="3182112" y="960120"/>
            <a:ext cx="2834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Java  (Functional Style)</a:t>
            </a:r>
            <a:endParaRPr lang="en-US" sz="1200" dirty="0"/>
          </a:p>
        </p:txBody>
      </p:sp>
      <p:sp>
        <p:nvSpPr>
          <p:cNvPr id="11" name="Text 8"/>
          <p:cNvSpPr/>
          <p:nvPr/>
        </p:nvSpPr>
        <p:spPr>
          <a:xfrm>
            <a:off x="3273552" y="1399032"/>
            <a:ext cx="2651760" cy="3465576"/>
          </a:xfrm>
          <a:prstGeom prst="rect">
            <a:avLst/>
          </a:prstGeom>
          <a:noFill/>
          <a:ln/>
        </p:spPr>
        <p:txBody>
          <a:bodyPr wrap="square" rtlCol="0" anchor="t"/>
          <a:lstStyle/>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import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java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util</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b="1" dirty="0">
                <a:solidFill>
                  <a:srgbClr val="60A5FA"/>
                </a:solidFill>
                <a:latin typeface="Consolas" pitchFamily="34" charset="0"/>
                <a:ea typeface="Consolas" pitchFamily="34" charset="-122"/>
                <a:cs typeface="Consolas" pitchFamily="34" charset="-120"/>
              </a:rPr>
              <a:t>Random</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public</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class</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Solution</a:t>
            </a:r>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Random</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rnd</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b="1" dirty="0">
                <a:solidFill>
                  <a:srgbClr val="60A5FA"/>
                </a:solidFill>
                <a:latin typeface="Consolas" pitchFamily="34" charset="0"/>
                <a:ea typeface="Consolas" pitchFamily="34" charset="-122"/>
                <a:cs typeface="Consolas" pitchFamily="34" charset="-120"/>
              </a:rPr>
              <a:t>new</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Random</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partition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pivot</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for</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pivot</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t</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t</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t</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t</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void</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quickSort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rnd</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nextInt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t</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t</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pi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partition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quickSort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pi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quickSort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pi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public</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sortArray</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b="1" dirty="0">
                <a:solidFill>
                  <a:srgbClr val="60A5FA"/>
                </a:solidFill>
                <a:latin typeface="Consolas" pitchFamily="34" charset="0"/>
                <a:ea typeface="Consolas" pitchFamily="34" charset="-122"/>
                <a:cs typeface="Consolas" pitchFamily="34" charset="-120"/>
              </a:rPr>
              <a:t>int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quickSort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length</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a</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p:txBody>
      </p:sp>
      <p:sp>
        <p:nvSpPr>
          <p:cNvPr id="12" name="Shape 9"/>
          <p:cNvSpPr/>
          <p:nvPr/>
        </p:nvSpPr>
        <p:spPr>
          <a:xfrm>
            <a:off x="6089904" y="960120"/>
            <a:ext cx="2834640" cy="3977640"/>
          </a:xfrm>
          <a:prstGeom prst="rect">
            <a:avLst/>
          </a:prstGeom>
          <a:solidFill>
            <a:srgbClr val="111827"/>
          </a:solidFill>
          <a:ln w="12700">
            <a:solidFill>
              <a:srgbClr val="111827"/>
            </a:solidFill>
            <a:prstDash val="solid"/>
          </a:ln>
        </p:spPr>
      </p:sp>
      <p:sp>
        <p:nvSpPr>
          <p:cNvPr id="13" name="Shape 10"/>
          <p:cNvSpPr/>
          <p:nvPr/>
        </p:nvSpPr>
        <p:spPr>
          <a:xfrm>
            <a:off x="6089904" y="960120"/>
            <a:ext cx="2834640" cy="365760"/>
          </a:xfrm>
          <a:prstGeom prst="rect">
            <a:avLst/>
          </a:prstGeom>
          <a:solidFill>
            <a:srgbClr val="B22234"/>
          </a:solidFill>
          <a:ln w="12700">
            <a:solidFill>
              <a:srgbClr val="B22234"/>
            </a:solidFill>
            <a:prstDash val="solid"/>
          </a:ln>
        </p:spPr>
      </p:sp>
      <p:sp>
        <p:nvSpPr>
          <p:cNvPr id="14" name="Text 11"/>
          <p:cNvSpPr/>
          <p:nvPr/>
        </p:nvSpPr>
        <p:spPr>
          <a:xfrm>
            <a:off x="6089904" y="960120"/>
            <a:ext cx="28346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Python</a:t>
            </a:r>
            <a:endParaRPr lang="en-US" sz="1200" dirty="0"/>
          </a:p>
        </p:txBody>
      </p:sp>
      <p:sp>
        <p:nvSpPr>
          <p:cNvPr id="15" name="Text 12"/>
          <p:cNvSpPr/>
          <p:nvPr/>
        </p:nvSpPr>
        <p:spPr>
          <a:xfrm>
            <a:off x="6181344" y="1399032"/>
            <a:ext cx="2651760" cy="3465576"/>
          </a:xfrm>
          <a:prstGeom prst="rect">
            <a:avLst/>
          </a:prstGeom>
          <a:noFill/>
          <a:ln/>
        </p:spPr>
        <p:txBody>
          <a:bodyPr wrap="square" rtlCol="0" anchor="t"/>
          <a:lstStyle/>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import</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random</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pPr algn="l" indent="0" marL="0">
              <a:buNone/>
            </a:pPr>
            <a:r>
              <a:rPr lang="en-US" sz="850" b="1" dirty="0">
                <a:solidFill>
                  <a:srgbClr val="60A5FA"/>
                </a:solidFill>
                <a:latin typeface="Consolas" pitchFamily="34" charset="0"/>
                <a:ea typeface="Consolas" pitchFamily="34" charset="-122"/>
                <a:cs typeface="Consolas" pitchFamily="34" charset="-120"/>
              </a:rPr>
              <a:t>class</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Solution</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def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sortArray</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self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def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partition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pivot</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for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range</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pivot</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j</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 =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def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quick_sort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if</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&lt; </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random</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randint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 =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r</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pi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partition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quick_sort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lo</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pi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quick_sort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pi</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hi</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quick_sort</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0</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len</a:t>
            </a:r>
            <a:pPr algn="l" indent="0" marL="0">
              <a:buNone/>
            </a:pPr>
            <a:r>
              <a:rPr lang="en-US" sz="850" dirty="0">
                <a:solidFill>
                  <a:srgbClr val="E5E7EB"/>
                </a:solidFill>
                <a:latin typeface="Consolas" pitchFamily="34" charset="0"/>
                <a:ea typeface="Consolas" pitchFamily="34" charset="-122"/>
                <a:cs typeface="Consolas" pitchFamily="34" charset="-120"/>
              </a:rPr>
              <a:t>(</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r>
              <a:rPr lang="en-US" sz="850" dirty="0">
                <a:solidFill>
                  <a:srgbClr val="E5E7EB"/>
                </a:solidFill>
                <a:latin typeface="Consolas" pitchFamily="34" charset="0"/>
                <a:ea typeface="Consolas" pitchFamily="34" charset="-122"/>
                <a:cs typeface="Consolas" pitchFamily="34" charset="-120"/>
              </a:rPr>
              <a:t>) - </a:t>
            </a:r>
            <a:pPr algn="l" indent="0" marL="0">
              <a:buNone/>
            </a:pPr>
            <a:r>
              <a:rPr lang="en-US" sz="850" dirty="0">
                <a:solidFill>
                  <a:srgbClr val="E5E7EB"/>
                </a:solidFill>
                <a:latin typeface="Consolas" pitchFamily="34" charset="0"/>
                <a:ea typeface="Consolas" pitchFamily="34" charset="-122"/>
                <a:cs typeface="Consolas" pitchFamily="34" charset="-120"/>
              </a:rPr>
              <a:t>1</a:t>
            </a:r>
            <a:pPr algn="l" indent="0" marL="0">
              <a:buNone/>
            </a:pPr>
            <a:r>
              <a:rPr lang="en-US" sz="850" dirty="0">
                <a:solidFill>
                  <a:srgbClr val="E5E7EB"/>
                </a:solidFill>
                <a:latin typeface="Consolas" pitchFamily="34" charset="0"/>
                <a:ea typeface="Consolas" pitchFamily="34" charset="-122"/>
                <a:cs typeface="Consolas" pitchFamily="34" charset="-120"/>
              </a:rPr>
              <a:t>)</a:t>
            </a:r>
            <a:endParaRPr lang="en-US" sz="850" dirty="0"/>
          </a:p>
          <a:p>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b="1" dirty="0">
                <a:solidFill>
                  <a:srgbClr val="60A5FA"/>
                </a:solidFill>
                <a:latin typeface="Consolas" pitchFamily="34" charset="0"/>
                <a:ea typeface="Consolas" pitchFamily="34" charset="-122"/>
                <a:cs typeface="Consolas" pitchFamily="34" charset="-120"/>
              </a:rPr>
              <a:t>return</a:t>
            </a:r>
            <a:pPr algn="l" indent="0" marL="0">
              <a:buNone/>
            </a:pPr>
            <a:r>
              <a:rPr lang="en-US" sz="850" dirty="0">
                <a:solidFill>
                  <a:srgbClr val="E5E7EB"/>
                </a:solidFill>
                <a:latin typeface="Consolas" pitchFamily="34" charset="0"/>
                <a:ea typeface="Consolas" pitchFamily="34" charset="-122"/>
                <a:cs typeface="Consolas" pitchFamily="34" charset="-120"/>
              </a:rPr>
              <a:t> </a:t>
            </a:r>
            <a:pPr algn="l" indent="0" marL="0">
              <a:buNone/>
            </a:pPr>
            <a:r>
              <a:rPr lang="en-US" sz="850" dirty="0">
                <a:solidFill>
                  <a:srgbClr val="E5E7EB"/>
                </a:solidFill>
                <a:latin typeface="Consolas" pitchFamily="34" charset="0"/>
                <a:ea typeface="Consolas" pitchFamily="34" charset="-122"/>
                <a:cs typeface="Consolas" pitchFamily="34" charset="-120"/>
              </a:rPr>
              <a:t>nums</a:t>
            </a:r>
            <a:pPr algn="l" indent="0" marL="0">
              <a:buNone/>
            </a:pP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u_banner.jpg">    </p:cNvPr>
          <p:cNvPicPr>
            <a:picLocks noChangeAspect="1"/>
          </p:cNvPicPr>
          <p:nvPr/>
        </p:nvPicPr>
        <p:blipFill>
          <a:blip r:embed="rId1"/>
          <a:stretch>
            <a:fillRect/>
          </a:stretch>
        </p:blipFill>
        <p:spPr>
          <a:xfrm>
            <a:off x="182880" y="164592"/>
            <a:ext cx="640080" cy="868680"/>
          </a:xfrm>
          <a:prstGeom prst="rect">
            <a:avLst/>
          </a:prstGeom>
        </p:spPr>
      </p:pic>
      <p:sp>
        <p:nvSpPr>
          <p:cNvPr id="3" name="Text 0"/>
          <p:cNvSpPr/>
          <p:nvPr/>
        </p:nvSpPr>
        <p:spPr>
          <a:xfrm>
            <a:off x="1005840" y="228600"/>
            <a:ext cx="7132320" cy="548640"/>
          </a:xfrm>
          <a:prstGeom prst="rect">
            <a:avLst/>
          </a:prstGeom>
          <a:noFill/>
          <a:ln/>
        </p:spPr>
        <p:txBody>
          <a:bodyPr wrap="square" lIns="0" tIns="0" rIns="0" bIns="0" rtlCol="0" anchor="ctr"/>
          <a:lstStyle/>
          <a:p>
            <a:pPr algn="ctr" indent="0" marL="0">
              <a:buNone/>
            </a:pPr>
            <a:r>
              <a:rPr lang="en-US" sz="2800" b="1" dirty="0">
                <a:solidFill>
                  <a:srgbClr val="1A1A1A"/>
                </a:solidFill>
                <a:latin typeface="Georgia" pitchFamily="34" charset="0"/>
                <a:ea typeface="Georgia" pitchFamily="34" charset="-122"/>
                <a:cs typeface="Georgia" pitchFamily="34" charset="-120"/>
              </a:rPr>
              <a:t>Learning Outcomes</a:t>
            </a:r>
            <a:endParaRPr lang="en-US" sz="2800" dirty="0"/>
          </a:p>
        </p:txBody>
      </p:sp>
      <p:sp>
        <p:nvSpPr>
          <p:cNvPr id="4" name="Shape 1"/>
          <p:cNvSpPr/>
          <p:nvPr/>
        </p:nvSpPr>
        <p:spPr>
          <a:xfrm>
            <a:off x="365760" y="1005840"/>
            <a:ext cx="4160520" cy="1600200"/>
          </a:xfrm>
          <a:prstGeom prst="rect">
            <a:avLst/>
          </a:prstGeom>
          <a:solidFill>
            <a:srgbClr val="FFFFFF"/>
          </a:solidFill>
          <a:ln w="15875">
            <a:solidFill>
              <a:srgbClr val="B22234"/>
            </a:solidFill>
            <a:prstDash val="solid"/>
          </a:ln>
        </p:spPr>
      </p:sp>
      <p:sp>
        <p:nvSpPr>
          <p:cNvPr id="5" name="Shape 2"/>
          <p:cNvSpPr/>
          <p:nvPr/>
        </p:nvSpPr>
        <p:spPr>
          <a:xfrm>
            <a:off x="365760" y="1005840"/>
            <a:ext cx="164592" cy="1600200"/>
          </a:xfrm>
          <a:prstGeom prst="rect">
            <a:avLst/>
          </a:prstGeom>
          <a:solidFill>
            <a:srgbClr val="B22234"/>
          </a:solidFill>
          <a:ln w="12700">
            <a:solidFill>
              <a:srgbClr val="B22234"/>
            </a:solidFill>
            <a:prstDash val="solid"/>
          </a:ln>
        </p:spPr>
      </p:sp>
      <p:sp>
        <p:nvSpPr>
          <p:cNvPr id="6" name="Text 3"/>
          <p:cNvSpPr/>
          <p:nvPr/>
        </p:nvSpPr>
        <p:spPr>
          <a:xfrm>
            <a:off x="640080" y="1143000"/>
            <a:ext cx="868680" cy="1325880"/>
          </a:xfrm>
          <a:prstGeom prst="rect">
            <a:avLst/>
          </a:prstGeom>
          <a:noFill/>
          <a:ln/>
        </p:spPr>
        <p:txBody>
          <a:bodyPr wrap="square" lIns="0" tIns="0" rIns="0" bIns="0" rtlCol="0" anchor="ctr"/>
          <a:lstStyle/>
          <a:p>
            <a:pPr algn="l" indent="0" marL="0">
              <a:buNone/>
            </a:pPr>
            <a:r>
              <a:rPr lang="en-US" sz="3200" b="1" dirty="0">
                <a:solidFill>
                  <a:srgbClr val="B22234"/>
                </a:solidFill>
                <a:latin typeface="Georgia" pitchFamily="34" charset="0"/>
                <a:ea typeface="Georgia" pitchFamily="34" charset="-122"/>
                <a:cs typeface="Georgia" pitchFamily="34" charset="-120"/>
              </a:rPr>
              <a:t>01</a:t>
            </a:r>
            <a:endParaRPr lang="en-US" sz="3200" dirty="0"/>
          </a:p>
        </p:txBody>
      </p:sp>
      <p:sp>
        <p:nvSpPr>
          <p:cNvPr id="7" name="Text 4"/>
          <p:cNvSpPr/>
          <p:nvPr/>
        </p:nvSpPr>
        <p:spPr>
          <a:xfrm>
            <a:off x="1554480" y="1188720"/>
            <a:ext cx="2880360" cy="1234440"/>
          </a:xfrm>
          <a:prstGeom prst="rect">
            <a:avLst/>
          </a:prstGeom>
          <a:noFill/>
          <a:ln/>
        </p:spPr>
        <p:txBody>
          <a:bodyPr wrap="square" rtlCol="0" anchor="ctr"/>
          <a:lstStyle/>
          <a:p>
            <a:pPr algn="l" indent="0" marL="0">
              <a:buNone/>
            </a:pPr>
            <a:r>
              <a:rPr lang="en-US" sz="1200" dirty="0">
                <a:solidFill>
                  <a:srgbClr val="333333"/>
                </a:solidFill>
                <a:latin typeface="Arial" pitchFamily="34" charset="0"/>
                <a:ea typeface="Arial" pitchFamily="34" charset="-122"/>
                <a:cs typeface="Arial" pitchFamily="34" charset="-120"/>
              </a:rPr>
              <a:t>CO1: Implement the Lomuto partition scheme and trace Quick Sort on sample inputs.</a:t>
            </a:r>
            <a:endParaRPr lang="en-US" sz="1200" dirty="0"/>
          </a:p>
        </p:txBody>
      </p:sp>
      <p:sp>
        <p:nvSpPr>
          <p:cNvPr id="8" name="Shape 5"/>
          <p:cNvSpPr/>
          <p:nvPr/>
        </p:nvSpPr>
        <p:spPr>
          <a:xfrm>
            <a:off x="4709160" y="1005840"/>
            <a:ext cx="4160520" cy="1600200"/>
          </a:xfrm>
          <a:prstGeom prst="rect">
            <a:avLst/>
          </a:prstGeom>
          <a:solidFill>
            <a:srgbClr val="FFFFFF"/>
          </a:solidFill>
          <a:ln w="15875">
            <a:solidFill>
              <a:srgbClr val="1F3864"/>
            </a:solidFill>
            <a:prstDash val="solid"/>
          </a:ln>
        </p:spPr>
      </p:sp>
      <p:sp>
        <p:nvSpPr>
          <p:cNvPr id="9" name="Shape 6"/>
          <p:cNvSpPr/>
          <p:nvPr/>
        </p:nvSpPr>
        <p:spPr>
          <a:xfrm>
            <a:off x="4709160" y="1005840"/>
            <a:ext cx="164592" cy="1600200"/>
          </a:xfrm>
          <a:prstGeom prst="rect">
            <a:avLst/>
          </a:prstGeom>
          <a:solidFill>
            <a:srgbClr val="1F3864"/>
          </a:solidFill>
          <a:ln w="12700">
            <a:solidFill>
              <a:srgbClr val="1F3864"/>
            </a:solidFill>
            <a:prstDash val="solid"/>
          </a:ln>
        </p:spPr>
      </p:sp>
      <p:sp>
        <p:nvSpPr>
          <p:cNvPr id="10" name="Text 7"/>
          <p:cNvSpPr/>
          <p:nvPr/>
        </p:nvSpPr>
        <p:spPr>
          <a:xfrm>
            <a:off x="4983480" y="1143000"/>
            <a:ext cx="868680" cy="1325880"/>
          </a:xfrm>
          <a:prstGeom prst="rect">
            <a:avLst/>
          </a:prstGeom>
          <a:noFill/>
          <a:ln/>
        </p:spPr>
        <p:txBody>
          <a:bodyPr wrap="square" lIns="0" tIns="0" rIns="0" bIns="0" rtlCol="0" anchor="ctr"/>
          <a:lstStyle/>
          <a:p>
            <a:pPr algn="l" indent="0" marL="0">
              <a:buNone/>
            </a:pPr>
            <a:r>
              <a:rPr lang="en-US" sz="3200" b="1" dirty="0">
                <a:solidFill>
                  <a:srgbClr val="1F3864"/>
                </a:solidFill>
                <a:latin typeface="Georgia" pitchFamily="34" charset="0"/>
                <a:ea typeface="Georgia" pitchFamily="34" charset="-122"/>
                <a:cs typeface="Georgia" pitchFamily="34" charset="-120"/>
              </a:rPr>
              <a:t>02</a:t>
            </a:r>
            <a:endParaRPr lang="en-US" sz="3200" dirty="0"/>
          </a:p>
        </p:txBody>
      </p:sp>
      <p:sp>
        <p:nvSpPr>
          <p:cNvPr id="11" name="Text 8"/>
          <p:cNvSpPr/>
          <p:nvPr/>
        </p:nvSpPr>
        <p:spPr>
          <a:xfrm>
            <a:off x="5897880" y="1188720"/>
            <a:ext cx="2880360" cy="1234440"/>
          </a:xfrm>
          <a:prstGeom prst="rect">
            <a:avLst/>
          </a:prstGeom>
          <a:noFill/>
          <a:ln/>
        </p:spPr>
        <p:txBody>
          <a:bodyPr wrap="square" rtlCol="0" anchor="ctr"/>
          <a:lstStyle/>
          <a:p>
            <a:pPr algn="l" indent="0" marL="0">
              <a:buNone/>
            </a:pPr>
            <a:r>
              <a:rPr lang="en-US" sz="1200" dirty="0">
                <a:solidFill>
                  <a:srgbClr val="333333"/>
                </a:solidFill>
                <a:latin typeface="Arial" pitchFamily="34" charset="0"/>
                <a:ea typeface="Arial" pitchFamily="34" charset="-122"/>
                <a:cs typeface="Arial" pitchFamily="34" charset="-120"/>
              </a:rPr>
              <a:t>CO2: Analyze best, average, and worst-case complexity with proof intuition.</a:t>
            </a:r>
            <a:endParaRPr lang="en-US" sz="1200" dirty="0"/>
          </a:p>
        </p:txBody>
      </p:sp>
      <p:sp>
        <p:nvSpPr>
          <p:cNvPr id="12" name="Shape 9"/>
          <p:cNvSpPr/>
          <p:nvPr/>
        </p:nvSpPr>
        <p:spPr>
          <a:xfrm>
            <a:off x="365760" y="2788920"/>
            <a:ext cx="4160520" cy="1600200"/>
          </a:xfrm>
          <a:prstGeom prst="rect">
            <a:avLst/>
          </a:prstGeom>
          <a:solidFill>
            <a:srgbClr val="FFFFFF"/>
          </a:solidFill>
          <a:ln w="15875">
            <a:solidFill>
              <a:srgbClr val="2C5F2D"/>
            </a:solidFill>
            <a:prstDash val="solid"/>
          </a:ln>
        </p:spPr>
      </p:sp>
      <p:sp>
        <p:nvSpPr>
          <p:cNvPr id="13" name="Shape 10"/>
          <p:cNvSpPr/>
          <p:nvPr/>
        </p:nvSpPr>
        <p:spPr>
          <a:xfrm>
            <a:off x="365760" y="2788920"/>
            <a:ext cx="164592" cy="1600200"/>
          </a:xfrm>
          <a:prstGeom prst="rect">
            <a:avLst/>
          </a:prstGeom>
          <a:solidFill>
            <a:srgbClr val="2C5F2D"/>
          </a:solidFill>
          <a:ln w="12700">
            <a:solidFill>
              <a:srgbClr val="2C5F2D"/>
            </a:solidFill>
            <a:prstDash val="solid"/>
          </a:ln>
        </p:spPr>
      </p:sp>
      <p:sp>
        <p:nvSpPr>
          <p:cNvPr id="14" name="Text 11"/>
          <p:cNvSpPr/>
          <p:nvPr/>
        </p:nvSpPr>
        <p:spPr>
          <a:xfrm>
            <a:off x="640080" y="2926080"/>
            <a:ext cx="868680" cy="1325880"/>
          </a:xfrm>
          <a:prstGeom prst="rect">
            <a:avLst/>
          </a:prstGeom>
          <a:noFill/>
          <a:ln/>
        </p:spPr>
        <p:txBody>
          <a:bodyPr wrap="square" lIns="0" tIns="0" rIns="0" bIns="0" rtlCol="0" anchor="ctr"/>
          <a:lstStyle/>
          <a:p>
            <a:pPr algn="l" indent="0" marL="0">
              <a:buNone/>
            </a:pPr>
            <a:r>
              <a:rPr lang="en-US" sz="3200" b="1" dirty="0">
                <a:solidFill>
                  <a:srgbClr val="2C5F2D"/>
                </a:solidFill>
                <a:latin typeface="Georgia" pitchFamily="34" charset="0"/>
                <a:ea typeface="Georgia" pitchFamily="34" charset="-122"/>
                <a:cs typeface="Georgia" pitchFamily="34" charset="-120"/>
              </a:rPr>
              <a:t>03</a:t>
            </a:r>
            <a:endParaRPr lang="en-US" sz="3200" dirty="0"/>
          </a:p>
        </p:txBody>
      </p:sp>
      <p:sp>
        <p:nvSpPr>
          <p:cNvPr id="15" name="Text 12"/>
          <p:cNvSpPr/>
          <p:nvPr/>
        </p:nvSpPr>
        <p:spPr>
          <a:xfrm>
            <a:off x="1554480" y="2971800"/>
            <a:ext cx="2880360" cy="1234440"/>
          </a:xfrm>
          <a:prstGeom prst="rect">
            <a:avLst/>
          </a:prstGeom>
          <a:noFill/>
          <a:ln/>
        </p:spPr>
        <p:txBody>
          <a:bodyPr wrap="square" rtlCol="0" anchor="ctr"/>
          <a:lstStyle/>
          <a:p>
            <a:pPr algn="l" indent="0" marL="0">
              <a:buNone/>
            </a:pPr>
            <a:r>
              <a:rPr lang="en-US" sz="1200" dirty="0">
                <a:solidFill>
                  <a:srgbClr val="333333"/>
                </a:solidFill>
                <a:latin typeface="Arial" pitchFamily="34" charset="0"/>
                <a:ea typeface="Arial" pitchFamily="34" charset="-122"/>
                <a:cs typeface="Arial" pitchFamily="34" charset="-120"/>
              </a:rPr>
              <a:t>CO3: Apply randomized pivot selection to make the worst case probabilistically rare.</a:t>
            </a:r>
            <a:endParaRPr lang="en-US" sz="1200" dirty="0"/>
          </a:p>
        </p:txBody>
      </p:sp>
      <p:sp>
        <p:nvSpPr>
          <p:cNvPr id="16" name="Shape 13"/>
          <p:cNvSpPr/>
          <p:nvPr/>
        </p:nvSpPr>
        <p:spPr>
          <a:xfrm>
            <a:off x="4709160" y="2788920"/>
            <a:ext cx="4160520" cy="1600200"/>
          </a:xfrm>
          <a:prstGeom prst="rect">
            <a:avLst/>
          </a:prstGeom>
          <a:solidFill>
            <a:srgbClr val="FFFFFF"/>
          </a:solidFill>
          <a:ln w="15875">
            <a:solidFill>
              <a:srgbClr val="6B2D8C"/>
            </a:solidFill>
            <a:prstDash val="solid"/>
          </a:ln>
        </p:spPr>
      </p:sp>
      <p:sp>
        <p:nvSpPr>
          <p:cNvPr id="17" name="Shape 14"/>
          <p:cNvSpPr/>
          <p:nvPr/>
        </p:nvSpPr>
        <p:spPr>
          <a:xfrm>
            <a:off x="4709160" y="2788920"/>
            <a:ext cx="164592" cy="1600200"/>
          </a:xfrm>
          <a:prstGeom prst="rect">
            <a:avLst/>
          </a:prstGeom>
          <a:solidFill>
            <a:srgbClr val="6B2D8C"/>
          </a:solidFill>
          <a:ln w="12700">
            <a:solidFill>
              <a:srgbClr val="6B2D8C"/>
            </a:solidFill>
            <a:prstDash val="solid"/>
          </a:ln>
        </p:spPr>
      </p:sp>
      <p:sp>
        <p:nvSpPr>
          <p:cNvPr id="18" name="Text 15"/>
          <p:cNvSpPr/>
          <p:nvPr/>
        </p:nvSpPr>
        <p:spPr>
          <a:xfrm>
            <a:off x="4983480" y="2926080"/>
            <a:ext cx="868680" cy="1325880"/>
          </a:xfrm>
          <a:prstGeom prst="rect">
            <a:avLst/>
          </a:prstGeom>
          <a:noFill/>
          <a:ln/>
        </p:spPr>
        <p:txBody>
          <a:bodyPr wrap="square" lIns="0" tIns="0" rIns="0" bIns="0" rtlCol="0" anchor="ctr"/>
          <a:lstStyle/>
          <a:p>
            <a:pPr algn="l" indent="0" marL="0">
              <a:buNone/>
            </a:pPr>
            <a:r>
              <a:rPr lang="en-US" sz="3200" b="1" dirty="0">
                <a:solidFill>
                  <a:srgbClr val="6B2D8C"/>
                </a:solidFill>
                <a:latin typeface="Georgia" pitchFamily="34" charset="0"/>
                <a:ea typeface="Georgia" pitchFamily="34" charset="-122"/>
                <a:cs typeface="Georgia" pitchFamily="34" charset="-120"/>
              </a:rPr>
              <a:t>04</a:t>
            </a:r>
            <a:endParaRPr lang="en-US" sz="3200" dirty="0"/>
          </a:p>
        </p:txBody>
      </p:sp>
      <p:sp>
        <p:nvSpPr>
          <p:cNvPr id="19" name="Text 16"/>
          <p:cNvSpPr/>
          <p:nvPr/>
        </p:nvSpPr>
        <p:spPr>
          <a:xfrm>
            <a:off x="5897880" y="2971800"/>
            <a:ext cx="2880360" cy="1234440"/>
          </a:xfrm>
          <a:prstGeom prst="rect">
            <a:avLst/>
          </a:prstGeom>
          <a:noFill/>
          <a:ln/>
        </p:spPr>
        <p:txBody>
          <a:bodyPr wrap="square" rtlCol="0" anchor="ctr"/>
          <a:lstStyle/>
          <a:p>
            <a:pPr algn="l" indent="0" marL="0">
              <a:buNone/>
            </a:pPr>
            <a:r>
              <a:rPr lang="en-US" sz="1200" dirty="0">
                <a:solidFill>
                  <a:srgbClr val="333333"/>
                </a:solidFill>
                <a:latin typeface="Arial" pitchFamily="34" charset="0"/>
                <a:ea typeface="Arial" pitchFamily="34" charset="-122"/>
                <a:cs typeface="Arial" pitchFamily="34" charset="-120"/>
              </a:rPr>
              <a:t>CO4: Compare Quick Sort with Heap Sort and Merge Sort on space, stability, and practical speed.</a:t>
            </a:r>
            <a:endParaRPr lang="en-US" sz="1200" dirty="0"/>
          </a:p>
        </p:txBody>
      </p:sp>
      <p:sp>
        <p:nvSpPr>
          <p:cNvPr id="20" name="Shape 17"/>
          <p:cNvSpPr/>
          <p:nvPr/>
        </p:nvSpPr>
        <p:spPr>
          <a:xfrm>
            <a:off x="2194560" y="4709160"/>
            <a:ext cx="4754880" cy="365760"/>
          </a:xfrm>
          <a:prstGeom prst="rect">
            <a:avLst/>
          </a:prstGeom>
          <a:solidFill>
            <a:srgbClr val="B22234"/>
          </a:solidFill>
          <a:ln w="12700">
            <a:solidFill>
              <a:srgbClr val="B22234"/>
            </a:solidFill>
            <a:prstDash val="solid"/>
          </a:ln>
        </p:spPr>
      </p:sp>
      <p:sp>
        <p:nvSpPr>
          <p:cNvPr id="21" name="Text 18"/>
          <p:cNvSpPr/>
          <p:nvPr/>
        </p:nvSpPr>
        <p:spPr>
          <a:xfrm>
            <a:off x="2194560" y="4709160"/>
            <a:ext cx="47548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CO Mapping: CO3 — Divide &amp; Conquer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 08 — Implementation of Quick Sort Using Divide and Conquer</dc:title>
  <dc:subject>PptxGenJS Presentation</dc:subject>
  <dc:creator>Chandigarh University — DSA Lab</dc:creator>
  <cp:lastModifiedBy>Chandigarh University — DSA Lab</cp:lastModifiedBy>
  <cp:revision>1</cp:revision>
  <dcterms:created xsi:type="dcterms:W3CDTF">2026-05-13T03:22:05Z</dcterms:created>
  <dcterms:modified xsi:type="dcterms:W3CDTF">2026-05-13T03:22:05Z</dcterms:modified>
</cp:coreProperties>
</file>
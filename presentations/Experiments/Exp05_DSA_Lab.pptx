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_gear.png">    </p:cNvPr>
          <p:cNvPicPr>
            <a:picLocks noChangeAspect="1"/>
          </p:cNvPicPr>
          <p:nvPr/>
        </p:nvPicPr>
        <p:blipFill>
          <a:blip r:embed="rId1">
            <a:alphaModFix amt="15000"/>
          </a:blip>
          <a:stretch>
            <a:fillRect/>
          </a:stretch>
        </p:blipFill>
        <p:spPr>
          <a:xfrm>
            <a:off x="-182880" y="1097280"/>
            <a:ext cx="3291840" cy="3291840"/>
          </a:xfrm>
          <a:prstGeom prst="rect">
            <a:avLst/>
          </a:prstGeom>
        </p:spPr>
      </p:pic>
      <p:pic>
        <p:nvPicPr>
          <p:cNvPr id="3" name="Image 1" descr="cu_banner.jpg">    </p:cNvPr>
          <p:cNvPicPr>
            <a:picLocks noChangeAspect="1"/>
          </p:cNvPicPr>
          <p:nvPr/>
        </p:nvPicPr>
        <p:blipFill>
          <a:blip r:embed="rId2"/>
          <a:stretch>
            <a:fillRect/>
          </a:stretch>
        </p:blipFill>
        <p:spPr>
          <a:xfrm>
            <a:off x="182880" y="164592"/>
            <a:ext cx="731520" cy="960120"/>
          </a:xfrm>
          <a:prstGeom prst="rect">
            <a:avLst/>
          </a:prstGeom>
        </p:spPr>
      </p:pic>
      <p:sp>
        <p:nvSpPr>
          <p:cNvPr id="4" name="Text 0"/>
          <p:cNvSpPr/>
          <p:nvPr/>
        </p:nvSpPr>
        <p:spPr>
          <a:xfrm>
            <a:off x="5486400" y="164592"/>
            <a:ext cx="3520440" cy="274320"/>
          </a:xfrm>
          <a:prstGeom prst="rect">
            <a:avLst/>
          </a:prstGeom>
          <a:noFill/>
          <a:ln/>
        </p:spPr>
        <p:txBody>
          <a:bodyPr wrap="square" lIns="0" tIns="0" rIns="0" bIns="0" rtlCol="0" anchor="ctr"/>
          <a:lstStyle/>
          <a:p>
            <a:pPr algn="r" indent="0" marL="0">
              <a:buNone/>
            </a:pPr>
            <a:r>
              <a:rPr lang="en-US" sz="1300" b="1" dirty="0">
                <a:solidFill>
                  <a:srgbClr val="1A1A1A"/>
                </a:solidFill>
                <a:latin typeface="Arial" pitchFamily="34" charset="0"/>
                <a:ea typeface="Arial" pitchFamily="34" charset="-122"/>
                <a:cs typeface="Arial" pitchFamily="34" charset="-120"/>
              </a:rPr>
              <a:t>Academic Session 2026-27</a:t>
            </a:r>
            <a:endParaRPr lang="en-US" sz="1300" dirty="0"/>
          </a:p>
        </p:txBody>
      </p:sp>
      <p:sp>
        <p:nvSpPr>
          <p:cNvPr id="5" name="Text 1"/>
          <p:cNvSpPr/>
          <p:nvPr/>
        </p:nvSpPr>
        <p:spPr>
          <a:xfrm>
            <a:off x="5486400" y="438912"/>
            <a:ext cx="3520440" cy="274320"/>
          </a:xfrm>
          <a:prstGeom prst="rect">
            <a:avLst/>
          </a:prstGeom>
          <a:noFill/>
          <a:ln/>
        </p:spPr>
        <p:txBody>
          <a:bodyPr wrap="square" lIns="0" tIns="0" rIns="0" bIns="0" rtlCol="0" anchor="ctr"/>
          <a:lstStyle/>
          <a:p>
            <a:pPr algn="r" indent="0" marL="0">
              <a:buNone/>
            </a:pPr>
            <a:r>
              <a:rPr lang="en-US" sz="1200" b="1" dirty="0">
                <a:solidFill>
                  <a:srgbClr val="1A1A1A"/>
                </a:solidFill>
                <a:latin typeface="Arial" pitchFamily="34" charset="0"/>
                <a:ea typeface="Arial" pitchFamily="34" charset="-122"/>
                <a:cs typeface="Arial" pitchFamily="34" charset="-120"/>
              </a:rPr>
              <a:t>ODD Semester July-Dec 2026</a:t>
            </a:r>
            <a:endParaRPr lang="en-US" sz="1200" dirty="0"/>
          </a:p>
        </p:txBody>
      </p:sp>
      <p:sp>
        <p:nvSpPr>
          <p:cNvPr id="6" name="Text 2"/>
          <p:cNvSpPr/>
          <p:nvPr/>
        </p:nvSpPr>
        <p:spPr>
          <a:xfrm>
            <a:off x="1371600" y="914400"/>
            <a:ext cx="6858000" cy="502920"/>
          </a:xfrm>
          <a:prstGeom prst="rect">
            <a:avLst/>
          </a:prstGeom>
          <a:noFill/>
          <a:ln/>
        </p:spPr>
        <p:txBody>
          <a:bodyPr wrap="square" lIns="0" tIns="0" rIns="0" bIns="0" rtlCol="0" anchor="ctr"/>
          <a:lstStyle/>
          <a:p>
            <a:pPr algn="ctr" indent="0" marL="0">
              <a:buNone/>
            </a:pPr>
            <a:r>
              <a:rPr lang="en-US" sz="2800" b="1" dirty="0">
                <a:solidFill>
                  <a:srgbClr val="1A1A1A"/>
                </a:solidFill>
                <a:latin typeface="Arial" pitchFamily="34" charset="0"/>
                <a:ea typeface="Arial" pitchFamily="34" charset="-122"/>
                <a:cs typeface="Arial" pitchFamily="34" charset="-120"/>
              </a:rPr>
              <a:t>UNIVERSITY INSTITUTE OF</a:t>
            </a:r>
            <a:endParaRPr lang="en-US" sz="2800" dirty="0"/>
          </a:p>
        </p:txBody>
      </p:sp>
      <p:sp>
        <p:nvSpPr>
          <p:cNvPr id="7" name="Text 3"/>
          <p:cNvSpPr/>
          <p:nvPr/>
        </p:nvSpPr>
        <p:spPr>
          <a:xfrm>
            <a:off x="1371600" y="1417320"/>
            <a:ext cx="6858000" cy="502920"/>
          </a:xfrm>
          <a:prstGeom prst="rect">
            <a:avLst/>
          </a:prstGeom>
          <a:noFill/>
          <a:ln/>
        </p:spPr>
        <p:txBody>
          <a:bodyPr wrap="square" lIns="0" tIns="0" rIns="0" bIns="0" rtlCol="0" anchor="ctr"/>
          <a:lstStyle/>
          <a:p>
            <a:pPr algn="ctr" indent="0" marL="0">
              <a:buNone/>
            </a:pPr>
            <a:r>
              <a:rPr lang="en-US" sz="2800" b="1" dirty="0">
                <a:solidFill>
                  <a:srgbClr val="1A1A1A"/>
                </a:solidFill>
                <a:latin typeface="Arial" pitchFamily="34" charset="0"/>
                <a:ea typeface="Arial" pitchFamily="34" charset="-122"/>
                <a:cs typeface="Arial" pitchFamily="34" charset="-120"/>
              </a:rPr>
              <a:t>DEPARTMENT OF TT</a:t>
            </a:r>
            <a:endParaRPr lang="en-US" sz="2800" dirty="0"/>
          </a:p>
        </p:txBody>
      </p:sp>
      <p:sp>
        <p:nvSpPr>
          <p:cNvPr id="8" name="Text 4"/>
          <p:cNvSpPr/>
          <p:nvPr/>
        </p:nvSpPr>
        <p:spPr>
          <a:xfrm>
            <a:off x="1371600" y="2011680"/>
            <a:ext cx="6858000" cy="320040"/>
          </a:xfrm>
          <a:prstGeom prst="rect">
            <a:avLst/>
          </a:prstGeom>
          <a:noFill/>
          <a:ln/>
        </p:spPr>
        <p:txBody>
          <a:bodyPr wrap="square" lIns="0" tIns="0" rIns="0" bIns="0" rtlCol="0" anchor="ctr"/>
          <a:lstStyle/>
          <a:p>
            <a:pPr algn="ctr" indent="0" marL="0">
              <a:buNone/>
            </a:pPr>
            <a:r>
              <a:rPr lang="en-US" sz="1600" dirty="0">
                <a:solidFill>
                  <a:srgbClr val="1A1A1A"/>
                </a:solidFill>
                <a:latin typeface="Arial" pitchFamily="34" charset="0"/>
                <a:ea typeface="Arial" pitchFamily="34" charset="-122"/>
                <a:cs typeface="Arial" pitchFamily="34" charset="-120"/>
              </a:rPr>
              <a:t>ADVANCED DATA STRUCTURE</a:t>
            </a:r>
            <a:endParaRPr lang="en-US" sz="1600" dirty="0"/>
          </a:p>
        </p:txBody>
      </p:sp>
      <p:sp>
        <p:nvSpPr>
          <p:cNvPr id="9" name="Text 5"/>
          <p:cNvSpPr/>
          <p:nvPr/>
        </p:nvSpPr>
        <p:spPr>
          <a:xfrm>
            <a:off x="1371600" y="2331720"/>
            <a:ext cx="6858000" cy="274320"/>
          </a:xfrm>
          <a:prstGeom prst="rect">
            <a:avLst/>
          </a:prstGeom>
          <a:noFill/>
          <a:ln/>
        </p:spPr>
        <p:txBody>
          <a:bodyPr wrap="square" lIns="0" tIns="0" rIns="0" bIns="0" rtlCol="0" anchor="ctr"/>
          <a:lstStyle/>
          <a:p>
            <a:pPr algn="ctr" indent="0" marL="0">
              <a:buNone/>
            </a:pPr>
            <a:r>
              <a:rPr lang="en-US" sz="1500" b="1" dirty="0">
                <a:solidFill>
                  <a:srgbClr val="1A1A1A"/>
                </a:solidFill>
                <a:latin typeface="Arial" pitchFamily="34" charset="0"/>
                <a:ea typeface="Arial" pitchFamily="34" charset="-122"/>
                <a:cs typeface="Arial" pitchFamily="34" charset="-120"/>
              </a:rPr>
              <a:t>3</a:t>
            </a:r>
            <a:pPr algn="ctr" indent="0" marL="0">
              <a:buNone/>
            </a:pPr>
            <a:r>
              <a:rPr lang="en-US" sz="1000" b="1" baseline="30000" dirty="0">
                <a:solidFill>
                  <a:srgbClr val="1A1A1A"/>
                </a:solidFill>
                <a:latin typeface="Arial" pitchFamily="34" charset="0"/>
                <a:ea typeface="Arial" pitchFamily="34" charset="-122"/>
                <a:cs typeface="Arial" pitchFamily="34" charset="-120"/>
              </a:rPr>
              <a:t>rd</a:t>
            </a:r>
            <a:pPr algn="ctr" indent="0" marL="0">
              <a:buNone/>
            </a:pPr>
            <a:r>
              <a:rPr lang="en-US" sz="1500" b="1" dirty="0">
                <a:solidFill>
                  <a:srgbClr val="1A1A1A"/>
                </a:solidFill>
                <a:latin typeface="Arial" pitchFamily="34" charset="0"/>
                <a:ea typeface="Arial" pitchFamily="34" charset="-122"/>
                <a:cs typeface="Arial" pitchFamily="34" charset="-120"/>
              </a:rPr>
              <a:t> Sem</a:t>
            </a:r>
            <a:endParaRPr lang="en-US" sz="1500" dirty="0"/>
          </a:p>
        </p:txBody>
      </p:sp>
      <p:sp>
        <p:nvSpPr>
          <p:cNvPr id="10" name="Text 6"/>
          <p:cNvSpPr/>
          <p:nvPr/>
        </p:nvSpPr>
        <p:spPr>
          <a:xfrm>
            <a:off x="1371600" y="2606040"/>
            <a:ext cx="6858000" cy="274320"/>
          </a:xfrm>
          <a:prstGeom prst="rect">
            <a:avLst/>
          </a:prstGeom>
          <a:noFill/>
          <a:ln/>
        </p:spPr>
        <p:txBody>
          <a:bodyPr wrap="square" lIns="0" tIns="0" rIns="0" bIns="0" rtlCol="0" anchor="ctr"/>
          <a:lstStyle/>
          <a:p>
            <a:pPr algn="ctr" indent="0" marL="0">
              <a:buNone/>
            </a:pPr>
            <a:r>
              <a:rPr lang="en-US" sz="1500" dirty="0">
                <a:solidFill>
                  <a:srgbClr val="1A1A1A"/>
                </a:solidFill>
                <a:latin typeface="Arial" pitchFamily="34" charset="0"/>
                <a:ea typeface="Arial" pitchFamily="34" charset="-122"/>
                <a:cs typeface="Arial" pitchFamily="34" charset="-120"/>
              </a:rPr>
              <a:t>(25CSH-242)</a:t>
            </a:r>
            <a:endParaRPr lang="en-US" sz="1500" dirty="0"/>
          </a:p>
        </p:txBody>
      </p:sp>
      <p:sp>
        <p:nvSpPr>
          <p:cNvPr id="11" name="Text 7"/>
          <p:cNvSpPr/>
          <p:nvPr/>
        </p:nvSpPr>
        <p:spPr>
          <a:xfrm>
            <a:off x="548640" y="3291840"/>
            <a:ext cx="3840480" cy="1280160"/>
          </a:xfrm>
          <a:prstGeom prst="rect">
            <a:avLst/>
          </a:prstGeom>
          <a:noFill/>
          <a:ln/>
        </p:spPr>
        <p:txBody>
          <a:bodyPr wrap="square" rtlCol="0" anchor="t"/>
          <a:lstStyle/>
          <a:p>
            <a:pPr algn="l" indent="0" marL="0">
              <a:spcAft>
                <a:spcPts val="800"/>
              </a:spcAft>
              <a:buNone/>
            </a:pPr>
            <a:r>
              <a:rPr lang="en-US" sz="1300" b="1" dirty="0">
                <a:solidFill>
                  <a:srgbClr val="1A1A1A"/>
                </a:solidFill>
                <a:latin typeface="Arial" pitchFamily="34" charset="0"/>
                <a:ea typeface="Arial" pitchFamily="34" charset="-122"/>
                <a:cs typeface="Arial" pitchFamily="34" charset="-120"/>
              </a:rPr>
              <a:t>Abhishek Thakur (E19789)</a:t>
            </a:r>
            <a:endParaRPr lang="en-US" sz="1300" dirty="0"/>
          </a:p>
          <a:p>
            <a:pPr algn="l" indent="0" marL="0">
              <a:spcAft>
                <a:spcPts val="800"/>
              </a:spcAft>
              <a:buNone/>
            </a:pPr>
            <a:r>
              <a:rPr lang="en-US" sz="1300" b="1" dirty="0">
                <a:solidFill>
                  <a:srgbClr val="1A1A1A"/>
                </a:solidFill>
                <a:latin typeface="Arial" pitchFamily="34" charset="0"/>
                <a:ea typeface="Arial" pitchFamily="34" charset="-122"/>
                <a:cs typeface="Arial" pitchFamily="34" charset="-120"/>
              </a:rPr>
              <a:t>Sourav Jaiswal (E19756) – MSC</a:t>
            </a:r>
            <a:endParaRPr lang="en-US" sz="1300" dirty="0"/>
          </a:p>
          <a:p>
            <a:pPr algn="l" indent="0" marL="0">
              <a:spcAft>
                <a:spcPts val="800"/>
              </a:spcAft>
              <a:buNone/>
            </a:pPr>
            <a:r>
              <a:rPr lang="en-US" sz="1300" b="1" dirty="0">
                <a:solidFill>
                  <a:srgbClr val="1A1A1A"/>
                </a:solidFill>
                <a:latin typeface="Arial" pitchFamily="34" charset="0"/>
                <a:ea typeface="Arial" pitchFamily="34" charset="-122"/>
                <a:cs typeface="Arial" pitchFamily="34" charset="-120"/>
              </a:rPr>
              <a:t>Technical Trainer</a:t>
            </a:r>
            <a:endParaRPr lang="en-US" sz="1300" dirty="0"/>
          </a:p>
        </p:txBody>
      </p:sp>
      <p:sp>
        <p:nvSpPr>
          <p:cNvPr id="12" name="Text 8"/>
          <p:cNvSpPr/>
          <p:nvPr/>
        </p:nvSpPr>
        <p:spPr>
          <a:xfrm>
            <a:off x="4754880" y="3291840"/>
            <a:ext cx="4023360" cy="1280160"/>
          </a:xfrm>
          <a:prstGeom prst="rect">
            <a:avLst/>
          </a:prstGeom>
          <a:noFill/>
          <a:ln/>
        </p:spPr>
        <p:txBody>
          <a:bodyPr wrap="square" rtlCol="0" anchor="t"/>
          <a:lstStyle/>
          <a:p>
            <a:pPr algn="l" indent="0" marL="0">
              <a:spcAft>
                <a:spcPts val="800"/>
              </a:spcAft>
              <a:buNone/>
            </a:pPr>
            <a:r>
              <a:rPr lang="en-US" sz="1300" b="1" dirty="0">
                <a:solidFill>
                  <a:srgbClr val="1A1A1A"/>
                </a:solidFill>
                <a:latin typeface="Arial" pitchFamily="34" charset="0"/>
                <a:ea typeface="Arial" pitchFamily="34" charset="-122"/>
                <a:cs typeface="Arial" pitchFamily="34" charset="-120"/>
              </a:rPr>
              <a:t>CUmail-ID :</a:t>
            </a:r>
            <a:endParaRPr lang="en-US" sz="1300" dirty="0"/>
          </a:p>
          <a:p>
            <a:pPr algn="l" indent="0" marL="0">
              <a:spcAft>
                <a:spcPts val="800"/>
              </a:spcAft>
              <a:buNone/>
            </a:pPr>
            <a:r>
              <a:rPr lang="en-US" sz="1300" b="1" dirty="0">
                <a:solidFill>
                  <a:srgbClr val="1A1A1A"/>
                </a:solidFill>
                <a:latin typeface="Arial" pitchFamily="34" charset="0"/>
                <a:ea typeface="Arial" pitchFamily="34" charset="-122"/>
                <a:cs typeface="Arial" pitchFamily="34" charset="-120"/>
              </a:rPr>
              <a:t>Sourav.e19756@cumail.in</a:t>
            </a:r>
            <a:endParaRPr lang="en-US" sz="1300" dirty="0"/>
          </a:p>
          <a:p>
            <a:pPr algn="l" indent="0" marL="0">
              <a:spcAft>
                <a:spcPts val="800"/>
              </a:spcAft>
              <a:buNone/>
            </a:pPr>
            <a:r>
              <a:rPr lang="en-US" sz="1300" b="1" dirty="0">
                <a:solidFill>
                  <a:srgbClr val="1A1A1A"/>
                </a:solidFill>
                <a:latin typeface="Arial" pitchFamily="34" charset="0"/>
                <a:ea typeface="Arial" pitchFamily="34" charset="-122"/>
                <a:cs typeface="Arial" pitchFamily="34" charset="-120"/>
              </a:rPr>
              <a:t>abhishek.e19789@cumail.in</a:t>
            </a:r>
            <a:endParaRPr lang="en-US" sz="1300" dirty="0"/>
          </a:p>
        </p:txBody>
      </p:sp>
      <p:sp>
        <p:nvSpPr>
          <p:cNvPr id="13" name="Shape 9"/>
          <p:cNvSpPr/>
          <p:nvPr/>
        </p:nvSpPr>
        <p:spPr>
          <a:xfrm flipH="1">
            <a:off x="7680960" y="4434840"/>
            <a:ext cx="1463040" cy="713232"/>
          </a:xfrm>
          <a:prstGeom prst="rtTriangle">
            <a:avLst/>
          </a:prstGeom>
          <a:solidFill>
            <a:srgbClr val="B22234"/>
          </a:solidFill>
          <a:ln w="12700">
            <a:solidFill>
              <a:srgbClr val="B22234"/>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Experiment 05 — Overview</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28600" y="1051560"/>
          <a:ext cx="8686800" cy="914400"/>
        </p:xfrm>
        <a:graphic>
          <a:graphicData uri="http://schemas.openxmlformats.org/drawingml/2006/table">
            <a:tbl>
              <a:tblPr/>
              <a:tblGrid>
                <a:gridCol w="1920240"/>
                <a:gridCol w="6766560"/>
              </a:tblGrid>
              <a:tr h="502920">
                <a:tc>
                  <a:txBody>
                    <a:bodyPr/>
                    <a:lstStyle/>
                    <a:p>
                      <a:pPr algn="l" indent="0" marL="0">
                        <a:buNone/>
                      </a:pPr>
                      <a:r>
                        <a:rPr lang="en-US" sz="1400" b="1" dirty="0">
                          <a:solidFill>
                            <a:srgbClr val="FFFFFF"/>
                          </a:solidFill>
                          <a:latin typeface="Georgia" pitchFamily="34" charset="0"/>
                          <a:ea typeface="Georgia" pitchFamily="34" charset="-122"/>
                          <a:cs typeface="Georgia" pitchFamily="34" charset="-120"/>
                        </a:rPr>
                        <a:t>Experiment No.</a:t>
                      </a:r>
                      <a:endParaRPr lang="en-US" sz="14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B22234"/>
                    </a:solidFill>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05</a:t>
                      </a:r>
                      <a:endParaRPr lang="en-US" sz="12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r>
              <a:tr h="502920">
                <a:tc>
                  <a:txBody>
                    <a:bodyPr/>
                    <a:lstStyle/>
                    <a:p>
                      <a:pPr algn="l" indent="0" marL="0">
                        <a:buNone/>
                      </a:pPr>
                      <a:r>
                        <a:rPr lang="en-US" sz="1400" b="1" dirty="0">
                          <a:solidFill>
                            <a:srgbClr val="1A1A1A"/>
                          </a:solidFill>
                          <a:latin typeface="Georgia" pitchFamily="34" charset="0"/>
                          <a:ea typeface="Georgia" pitchFamily="34" charset="-122"/>
                          <a:cs typeface="Georgia" pitchFamily="34" charset="-120"/>
                        </a:rPr>
                        <a:t>Title</a:t>
                      </a:r>
                      <a:endParaRPr lang="en-US" sz="14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Implementation of Graph Traversal Techniques (BFS &amp; DFS)</a:t>
                      </a:r>
                      <a:endParaRPr lang="en-US" sz="12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02920">
                <a:tc>
                  <a:txBody>
                    <a:bodyPr/>
                    <a:lstStyle/>
                    <a:p>
                      <a:pPr algn="l" indent="0" marL="0">
                        <a:buNone/>
                      </a:pPr>
                      <a:r>
                        <a:rPr lang="en-US" sz="1400" b="1" dirty="0">
                          <a:solidFill>
                            <a:srgbClr val="FFFFFF"/>
                          </a:solidFill>
                          <a:latin typeface="Georgia" pitchFamily="34" charset="0"/>
                          <a:ea typeface="Georgia" pitchFamily="34" charset="-122"/>
                          <a:cs typeface="Georgia" pitchFamily="34" charset="-120"/>
                        </a:rPr>
                        <a:t>Objective</a:t>
                      </a:r>
                      <a:endParaRPr lang="en-US" sz="14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B22234"/>
                    </a:solidFill>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Implement BFS and DFS for complete graph traversal using adjacency list and adjacency matrix.</a:t>
                      </a:r>
                      <a:endParaRPr lang="en-US" sz="12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r>
              <a:tr h="502920">
                <a:tc>
                  <a:txBody>
                    <a:bodyPr/>
                    <a:lstStyle/>
                    <a:p>
                      <a:pPr algn="l" indent="0" marL="0">
                        <a:buNone/>
                      </a:pPr>
                      <a:r>
                        <a:rPr lang="en-US" sz="1400" b="1" dirty="0">
                          <a:solidFill>
                            <a:srgbClr val="1A1A1A"/>
                          </a:solidFill>
                          <a:latin typeface="Georgia" pitchFamily="34" charset="0"/>
                          <a:ea typeface="Georgia" pitchFamily="34" charset="-122"/>
                          <a:cs typeface="Georgia" pitchFamily="34" charset="-120"/>
                        </a:rPr>
                        <a:t>CO Mapping</a:t>
                      </a:r>
                      <a:endParaRPr lang="en-US" sz="14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CO2 — Implement graph data structures and traversal techniques.</a:t>
                      </a:r>
                      <a:endParaRPr lang="en-US" sz="12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02920">
                <a:tc>
                  <a:txBody>
                    <a:bodyPr/>
                    <a:lstStyle/>
                    <a:p>
                      <a:pPr algn="l" indent="0" marL="0">
                        <a:buNone/>
                      </a:pPr>
                      <a:r>
                        <a:rPr lang="en-US" sz="1400" b="1" dirty="0">
                          <a:solidFill>
                            <a:srgbClr val="FFFFFF"/>
                          </a:solidFill>
                          <a:latin typeface="Georgia" pitchFamily="34" charset="0"/>
                          <a:ea typeface="Georgia" pitchFamily="34" charset="-122"/>
                          <a:cs typeface="Georgia" pitchFamily="34" charset="-120"/>
                        </a:rPr>
                        <a:t>Key Concepts</a:t>
                      </a:r>
                      <a:endParaRPr lang="en-US" sz="14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B22234"/>
                    </a:solidFill>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Adjacency List / Matrix  |  Queue (BFS)  |  Stack / Recursion (DFS)  |  Visited Array  |  Components</a:t>
                      </a:r>
                      <a:endParaRPr lang="en-US" sz="12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r>
              <a:tr h="502920">
                <a:tc>
                  <a:txBody>
                    <a:bodyPr/>
                    <a:lstStyle/>
                    <a:p>
                      <a:pPr algn="l" indent="0" marL="0">
                        <a:buNone/>
                      </a:pPr>
                      <a:r>
                        <a:rPr lang="en-US" sz="1400" b="1" dirty="0">
                          <a:solidFill>
                            <a:srgbClr val="1A1A1A"/>
                          </a:solidFill>
                          <a:latin typeface="Georgia" pitchFamily="34" charset="0"/>
                          <a:ea typeface="Georgia" pitchFamily="34" charset="-122"/>
                          <a:cs typeface="Georgia" pitchFamily="34" charset="-120"/>
                        </a:rPr>
                        <a:t>Tools</a:t>
                      </a:r>
                      <a:endParaRPr lang="en-US" sz="14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Python / Java / C++  |  IDE (VS Code / Eclipse / g++)</a:t>
                      </a:r>
                      <a:endParaRPr lang="en-US" sz="12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BFS vs DFS</a:t>
            </a:r>
            <a:endParaRPr lang="en-US" sz="2800" dirty="0"/>
          </a:p>
        </p:txBody>
      </p:sp>
      <p:sp>
        <p:nvSpPr>
          <p:cNvPr id="4" name="Shape 1"/>
          <p:cNvSpPr/>
          <p:nvPr/>
        </p:nvSpPr>
        <p:spPr>
          <a:xfrm>
            <a:off x="320040" y="1371600"/>
            <a:ext cx="4160520" cy="3520440"/>
          </a:xfrm>
          <a:prstGeom prst="rect">
            <a:avLst/>
          </a:prstGeom>
          <a:solidFill>
            <a:srgbClr val="FBEEF0"/>
          </a:solidFill>
          <a:ln w="12700">
            <a:solidFill>
              <a:srgbClr val="B22234"/>
            </a:solidFill>
            <a:prstDash val="solid"/>
          </a:ln>
        </p:spPr>
      </p:sp>
      <p:sp>
        <p:nvSpPr>
          <p:cNvPr id="5" name="Shape 2"/>
          <p:cNvSpPr/>
          <p:nvPr/>
        </p:nvSpPr>
        <p:spPr>
          <a:xfrm>
            <a:off x="320040" y="960120"/>
            <a:ext cx="4160520" cy="411480"/>
          </a:xfrm>
          <a:prstGeom prst="rect">
            <a:avLst/>
          </a:prstGeom>
          <a:solidFill>
            <a:srgbClr val="B22234"/>
          </a:solidFill>
          <a:ln w="12700">
            <a:solidFill>
              <a:srgbClr val="B22234"/>
            </a:solidFill>
            <a:prstDash val="solid"/>
          </a:ln>
        </p:spPr>
      </p:sp>
      <p:sp>
        <p:nvSpPr>
          <p:cNvPr id="6" name="Text 3"/>
          <p:cNvSpPr/>
          <p:nvPr/>
        </p:nvSpPr>
        <p:spPr>
          <a:xfrm>
            <a:off x="320040" y="960120"/>
            <a:ext cx="416052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BFS  (Breadth-First Search)</a:t>
            </a:r>
            <a:endParaRPr lang="en-US" sz="1600" dirty="0"/>
          </a:p>
        </p:txBody>
      </p:sp>
      <p:sp>
        <p:nvSpPr>
          <p:cNvPr id="7" name="Text 4"/>
          <p:cNvSpPr/>
          <p:nvPr/>
        </p:nvSpPr>
        <p:spPr>
          <a:xfrm>
            <a:off x="457200" y="1508760"/>
            <a:ext cx="3886200" cy="3246120"/>
          </a:xfrm>
          <a:prstGeom prst="rect">
            <a:avLst/>
          </a:prstGeom>
          <a:noFill/>
          <a:ln/>
        </p:spPr>
        <p:txBody>
          <a:bodyPr wrap="square" rtlCol="0" anchor="t"/>
          <a:lstStyle/>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Explores the graph level by level — all distance-1 neighbours before distance-2.</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Uses a FIFO Queue to remember which vertices to visit next.</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Yields the shortest path (in number of edges) on unweighted graphs.</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Time complexity: O(V + E) on adjacency list, O(V²) on adjacency matrix.</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Space complexity: O(V) for the queue + visited array.</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Applications: shortest path in unweighted graphs, web crawling, social network distance.</a:t>
            </a:r>
            <a:endParaRPr lang="en-US" sz="1200" dirty="0"/>
          </a:p>
        </p:txBody>
      </p:sp>
      <p:sp>
        <p:nvSpPr>
          <p:cNvPr id="8" name="Shape 5"/>
          <p:cNvSpPr/>
          <p:nvPr/>
        </p:nvSpPr>
        <p:spPr>
          <a:xfrm>
            <a:off x="4663440" y="1371600"/>
            <a:ext cx="4160520" cy="3520440"/>
          </a:xfrm>
          <a:prstGeom prst="rect">
            <a:avLst/>
          </a:prstGeom>
          <a:solidFill>
            <a:srgbClr val="EEF2FA"/>
          </a:solidFill>
          <a:ln w="12700">
            <a:solidFill>
              <a:srgbClr val="1F3864"/>
            </a:solidFill>
            <a:prstDash val="solid"/>
          </a:ln>
        </p:spPr>
      </p:sp>
      <p:sp>
        <p:nvSpPr>
          <p:cNvPr id="9" name="Shape 6"/>
          <p:cNvSpPr/>
          <p:nvPr/>
        </p:nvSpPr>
        <p:spPr>
          <a:xfrm>
            <a:off x="4663440" y="960120"/>
            <a:ext cx="4160520" cy="411480"/>
          </a:xfrm>
          <a:prstGeom prst="rect">
            <a:avLst/>
          </a:prstGeom>
          <a:solidFill>
            <a:srgbClr val="1F3864"/>
          </a:solidFill>
          <a:ln w="12700">
            <a:solidFill>
              <a:srgbClr val="1F3864"/>
            </a:solidFill>
            <a:prstDash val="solid"/>
          </a:ln>
        </p:spPr>
      </p:sp>
      <p:sp>
        <p:nvSpPr>
          <p:cNvPr id="10" name="Text 7"/>
          <p:cNvSpPr/>
          <p:nvPr/>
        </p:nvSpPr>
        <p:spPr>
          <a:xfrm>
            <a:off x="4663440" y="960120"/>
            <a:ext cx="416052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DFS  (Depth-First Search)</a:t>
            </a:r>
            <a:endParaRPr lang="en-US" sz="1600" dirty="0"/>
          </a:p>
        </p:txBody>
      </p:sp>
      <p:sp>
        <p:nvSpPr>
          <p:cNvPr id="11" name="Text 8"/>
          <p:cNvSpPr/>
          <p:nvPr/>
        </p:nvSpPr>
        <p:spPr>
          <a:xfrm>
            <a:off x="4800600" y="1508760"/>
            <a:ext cx="3886200" cy="3246120"/>
          </a:xfrm>
          <a:prstGeom prst="rect">
            <a:avLst/>
          </a:prstGeom>
          <a:noFill/>
          <a:ln/>
        </p:spPr>
        <p:txBody>
          <a:bodyPr wrap="square" rtlCol="0" anchor="t"/>
          <a:lstStyle/>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Explores as deep as possible along each branch before backtracking.</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Uses a LIFO Stack — implicitly via recursion or explicitly with a stack data structure.</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Time complexity: O(V + E) on adjacency list, O(V²) on adjacency matrix.</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Space complexity: O(V) for the recursion stack + visited array.</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Variants: pre-order, in-order, post-order DFS each have distinct uses.</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Applications: cycle detection, topological sort, strongly connected components, maze solving.</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Key Concepts</a:t>
            </a:r>
            <a:endParaRPr lang="en-US" sz="2800" dirty="0"/>
          </a:p>
        </p:txBody>
      </p:sp>
      <p:sp>
        <p:nvSpPr>
          <p:cNvPr id="4" name="Shape 1"/>
          <p:cNvSpPr/>
          <p:nvPr/>
        </p:nvSpPr>
        <p:spPr>
          <a:xfrm>
            <a:off x="274320" y="1417320"/>
            <a:ext cx="2862072" cy="1463040"/>
          </a:xfrm>
          <a:prstGeom prst="rect">
            <a:avLst/>
          </a:prstGeom>
          <a:solidFill>
            <a:srgbClr val="FFFFFF"/>
          </a:solidFill>
          <a:ln w="12700">
            <a:solidFill>
              <a:srgbClr val="B22234"/>
            </a:solidFill>
            <a:prstDash val="solid"/>
          </a:ln>
        </p:spPr>
      </p:sp>
      <p:sp>
        <p:nvSpPr>
          <p:cNvPr id="5" name="Shape 2"/>
          <p:cNvSpPr/>
          <p:nvPr/>
        </p:nvSpPr>
        <p:spPr>
          <a:xfrm>
            <a:off x="274320" y="1005840"/>
            <a:ext cx="2862072" cy="411480"/>
          </a:xfrm>
          <a:prstGeom prst="rect">
            <a:avLst/>
          </a:prstGeom>
          <a:solidFill>
            <a:srgbClr val="B22234"/>
          </a:solidFill>
          <a:ln w="12700">
            <a:solidFill>
              <a:srgbClr val="B22234"/>
            </a:solidFill>
            <a:prstDash val="solid"/>
          </a:ln>
        </p:spPr>
      </p:sp>
      <p:sp>
        <p:nvSpPr>
          <p:cNvPr id="6" name="Text 3"/>
          <p:cNvSpPr/>
          <p:nvPr/>
        </p:nvSpPr>
        <p:spPr>
          <a:xfrm>
            <a:off x="274320" y="1005840"/>
            <a:ext cx="28620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Adjacency List</a:t>
            </a:r>
            <a:endParaRPr lang="en-US" sz="1400" dirty="0"/>
          </a:p>
        </p:txBody>
      </p:sp>
      <p:sp>
        <p:nvSpPr>
          <p:cNvPr id="7" name="Text 4"/>
          <p:cNvSpPr/>
          <p:nvPr/>
        </p:nvSpPr>
        <p:spPr>
          <a:xfrm>
            <a:off x="384048" y="1490472"/>
            <a:ext cx="2642616" cy="1316736"/>
          </a:xfrm>
          <a:prstGeom prst="rect">
            <a:avLst/>
          </a:prstGeom>
          <a:noFill/>
          <a:ln/>
        </p:spPr>
        <p:txBody>
          <a:bodyPr wrap="square" rtlCol="0" anchor="t"/>
          <a:lstStyle/>
          <a:p>
            <a:pPr algn="l" indent="0" marL="0">
              <a:spcAft>
                <a:spcPts val="300"/>
              </a:spcAft>
              <a:buNone/>
            </a:pPr>
            <a:r>
              <a:rPr lang="en-US" sz="1100" dirty="0">
                <a:solidFill>
                  <a:srgbClr val="333333"/>
                </a:solidFill>
                <a:latin typeface="Arial" pitchFamily="34" charset="0"/>
                <a:ea typeface="Arial" pitchFamily="34" charset="-122"/>
                <a:cs typeface="Arial" pitchFamily="34" charset="-120"/>
              </a:rPr>
              <a:t>Array of lists where graph[u] holds neighbours of u. Space O(V+E) — ideal for sparse graphs.</a:t>
            </a:r>
            <a:endParaRPr lang="en-US" sz="1100" dirty="0"/>
          </a:p>
        </p:txBody>
      </p:sp>
      <p:sp>
        <p:nvSpPr>
          <p:cNvPr id="8" name="Shape 5"/>
          <p:cNvSpPr/>
          <p:nvPr/>
        </p:nvSpPr>
        <p:spPr>
          <a:xfrm>
            <a:off x="3209544" y="1417320"/>
            <a:ext cx="2862072" cy="1463040"/>
          </a:xfrm>
          <a:prstGeom prst="rect">
            <a:avLst/>
          </a:prstGeom>
          <a:solidFill>
            <a:srgbClr val="FFFFFF"/>
          </a:solidFill>
          <a:ln w="12700">
            <a:solidFill>
              <a:srgbClr val="1F3864"/>
            </a:solidFill>
            <a:prstDash val="solid"/>
          </a:ln>
        </p:spPr>
      </p:sp>
      <p:sp>
        <p:nvSpPr>
          <p:cNvPr id="9" name="Shape 6"/>
          <p:cNvSpPr/>
          <p:nvPr/>
        </p:nvSpPr>
        <p:spPr>
          <a:xfrm>
            <a:off x="3209544" y="1005840"/>
            <a:ext cx="2862072" cy="411480"/>
          </a:xfrm>
          <a:prstGeom prst="rect">
            <a:avLst/>
          </a:prstGeom>
          <a:solidFill>
            <a:srgbClr val="1F3864"/>
          </a:solidFill>
          <a:ln w="12700">
            <a:solidFill>
              <a:srgbClr val="1F3864"/>
            </a:solidFill>
            <a:prstDash val="solid"/>
          </a:ln>
        </p:spPr>
      </p:sp>
      <p:sp>
        <p:nvSpPr>
          <p:cNvPr id="10" name="Text 7"/>
          <p:cNvSpPr/>
          <p:nvPr/>
        </p:nvSpPr>
        <p:spPr>
          <a:xfrm>
            <a:off x="3209544" y="1005840"/>
            <a:ext cx="28620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Adjacency Matrix</a:t>
            </a:r>
            <a:endParaRPr lang="en-US" sz="1400" dirty="0"/>
          </a:p>
        </p:txBody>
      </p:sp>
      <p:sp>
        <p:nvSpPr>
          <p:cNvPr id="11" name="Text 8"/>
          <p:cNvSpPr/>
          <p:nvPr/>
        </p:nvSpPr>
        <p:spPr>
          <a:xfrm>
            <a:off x="3319272" y="1490472"/>
            <a:ext cx="2642616" cy="1316736"/>
          </a:xfrm>
          <a:prstGeom prst="rect">
            <a:avLst/>
          </a:prstGeom>
          <a:noFill/>
          <a:ln/>
        </p:spPr>
        <p:txBody>
          <a:bodyPr wrap="square" rtlCol="0" anchor="t"/>
          <a:lstStyle/>
          <a:p>
            <a:pPr algn="l" indent="0" marL="0">
              <a:spcAft>
                <a:spcPts val="300"/>
              </a:spcAft>
              <a:buNone/>
            </a:pPr>
            <a:r>
              <a:rPr lang="en-US" sz="1100" dirty="0">
                <a:solidFill>
                  <a:srgbClr val="333333"/>
                </a:solidFill>
                <a:latin typeface="Arial" pitchFamily="34" charset="0"/>
                <a:ea typeface="Arial" pitchFamily="34" charset="-122"/>
                <a:cs typeface="Arial" pitchFamily="34" charset="-120"/>
              </a:rPr>
              <a:t>V×V boolean grid. O(V²) space but O(1) edge lookup — preferred for dense graphs.</a:t>
            </a:r>
            <a:endParaRPr lang="en-US" sz="1100" dirty="0"/>
          </a:p>
        </p:txBody>
      </p:sp>
      <p:sp>
        <p:nvSpPr>
          <p:cNvPr id="12" name="Shape 9"/>
          <p:cNvSpPr/>
          <p:nvPr/>
        </p:nvSpPr>
        <p:spPr>
          <a:xfrm>
            <a:off x="6144768" y="1417320"/>
            <a:ext cx="2862072" cy="1463040"/>
          </a:xfrm>
          <a:prstGeom prst="rect">
            <a:avLst/>
          </a:prstGeom>
          <a:solidFill>
            <a:srgbClr val="FFFFFF"/>
          </a:solidFill>
          <a:ln w="12700">
            <a:solidFill>
              <a:srgbClr val="2C5F2D"/>
            </a:solidFill>
            <a:prstDash val="solid"/>
          </a:ln>
        </p:spPr>
      </p:sp>
      <p:sp>
        <p:nvSpPr>
          <p:cNvPr id="13" name="Shape 10"/>
          <p:cNvSpPr/>
          <p:nvPr/>
        </p:nvSpPr>
        <p:spPr>
          <a:xfrm>
            <a:off x="6144768" y="1005840"/>
            <a:ext cx="2862072" cy="411480"/>
          </a:xfrm>
          <a:prstGeom prst="rect">
            <a:avLst/>
          </a:prstGeom>
          <a:solidFill>
            <a:srgbClr val="2C5F2D"/>
          </a:solidFill>
          <a:ln w="12700">
            <a:solidFill>
              <a:srgbClr val="2C5F2D"/>
            </a:solidFill>
            <a:prstDash val="solid"/>
          </a:ln>
        </p:spPr>
      </p:sp>
      <p:sp>
        <p:nvSpPr>
          <p:cNvPr id="14" name="Text 11"/>
          <p:cNvSpPr/>
          <p:nvPr/>
        </p:nvSpPr>
        <p:spPr>
          <a:xfrm>
            <a:off x="6144768" y="1005840"/>
            <a:ext cx="28620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Queue (BFS)</a:t>
            </a:r>
            <a:endParaRPr lang="en-US" sz="1400" dirty="0"/>
          </a:p>
        </p:txBody>
      </p:sp>
      <p:sp>
        <p:nvSpPr>
          <p:cNvPr id="15" name="Text 12"/>
          <p:cNvSpPr/>
          <p:nvPr/>
        </p:nvSpPr>
        <p:spPr>
          <a:xfrm>
            <a:off x="6254496" y="1490472"/>
            <a:ext cx="2642616" cy="1316736"/>
          </a:xfrm>
          <a:prstGeom prst="rect">
            <a:avLst/>
          </a:prstGeom>
          <a:noFill/>
          <a:ln/>
        </p:spPr>
        <p:txBody>
          <a:bodyPr wrap="square" rtlCol="0" anchor="t"/>
          <a:lstStyle/>
          <a:p>
            <a:pPr algn="l" indent="0" marL="0">
              <a:spcAft>
                <a:spcPts val="300"/>
              </a:spcAft>
              <a:buNone/>
            </a:pPr>
            <a:r>
              <a:rPr lang="en-US" sz="1100" dirty="0">
                <a:solidFill>
                  <a:srgbClr val="333333"/>
                </a:solidFill>
                <a:latin typeface="Arial" pitchFamily="34" charset="0"/>
                <a:ea typeface="Arial" pitchFamily="34" charset="-122"/>
                <a:cs typeface="Arial" pitchFamily="34" charset="-120"/>
              </a:rPr>
              <a:t>FIFO structure. Enqueue source, then repeatedly dequeue and enqueue all unvisited neighbours.</a:t>
            </a:r>
            <a:endParaRPr lang="en-US" sz="1100" dirty="0"/>
          </a:p>
        </p:txBody>
      </p:sp>
      <p:sp>
        <p:nvSpPr>
          <p:cNvPr id="16" name="Shape 13"/>
          <p:cNvSpPr/>
          <p:nvPr/>
        </p:nvSpPr>
        <p:spPr>
          <a:xfrm>
            <a:off x="274320" y="3429000"/>
            <a:ext cx="2862072" cy="1463040"/>
          </a:xfrm>
          <a:prstGeom prst="rect">
            <a:avLst/>
          </a:prstGeom>
          <a:solidFill>
            <a:srgbClr val="FFFFFF"/>
          </a:solidFill>
          <a:ln w="12700">
            <a:solidFill>
              <a:srgbClr val="B22234"/>
            </a:solidFill>
            <a:prstDash val="solid"/>
          </a:ln>
        </p:spPr>
      </p:sp>
      <p:sp>
        <p:nvSpPr>
          <p:cNvPr id="17" name="Shape 14"/>
          <p:cNvSpPr/>
          <p:nvPr/>
        </p:nvSpPr>
        <p:spPr>
          <a:xfrm>
            <a:off x="274320" y="3017520"/>
            <a:ext cx="2862072" cy="411480"/>
          </a:xfrm>
          <a:prstGeom prst="rect">
            <a:avLst/>
          </a:prstGeom>
          <a:solidFill>
            <a:srgbClr val="B22234"/>
          </a:solidFill>
          <a:ln w="12700">
            <a:solidFill>
              <a:srgbClr val="B22234"/>
            </a:solidFill>
            <a:prstDash val="solid"/>
          </a:ln>
        </p:spPr>
      </p:sp>
      <p:sp>
        <p:nvSpPr>
          <p:cNvPr id="18" name="Text 15"/>
          <p:cNvSpPr/>
          <p:nvPr/>
        </p:nvSpPr>
        <p:spPr>
          <a:xfrm>
            <a:off x="274320" y="3017520"/>
            <a:ext cx="28620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Stack (DFS)</a:t>
            </a:r>
            <a:endParaRPr lang="en-US" sz="1400" dirty="0"/>
          </a:p>
        </p:txBody>
      </p:sp>
      <p:sp>
        <p:nvSpPr>
          <p:cNvPr id="19" name="Text 16"/>
          <p:cNvSpPr/>
          <p:nvPr/>
        </p:nvSpPr>
        <p:spPr>
          <a:xfrm>
            <a:off x="384048" y="3502152"/>
            <a:ext cx="2642616" cy="1316736"/>
          </a:xfrm>
          <a:prstGeom prst="rect">
            <a:avLst/>
          </a:prstGeom>
          <a:noFill/>
          <a:ln/>
        </p:spPr>
        <p:txBody>
          <a:bodyPr wrap="square" rtlCol="0" anchor="t"/>
          <a:lstStyle/>
          <a:p>
            <a:pPr algn="l" indent="0" marL="0">
              <a:spcAft>
                <a:spcPts val="300"/>
              </a:spcAft>
              <a:buNone/>
            </a:pPr>
            <a:r>
              <a:rPr lang="en-US" sz="1100" dirty="0">
                <a:solidFill>
                  <a:srgbClr val="333333"/>
                </a:solidFill>
                <a:latin typeface="Arial" pitchFamily="34" charset="0"/>
                <a:ea typeface="Arial" pitchFamily="34" charset="-122"/>
                <a:cs typeface="Arial" pitchFamily="34" charset="-120"/>
              </a:rPr>
              <a:t>LIFO structure (or recursion). Visit a vertex, then recurse into one neighbour before exploring siblings.</a:t>
            </a:r>
            <a:endParaRPr lang="en-US" sz="1100" dirty="0"/>
          </a:p>
        </p:txBody>
      </p:sp>
      <p:sp>
        <p:nvSpPr>
          <p:cNvPr id="20" name="Shape 17"/>
          <p:cNvSpPr/>
          <p:nvPr/>
        </p:nvSpPr>
        <p:spPr>
          <a:xfrm>
            <a:off x="3209544" y="3429000"/>
            <a:ext cx="2862072" cy="1463040"/>
          </a:xfrm>
          <a:prstGeom prst="rect">
            <a:avLst/>
          </a:prstGeom>
          <a:solidFill>
            <a:srgbClr val="FFFFFF"/>
          </a:solidFill>
          <a:ln w="12700">
            <a:solidFill>
              <a:srgbClr val="1F3864"/>
            </a:solidFill>
            <a:prstDash val="solid"/>
          </a:ln>
        </p:spPr>
      </p:sp>
      <p:sp>
        <p:nvSpPr>
          <p:cNvPr id="21" name="Shape 18"/>
          <p:cNvSpPr/>
          <p:nvPr/>
        </p:nvSpPr>
        <p:spPr>
          <a:xfrm>
            <a:off x="3209544" y="3017520"/>
            <a:ext cx="2862072" cy="411480"/>
          </a:xfrm>
          <a:prstGeom prst="rect">
            <a:avLst/>
          </a:prstGeom>
          <a:solidFill>
            <a:srgbClr val="1F3864"/>
          </a:solidFill>
          <a:ln w="12700">
            <a:solidFill>
              <a:srgbClr val="1F3864"/>
            </a:solidFill>
            <a:prstDash val="solid"/>
          </a:ln>
        </p:spPr>
      </p:sp>
      <p:sp>
        <p:nvSpPr>
          <p:cNvPr id="22" name="Text 19"/>
          <p:cNvSpPr/>
          <p:nvPr/>
        </p:nvSpPr>
        <p:spPr>
          <a:xfrm>
            <a:off x="3209544" y="3017520"/>
            <a:ext cx="28620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Visited Array</a:t>
            </a:r>
            <a:endParaRPr lang="en-US" sz="1400" dirty="0"/>
          </a:p>
        </p:txBody>
      </p:sp>
      <p:sp>
        <p:nvSpPr>
          <p:cNvPr id="23" name="Text 20"/>
          <p:cNvSpPr/>
          <p:nvPr/>
        </p:nvSpPr>
        <p:spPr>
          <a:xfrm>
            <a:off x="3319272" y="3502152"/>
            <a:ext cx="2642616" cy="1316736"/>
          </a:xfrm>
          <a:prstGeom prst="rect">
            <a:avLst/>
          </a:prstGeom>
          <a:noFill/>
          <a:ln/>
        </p:spPr>
        <p:txBody>
          <a:bodyPr wrap="square" rtlCol="0" anchor="t"/>
          <a:lstStyle/>
          <a:p>
            <a:pPr algn="l" indent="0" marL="0">
              <a:spcAft>
                <a:spcPts val="300"/>
              </a:spcAft>
              <a:buNone/>
            </a:pPr>
            <a:r>
              <a:rPr lang="en-US" sz="1100" dirty="0">
                <a:solidFill>
                  <a:srgbClr val="333333"/>
                </a:solidFill>
                <a:latin typeface="Arial" pitchFamily="34" charset="0"/>
                <a:ea typeface="Arial" pitchFamily="34" charset="-122"/>
                <a:cs typeface="Arial" pitchFamily="34" charset="-120"/>
              </a:rPr>
              <a:t>Boolean array of size V preventing re-processing — essential to avoid infinite loops in cyclic graphs.</a:t>
            </a:r>
            <a:endParaRPr lang="en-US" sz="1100" dirty="0"/>
          </a:p>
        </p:txBody>
      </p:sp>
      <p:sp>
        <p:nvSpPr>
          <p:cNvPr id="24" name="Shape 21"/>
          <p:cNvSpPr/>
          <p:nvPr/>
        </p:nvSpPr>
        <p:spPr>
          <a:xfrm>
            <a:off x="6144768" y="3429000"/>
            <a:ext cx="2862072" cy="1463040"/>
          </a:xfrm>
          <a:prstGeom prst="rect">
            <a:avLst/>
          </a:prstGeom>
          <a:solidFill>
            <a:srgbClr val="FFFFFF"/>
          </a:solidFill>
          <a:ln w="12700">
            <a:solidFill>
              <a:srgbClr val="2C5F2D"/>
            </a:solidFill>
            <a:prstDash val="solid"/>
          </a:ln>
        </p:spPr>
      </p:sp>
      <p:sp>
        <p:nvSpPr>
          <p:cNvPr id="25" name="Shape 22"/>
          <p:cNvSpPr/>
          <p:nvPr/>
        </p:nvSpPr>
        <p:spPr>
          <a:xfrm>
            <a:off x="6144768" y="3017520"/>
            <a:ext cx="2862072" cy="411480"/>
          </a:xfrm>
          <a:prstGeom prst="rect">
            <a:avLst/>
          </a:prstGeom>
          <a:solidFill>
            <a:srgbClr val="2C5F2D"/>
          </a:solidFill>
          <a:ln w="12700">
            <a:solidFill>
              <a:srgbClr val="2C5F2D"/>
            </a:solidFill>
            <a:prstDash val="solid"/>
          </a:ln>
        </p:spPr>
      </p:sp>
      <p:sp>
        <p:nvSpPr>
          <p:cNvPr id="26" name="Text 23"/>
          <p:cNvSpPr/>
          <p:nvPr/>
        </p:nvSpPr>
        <p:spPr>
          <a:xfrm>
            <a:off x="6144768" y="3017520"/>
            <a:ext cx="28620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Components</a:t>
            </a:r>
            <a:endParaRPr lang="en-US" sz="1400" dirty="0"/>
          </a:p>
        </p:txBody>
      </p:sp>
      <p:sp>
        <p:nvSpPr>
          <p:cNvPr id="27" name="Text 24"/>
          <p:cNvSpPr/>
          <p:nvPr/>
        </p:nvSpPr>
        <p:spPr>
          <a:xfrm>
            <a:off x="6254496" y="3502152"/>
            <a:ext cx="2642616" cy="1316736"/>
          </a:xfrm>
          <a:prstGeom prst="rect">
            <a:avLst/>
          </a:prstGeom>
          <a:noFill/>
          <a:ln/>
        </p:spPr>
        <p:txBody>
          <a:bodyPr wrap="square" rtlCol="0" anchor="t"/>
          <a:lstStyle/>
          <a:p>
            <a:pPr algn="l" indent="0" marL="0">
              <a:spcAft>
                <a:spcPts val="300"/>
              </a:spcAft>
              <a:buNone/>
            </a:pPr>
            <a:r>
              <a:rPr lang="en-US" sz="1100" dirty="0">
                <a:solidFill>
                  <a:srgbClr val="333333"/>
                </a:solidFill>
                <a:latin typeface="Arial" pitchFamily="34" charset="0"/>
                <a:ea typeface="Arial" pitchFamily="34" charset="-122"/>
                <a:cs typeface="Arial" pitchFamily="34" charset="-120"/>
              </a:rPr>
              <a:t>A disconnected graph has multiple components. Counting BFS/DFS restart calls counts components.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Problem Statement</a:t>
            </a:r>
            <a:endParaRPr lang="en-US" sz="2800" dirty="0"/>
          </a:p>
        </p:txBody>
      </p:sp>
      <p:sp>
        <p:nvSpPr>
          <p:cNvPr id="4" name="Shape 1"/>
          <p:cNvSpPr/>
          <p:nvPr/>
        </p:nvSpPr>
        <p:spPr>
          <a:xfrm>
            <a:off x="274320" y="960120"/>
            <a:ext cx="8595360" cy="868680"/>
          </a:xfrm>
          <a:prstGeom prst="rect">
            <a:avLst/>
          </a:prstGeom>
          <a:solidFill>
            <a:srgbClr val="FBEEF0"/>
          </a:solidFill>
          <a:ln w="12700">
            <a:solidFill>
              <a:srgbClr val="B22234"/>
            </a:solidFill>
            <a:prstDash val="solid"/>
          </a:ln>
        </p:spPr>
      </p:sp>
      <p:sp>
        <p:nvSpPr>
          <p:cNvPr id="5" name="Text 2"/>
          <p:cNvSpPr/>
          <p:nvPr/>
        </p:nvSpPr>
        <p:spPr>
          <a:xfrm>
            <a:off x="411480" y="1005840"/>
            <a:ext cx="8321040" cy="777240"/>
          </a:xfrm>
          <a:prstGeom prst="rect">
            <a:avLst/>
          </a:prstGeom>
          <a:noFill/>
          <a:ln/>
        </p:spPr>
        <p:txBody>
          <a:bodyPr wrap="square" rtlCol="0" anchor="t"/>
          <a:lstStyle/>
          <a:p>
            <a:pPr algn="l" indent="0" marL="0">
              <a:spcAft>
                <a:spcPts val="400"/>
              </a:spcAft>
              <a:buNone/>
            </a:pPr>
            <a:r>
              <a:rPr lang="en-US" sz="1150" b="1" dirty="0">
                <a:solidFill>
                  <a:srgbClr val="B22234"/>
                </a:solidFill>
                <a:latin typeface="Arial" pitchFamily="34" charset="0"/>
                <a:ea typeface="Arial" pitchFamily="34" charset="-122"/>
                <a:cs typeface="Arial" pitchFamily="34" charset="-120"/>
              </a:rPr>
              <a:t>Problem: </a:t>
            </a:r>
            <a:pPr algn="l" indent="0" marL="0">
              <a:spcAft>
                <a:spcPts val="400"/>
              </a:spcAft>
              <a:buNone/>
            </a:pPr>
            <a:r>
              <a:rPr lang="en-US" sz="1150" b="1" dirty="0">
                <a:solidFill>
                  <a:srgbClr val="1A1A1A"/>
                </a:solidFill>
                <a:latin typeface="Arial" pitchFamily="34" charset="0"/>
                <a:ea typeface="Arial" pitchFamily="34" charset="-122"/>
                <a:cs typeface="Arial" pitchFamily="34" charset="-120"/>
              </a:rPr>
              <a:t>Number of Islands (LeetCode #200)</a:t>
            </a:r>
            <a:endParaRPr lang="en-US" sz="1150" dirty="0"/>
          </a:p>
          <a:p>
            <a:pPr algn="l" indent="0" marL="0">
              <a:spcAft>
                <a:spcPts val="400"/>
              </a:spcAft>
              <a:buNone/>
            </a:pPr>
            <a:r>
              <a:rPr lang="en-US" sz="1150" dirty="0">
                <a:solidFill>
                  <a:srgbClr val="333333"/>
                </a:solidFill>
                <a:latin typeface="Arial" pitchFamily="34" charset="0"/>
                <a:ea typeface="Arial" pitchFamily="34" charset="-122"/>
                <a:cs typeface="Arial" pitchFamily="34" charset="-120"/>
              </a:rPr>
              <a:t>Given an m×n 2D binary grid grid where '1' represents land and '0' represents water, return the number of islands. An island is surrounded by water and is formed by connecting adjacent lands horizontally or vertically. Solve using both BFS and DFS.</a:t>
            </a:r>
            <a:endParaRPr lang="en-US" sz="1150" dirty="0"/>
          </a:p>
        </p:txBody>
      </p:sp>
      <p:sp>
        <p:nvSpPr>
          <p:cNvPr id="6" name="Shape 3"/>
          <p:cNvSpPr/>
          <p:nvPr/>
        </p:nvSpPr>
        <p:spPr>
          <a:xfrm>
            <a:off x="274320" y="1965960"/>
            <a:ext cx="8595360" cy="365760"/>
          </a:xfrm>
          <a:prstGeom prst="rect">
            <a:avLst/>
          </a:prstGeom>
          <a:solidFill>
            <a:srgbClr val="FEF3C7"/>
          </a:solidFill>
          <a:ln w="12700">
            <a:solidFill>
              <a:srgbClr val="F59E0B"/>
            </a:solidFill>
            <a:prstDash val="solid"/>
          </a:ln>
        </p:spPr>
      </p:sp>
      <p:sp>
        <p:nvSpPr>
          <p:cNvPr id="7" name="Text 4">
            <a:hlinkClick r:id="rIdundefined" tooltip=""/>
          </p:cNvPr>
          <p:cNvSpPr/>
          <p:nvPr/>
        </p:nvSpPr>
        <p:spPr>
          <a:xfrm>
            <a:off x="411480" y="1965960"/>
            <a:ext cx="8321040" cy="365760"/>
          </a:xfrm>
          <a:prstGeom prst="rect">
            <a:avLst/>
          </a:prstGeom>
          <a:noFill/>
          <a:ln/>
        </p:spPr>
        <p:txBody>
          <a:bodyPr wrap="square" lIns="0" tIns="0" rIns="0" bIns="0" rtlCol="0" anchor="ctr"/>
          <a:lstStyle/>
          <a:p>
            <a:pPr algn="l" indent="0" marL="0">
              <a:buNone/>
            </a:pPr>
            <a:r>
              <a:rPr lang="en-US" sz="1200" u="sng" dirty="0">
                <a:solidFill>
                  <a:srgbClr val="000000"/>
                </a:solidFill>
                <a:hlinkClick r:id="rIdundefined" invalidUrl="" action="" tgtFrame="" tooltip="" history="1" highlightClick="0" endSnd="0">
                  <a:extLst>
                    <a:ext uri="{A12FA001-AC4F-418D-AE19-62706E023703}">
                      <ahyp:hlinkClr xmlns:ahyp="http://schemas.microsoft.com/office/drawing/2018/hyperlinkcolor" val="tx"/>
                    </a:ext>
                  </a:extLst>
                </a:hlinkClick>
              </a:rPr>
              <a:t>🔗  </a:t>
            </a:r>
            <a:pPr algn="l" indent="0" marL="0">
              <a:buNone/>
            </a:pPr>
            <a:r>
              <a:rPr lang="en-US" sz="1100" b="1" u="sng" dirty="0">
                <a:solidFill>
                  <a:srgbClr val="1A1A1A"/>
                </a:solidFill>
                <a:latin typeface="Consolas" pitchFamily="34" charset="0"/>
                <a:ea typeface="Consolas" pitchFamily="34" charset="-122"/>
                <a:cs typeface="Consolas"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LeetCode Reference:  https://leetcode.com/problems/number-of-islands/  (#200)</a:t>
            </a:r>
            <a:endParaRPr lang="en-US" sz="1200" dirty="0"/>
          </a:p>
        </p:txBody>
      </p:sp>
      <p:sp>
        <p:nvSpPr>
          <p:cNvPr id="8" name="Text 5"/>
          <p:cNvSpPr/>
          <p:nvPr/>
        </p:nvSpPr>
        <p:spPr>
          <a:xfrm>
            <a:off x="274320" y="2423160"/>
            <a:ext cx="2743200" cy="274320"/>
          </a:xfrm>
          <a:prstGeom prst="rect">
            <a:avLst/>
          </a:prstGeom>
          <a:noFill/>
          <a:ln/>
        </p:spPr>
        <p:txBody>
          <a:bodyPr wrap="square" lIns="0" tIns="0" rIns="0" bIns="0" rtlCol="0" anchor="ctr"/>
          <a:lstStyle/>
          <a:p>
            <a:pPr algn="l" indent="0" marL="0">
              <a:buNone/>
            </a:pPr>
            <a:r>
              <a:rPr lang="en-US" sz="1400" b="1" dirty="0">
                <a:solidFill>
                  <a:srgbClr val="1A1A1A"/>
                </a:solidFill>
                <a:latin typeface="Georgia" pitchFamily="34" charset="0"/>
                <a:ea typeface="Georgia" pitchFamily="34" charset="-122"/>
                <a:cs typeface="Georgia" pitchFamily="34" charset="-120"/>
              </a:rPr>
              <a:t>Test Cases:</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2743200"/>
          <a:ext cx="8595360" cy="914400"/>
        </p:xfrm>
        <a:graphic>
          <a:graphicData uri="http://schemas.openxmlformats.org/drawingml/2006/table">
            <a:tbl>
              <a:tblPr/>
              <a:tblGrid>
                <a:gridCol w="2286000"/>
                <a:gridCol w="1828800"/>
                <a:gridCol w="4480560"/>
              </a:tblGrid>
              <a:tr h="411480">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Input</a:t>
                      </a:r>
                      <a:endParaRPr lang="en-US" sz="12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B22234"/>
                    </a:solidFill>
                  </a:tcPr>
                </a:tc>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Expected Output</a:t>
                      </a:r>
                      <a:endParaRPr lang="en-US" sz="12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B22234"/>
                    </a:solidFill>
                  </a:tcPr>
                </a:tc>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Explanation</a:t>
                      </a:r>
                      <a:endParaRPr lang="en-US" sz="12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B22234"/>
                    </a:solidFill>
                  </a:tcPr>
                </a:tc>
              </a:tr>
              <a:tr h="411480">
                <a:tc>
                  <a:txBody>
                    <a:bodyPr/>
                    <a:lstStyle/>
                    <a:p>
                      <a:pPr algn="ctr" indent="0" marL="0">
                        <a:buNone/>
                      </a:pPr>
                      <a:r>
                        <a:rPr lang="en-US" sz="1100" dirty="0">
                          <a:solidFill>
                            <a:srgbClr val="1A1A1A"/>
                          </a:solidFill>
                          <a:latin typeface="Consolas" pitchFamily="34" charset="0"/>
                          <a:ea typeface="Consolas" pitchFamily="34" charset="-122"/>
                          <a:cs typeface="Consolas" pitchFamily="34" charset="-120"/>
                        </a:rPr>
                        <a:t>grid=["11110","11010","11000","00000"]</a:t>
                      </a:r>
                      <a:endParaRPr lang="en-US" sz="11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C5F2D"/>
                          </a:solidFill>
                          <a:latin typeface="Consolas" pitchFamily="34" charset="0"/>
                          <a:ea typeface="Consolas" pitchFamily="34" charset="-122"/>
                          <a:cs typeface="Consolas" pitchFamily="34" charset="-120"/>
                        </a:rPr>
                        <a:t>1</a:t>
                      </a:r>
                      <a:endParaRPr lang="en-US" sz="12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3333"/>
                          </a:solidFill>
                          <a:latin typeface="Arial" pitchFamily="34" charset="0"/>
                          <a:ea typeface="Arial" pitchFamily="34" charset="-122"/>
                          <a:cs typeface="Arial" pitchFamily="34" charset="-120"/>
                        </a:rPr>
                        <a:t>All connected land = one island</a:t>
                      </a:r>
                      <a:endParaRPr lang="en-US" sz="11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algn="ctr" indent="0" marL="0">
                        <a:buNone/>
                      </a:pPr>
                      <a:r>
                        <a:rPr lang="en-US" sz="1100" dirty="0">
                          <a:solidFill>
                            <a:srgbClr val="1A1A1A"/>
                          </a:solidFill>
                          <a:latin typeface="Consolas" pitchFamily="34" charset="0"/>
                          <a:ea typeface="Consolas" pitchFamily="34" charset="-122"/>
                          <a:cs typeface="Consolas" pitchFamily="34" charset="-120"/>
                        </a:rPr>
                        <a:t>grid=["11000","11000","00100","00011"]</a:t>
                      </a:r>
                      <a:endParaRPr lang="en-US" sz="11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c>
                  <a:txBody>
                    <a:bodyPr/>
                    <a:lstStyle/>
                    <a:p>
                      <a:pPr algn="ctr" indent="0" marL="0">
                        <a:buNone/>
                      </a:pPr>
                      <a:r>
                        <a:rPr lang="en-US" sz="1200" b="1" dirty="0">
                          <a:solidFill>
                            <a:srgbClr val="2C5F2D"/>
                          </a:solidFill>
                          <a:latin typeface="Consolas" pitchFamily="34" charset="0"/>
                          <a:ea typeface="Consolas" pitchFamily="34" charset="-122"/>
                          <a:cs typeface="Consolas" pitchFamily="34" charset="-120"/>
                        </a:rPr>
                        <a:t>3</a:t>
                      </a:r>
                      <a:endParaRPr lang="en-US" sz="12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c>
                  <a:txBody>
                    <a:bodyPr/>
                    <a:lstStyle/>
                    <a:p>
                      <a:pPr algn="l" indent="0" marL="0">
                        <a:buNone/>
                      </a:pPr>
                      <a:r>
                        <a:rPr lang="en-US" sz="1100" dirty="0">
                          <a:solidFill>
                            <a:srgbClr val="333333"/>
                          </a:solidFill>
                          <a:latin typeface="Arial" pitchFamily="34" charset="0"/>
                          <a:ea typeface="Arial" pitchFamily="34" charset="-122"/>
                          <a:cs typeface="Arial" pitchFamily="34" charset="-120"/>
                        </a:rPr>
                        <a:t>Three disconnected islands</a:t>
                      </a:r>
                      <a:endParaRPr lang="en-US" sz="11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r>
              <a:tr h="411480">
                <a:tc>
                  <a:txBody>
                    <a:bodyPr/>
                    <a:lstStyle/>
                    <a:p>
                      <a:pPr algn="ctr" indent="0" marL="0">
                        <a:buNone/>
                      </a:pPr>
                      <a:r>
                        <a:rPr lang="en-US" sz="1100" dirty="0">
                          <a:solidFill>
                            <a:srgbClr val="1A1A1A"/>
                          </a:solidFill>
                          <a:latin typeface="Consolas" pitchFamily="34" charset="0"/>
                          <a:ea typeface="Consolas" pitchFamily="34" charset="-122"/>
                          <a:cs typeface="Consolas" pitchFamily="34" charset="-120"/>
                        </a:rPr>
                        <a:t>grid=["00000"]</a:t>
                      </a:r>
                      <a:endParaRPr lang="en-US" sz="11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C5F2D"/>
                          </a:solidFill>
                          <a:latin typeface="Consolas" pitchFamily="34" charset="0"/>
                          <a:ea typeface="Consolas" pitchFamily="34" charset="-122"/>
                          <a:cs typeface="Consolas" pitchFamily="34" charset="-120"/>
                        </a:rPr>
                        <a:t>0</a:t>
                      </a:r>
                      <a:endParaRPr lang="en-US" sz="12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3333"/>
                          </a:solidFill>
                          <a:latin typeface="Arial" pitchFamily="34" charset="0"/>
                          <a:ea typeface="Arial" pitchFamily="34" charset="-122"/>
                          <a:cs typeface="Arial" pitchFamily="34" charset="-120"/>
                        </a:rPr>
                        <a:t>No land cells — zero islands</a:t>
                      </a:r>
                      <a:endParaRPr lang="en-US" sz="11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algn="ctr" indent="0" marL="0">
                        <a:buNone/>
                      </a:pPr>
                      <a:r>
                        <a:rPr lang="en-US" sz="1100" dirty="0">
                          <a:solidFill>
                            <a:srgbClr val="1A1A1A"/>
                          </a:solidFill>
                          <a:latin typeface="Consolas" pitchFamily="34" charset="0"/>
                          <a:ea typeface="Consolas" pitchFamily="34" charset="-122"/>
                          <a:cs typeface="Consolas" pitchFamily="34" charset="-120"/>
                        </a:rPr>
                        <a:t>grid=["11111","11111"]</a:t>
                      </a:r>
                      <a:endParaRPr lang="en-US" sz="11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c>
                  <a:txBody>
                    <a:bodyPr/>
                    <a:lstStyle/>
                    <a:p>
                      <a:pPr algn="ctr" indent="0" marL="0">
                        <a:buNone/>
                      </a:pPr>
                      <a:r>
                        <a:rPr lang="en-US" sz="1200" b="1" dirty="0">
                          <a:solidFill>
                            <a:srgbClr val="2C5F2D"/>
                          </a:solidFill>
                          <a:latin typeface="Consolas" pitchFamily="34" charset="0"/>
                          <a:ea typeface="Consolas" pitchFamily="34" charset="-122"/>
                          <a:cs typeface="Consolas" pitchFamily="34" charset="-120"/>
                        </a:rPr>
                        <a:t>1</a:t>
                      </a:r>
                      <a:endParaRPr lang="en-US" sz="12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c>
                  <a:txBody>
                    <a:bodyPr/>
                    <a:lstStyle/>
                    <a:p>
                      <a:pPr algn="l" indent="0" marL="0">
                        <a:buNone/>
                      </a:pPr>
                      <a:r>
                        <a:rPr lang="en-US" sz="1100" dirty="0">
                          <a:solidFill>
                            <a:srgbClr val="333333"/>
                          </a:solidFill>
                          <a:latin typeface="Arial" pitchFamily="34" charset="0"/>
                          <a:ea typeface="Arial" pitchFamily="34" charset="-122"/>
                          <a:cs typeface="Arial" pitchFamily="34" charset="-120"/>
                        </a:rPr>
                        <a:t>Entire grid connected = one island</a:t>
                      </a:r>
                      <a:endParaRPr lang="en-US" sz="11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Approach</a:t>
            </a:r>
            <a:endParaRPr lang="en-US" sz="2800" dirty="0"/>
          </a:p>
        </p:txBody>
      </p:sp>
      <p:sp>
        <p:nvSpPr>
          <p:cNvPr id="4" name="Shape 1"/>
          <p:cNvSpPr/>
          <p:nvPr/>
        </p:nvSpPr>
        <p:spPr>
          <a:xfrm>
            <a:off x="274320" y="1325880"/>
            <a:ext cx="4297680" cy="3611880"/>
          </a:xfrm>
          <a:prstGeom prst="rect">
            <a:avLst/>
          </a:prstGeom>
          <a:solidFill>
            <a:srgbClr val="F5F5F5"/>
          </a:solidFill>
          <a:ln w="12700">
            <a:solidFill>
              <a:srgbClr val="D1D5DB"/>
            </a:solidFill>
            <a:prstDash val="solid"/>
          </a:ln>
        </p:spPr>
      </p:sp>
      <p:sp>
        <p:nvSpPr>
          <p:cNvPr id="5" name="Shape 2"/>
          <p:cNvSpPr/>
          <p:nvPr/>
        </p:nvSpPr>
        <p:spPr>
          <a:xfrm>
            <a:off x="274320" y="960120"/>
            <a:ext cx="4297680" cy="365760"/>
          </a:xfrm>
          <a:prstGeom prst="rect">
            <a:avLst/>
          </a:prstGeom>
          <a:solidFill>
            <a:srgbClr val="B22234"/>
          </a:solidFill>
          <a:ln w="12700">
            <a:solidFill>
              <a:srgbClr val="B22234"/>
            </a:solidFill>
            <a:prstDash val="solid"/>
          </a:ln>
        </p:spPr>
      </p:sp>
      <p:sp>
        <p:nvSpPr>
          <p:cNvPr id="6" name="Text 3"/>
          <p:cNvSpPr/>
          <p:nvPr/>
        </p:nvSpPr>
        <p:spPr>
          <a:xfrm>
            <a:off x="274320" y="960120"/>
            <a:ext cx="429768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Step-by-Step Approach</a:t>
            </a:r>
            <a:endParaRPr lang="en-US" sz="1500" dirty="0"/>
          </a:p>
        </p:txBody>
      </p:sp>
      <p:sp>
        <p:nvSpPr>
          <p:cNvPr id="7" name="Shape 4"/>
          <p:cNvSpPr/>
          <p:nvPr/>
        </p:nvSpPr>
        <p:spPr>
          <a:xfrm>
            <a:off x="457200" y="1572768"/>
            <a:ext cx="384048" cy="384048"/>
          </a:xfrm>
          <a:prstGeom prst="ellipse">
            <a:avLst/>
          </a:prstGeom>
          <a:solidFill>
            <a:srgbClr val="B22234"/>
          </a:solidFill>
          <a:ln w="12700">
            <a:solidFill>
              <a:srgbClr val="B22234"/>
            </a:solidFill>
            <a:prstDash val="solid"/>
          </a:ln>
        </p:spPr>
      </p:sp>
      <p:sp>
        <p:nvSpPr>
          <p:cNvPr id="8" name="Text 5"/>
          <p:cNvSpPr/>
          <p:nvPr/>
        </p:nvSpPr>
        <p:spPr>
          <a:xfrm>
            <a:off x="457200" y="1572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9" name="Text 6"/>
          <p:cNvSpPr/>
          <p:nvPr/>
        </p:nvSpPr>
        <p:spPr>
          <a:xfrm>
            <a:off x="960120" y="1508760"/>
            <a:ext cx="3520440" cy="576072"/>
          </a:xfrm>
          <a:prstGeom prst="rect">
            <a:avLst/>
          </a:prstGeom>
          <a:noFill/>
          <a:ln/>
        </p:spPr>
        <p:txBody>
          <a:bodyPr wrap="square" rtlCol="0" anchor="ctr"/>
          <a:lstStyle/>
          <a:p>
            <a:pPr algn="l" indent="0" marL="0">
              <a:buNone/>
            </a:pPr>
            <a:r>
              <a:rPr lang="en-US" sz="1100" dirty="0">
                <a:solidFill>
                  <a:srgbClr val="333333"/>
                </a:solidFill>
                <a:latin typeface="Arial" pitchFamily="34" charset="0"/>
                <a:ea typeface="Arial" pitchFamily="34" charset="-122"/>
                <a:cs typeface="Arial" pitchFamily="34" charset="-120"/>
              </a:rPr>
              <a:t>Iterate over each cell (i, j) of the grid using nested loops.</a:t>
            </a:r>
            <a:endParaRPr lang="en-US" sz="1100" dirty="0"/>
          </a:p>
        </p:txBody>
      </p:sp>
      <p:sp>
        <p:nvSpPr>
          <p:cNvPr id="10" name="Shape 7"/>
          <p:cNvSpPr/>
          <p:nvPr/>
        </p:nvSpPr>
        <p:spPr>
          <a:xfrm>
            <a:off x="457200" y="2240280"/>
            <a:ext cx="384048" cy="384048"/>
          </a:xfrm>
          <a:prstGeom prst="ellipse">
            <a:avLst/>
          </a:prstGeom>
          <a:solidFill>
            <a:srgbClr val="B22234"/>
          </a:solidFill>
          <a:ln w="12700">
            <a:solidFill>
              <a:srgbClr val="B22234"/>
            </a:solidFill>
            <a:prstDash val="solid"/>
          </a:ln>
        </p:spPr>
      </p:sp>
      <p:sp>
        <p:nvSpPr>
          <p:cNvPr id="11" name="Text 8"/>
          <p:cNvSpPr/>
          <p:nvPr/>
        </p:nvSpPr>
        <p:spPr>
          <a:xfrm>
            <a:off x="457200" y="2240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2" name="Text 9"/>
          <p:cNvSpPr/>
          <p:nvPr/>
        </p:nvSpPr>
        <p:spPr>
          <a:xfrm>
            <a:off x="960120" y="2176272"/>
            <a:ext cx="3520440" cy="576072"/>
          </a:xfrm>
          <a:prstGeom prst="rect">
            <a:avLst/>
          </a:prstGeom>
          <a:noFill/>
          <a:ln/>
        </p:spPr>
        <p:txBody>
          <a:bodyPr wrap="square" rtlCol="0" anchor="ctr"/>
          <a:lstStyle/>
          <a:p>
            <a:pPr algn="l" indent="0" marL="0">
              <a:buNone/>
            </a:pPr>
            <a:r>
              <a:rPr lang="en-US" sz="1100" dirty="0">
                <a:solidFill>
                  <a:srgbClr val="333333"/>
                </a:solidFill>
                <a:latin typeface="Arial" pitchFamily="34" charset="0"/>
                <a:ea typeface="Arial" pitchFamily="34" charset="-122"/>
                <a:cs typeface="Arial" pitchFamily="34" charset="-120"/>
              </a:rPr>
              <a:t>When you encounter an unvisited '1', increment the island counter and trigger a traversal.</a:t>
            </a:r>
            <a:endParaRPr lang="en-US" sz="1100" dirty="0"/>
          </a:p>
        </p:txBody>
      </p:sp>
      <p:sp>
        <p:nvSpPr>
          <p:cNvPr id="13" name="Shape 10"/>
          <p:cNvSpPr/>
          <p:nvPr/>
        </p:nvSpPr>
        <p:spPr>
          <a:xfrm>
            <a:off x="457200" y="2907792"/>
            <a:ext cx="384048" cy="384048"/>
          </a:xfrm>
          <a:prstGeom prst="ellipse">
            <a:avLst/>
          </a:prstGeom>
          <a:solidFill>
            <a:srgbClr val="B22234"/>
          </a:solidFill>
          <a:ln w="12700">
            <a:solidFill>
              <a:srgbClr val="B22234"/>
            </a:solidFill>
            <a:prstDash val="solid"/>
          </a:ln>
        </p:spPr>
      </p:sp>
      <p:sp>
        <p:nvSpPr>
          <p:cNvPr id="14" name="Text 11"/>
          <p:cNvSpPr/>
          <p:nvPr/>
        </p:nvSpPr>
        <p:spPr>
          <a:xfrm>
            <a:off x="457200" y="29077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5" name="Text 12"/>
          <p:cNvSpPr/>
          <p:nvPr/>
        </p:nvSpPr>
        <p:spPr>
          <a:xfrm>
            <a:off x="960120" y="2843784"/>
            <a:ext cx="3520440" cy="576072"/>
          </a:xfrm>
          <a:prstGeom prst="rect">
            <a:avLst/>
          </a:prstGeom>
          <a:noFill/>
          <a:ln/>
        </p:spPr>
        <p:txBody>
          <a:bodyPr wrap="square" rtlCol="0" anchor="ctr"/>
          <a:lstStyle/>
          <a:p>
            <a:pPr algn="l" indent="0" marL="0">
              <a:buNone/>
            </a:pPr>
            <a:r>
              <a:rPr lang="en-US" sz="1100" dirty="0">
                <a:solidFill>
                  <a:srgbClr val="333333"/>
                </a:solidFill>
                <a:latin typeface="Arial" pitchFamily="34" charset="0"/>
                <a:ea typeface="Arial" pitchFamily="34" charset="-122"/>
                <a:cs typeface="Arial" pitchFamily="34" charset="-120"/>
              </a:rPr>
              <a:t>DFS: recursively mark every 4-directionally connected '1' as visited (set to '0').</a:t>
            </a:r>
            <a:endParaRPr lang="en-US" sz="1100" dirty="0"/>
          </a:p>
        </p:txBody>
      </p:sp>
      <p:sp>
        <p:nvSpPr>
          <p:cNvPr id="16" name="Shape 13"/>
          <p:cNvSpPr/>
          <p:nvPr/>
        </p:nvSpPr>
        <p:spPr>
          <a:xfrm>
            <a:off x="457200" y="3575304"/>
            <a:ext cx="384048" cy="384048"/>
          </a:xfrm>
          <a:prstGeom prst="ellipse">
            <a:avLst/>
          </a:prstGeom>
          <a:solidFill>
            <a:srgbClr val="B22234"/>
          </a:solidFill>
          <a:ln w="12700">
            <a:solidFill>
              <a:srgbClr val="B22234"/>
            </a:solidFill>
            <a:prstDash val="solid"/>
          </a:ln>
        </p:spPr>
      </p:sp>
      <p:sp>
        <p:nvSpPr>
          <p:cNvPr id="17" name="Text 14"/>
          <p:cNvSpPr/>
          <p:nvPr/>
        </p:nvSpPr>
        <p:spPr>
          <a:xfrm>
            <a:off x="457200" y="35753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8" name="Text 15"/>
          <p:cNvSpPr/>
          <p:nvPr/>
        </p:nvSpPr>
        <p:spPr>
          <a:xfrm>
            <a:off x="960120" y="3511296"/>
            <a:ext cx="3520440" cy="576072"/>
          </a:xfrm>
          <a:prstGeom prst="rect">
            <a:avLst/>
          </a:prstGeom>
          <a:noFill/>
          <a:ln/>
        </p:spPr>
        <p:txBody>
          <a:bodyPr wrap="square" rtlCol="0" anchor="ctr"/>
          <a:lstStyle/>
          <a:p>
            <a:pPr algn="l" indent="0" marL="0">
              <a:buNone/>
            </a:pPr>
            <a:r>
              <a:rPr lang="en-US" sz="1100" dirty="0">
                <a:solidFill>
                  <a:srgbClr val="333333"/>
                </a:solidFill>
                <a:latin typeface="Arial" pitchFamily="34" charset="0"/>
                <a:ea typeface="Arial" pitchFamily="34" charset="-122"/>
                <a:cs typeface="Arial" pitchFamily="34" charset="-120"/>
              </a:rPr>
              <a:t>BFS: push the cell into a queue; for each dequeued cell, enqueue valid unvisited '1' neighbours.</a:t>
            </a:r>
            <a:endParaRPr lang="en-US" sz="1100" dirty="0"/>
          </a:p>
        </p:txBody>
      </p:sp>
      <p:sp>
        <p:nvSpPr>
          <p:cNvPr id="19" name="Shape 16"/>
          <p:cNvSpPr/>
          <p:nvPr/>
        </p:nvSpPr>
        <p:spPr>
          <a:xfrm>
            <a:off x="457200" y="4242816"/>
            <a:ext cx="384048" cy="384048"/>
          </a:xfrm>
          <a:prstGeom prst="ellipse">
            <a:avLst/>
          </a:prstGeom>
          <a:solidFill>
            <a:srgbClr val="B22234"/>
          </a:solidFill>
          <a:ln w="12700">
            <a:solidFill>
              <a:srgbClr val="B22234"/>
            </a:solidFill>
            <a:prstDash val="solid"/>
          </a:ln>
        </p:spPr>
      </p:sp>
      <p:sp>
        <p:nvSpPr>
          <p:cNvPr id="20" name="Text 17"/>
          <p:cNvSpPr/>
          <p:nvPr/>
        </p:nvSpPr>
        <p:spPr>
          <a:xfrm>
            <a:off x="457200" y="42428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21" name="Text 18"/>
          <p:cNvSpPr/>
          <p:nvPr/>
        </p:nvSpPr>
        <p:spPr>
          <a:xfrm>
            <a:off x="960120" y="4178808"/>
            <a:ext cx="3520440" cy="576072"/>
          </a:xfrm>
          <a:prstGeom prst="rect">
            <a:avLst/>
          </a:prstGeom>
          <a:noFill/>
          <a:ln/>
        </p:spPr>
        <p:txBody>
          <a:bodyPr wrap="square" rtlCol="0" anchor="ctr"/>
          <a:lstStyle/>
          <a:p>
            <a:pPr algn="l" indent="0" marL="0">
              <a:buNone/>
            </a:pPr>
            <a:r>
              <a:rPr lang="en-US" sz="1100" dirty="0">
                <a:solidFill>
                  <a:srgbClr val="333333"/>
                </a:solidFill>
                <a:latin typeface="Arial" pitchFamily="34" charset="0"/>
                <a:ea typeface="Arial" pitchFamily="34" charset="-122"/>
                <a:cs typeface="Arial" pitchFamily="34" charset="-120"/>
              </a:rPr>
              <a:t>Continue until all cells are processed. Return the island counter.</a:t>
            </a:r>
            <a:endParaRPr lang="en-US" sz="1100" dirty="0"/>
          </a:p>
        </p:txBody>
      </p:sp>
      <p:sp>
        <p:nvSpPr>
          <p:cNvPr id="22" name="Shape 19"/>
          <p:cNvSpPr/>
          <p:nvPr/>
        </p:nvSpPr>
        <p:spPr>
          <a:xfrm>
            <a:off x="4709160" y="960120"/>
            <a:ext cx="4160520" cy="365760"/>
          </a:xfrm>
          <a:prstGeom prst="rect">
            <a:avLst/>
          </a:prstGeom>
          <a:solidFill>
            <a:srgbClr val="1F3864"/>
          </a:solidFill>
          <a:ln w="12700">
            <a:solidFill>
              <a:srgbClr val="1F3864"/>
            </a:solidFill>
            <a:prstDash val="solid"/>
          </a:ln>
        </p:spPr>
      </p:sp>
      <p:sp>
        <p:nvSpPr>
          <p:cNvPr id="23" name="Text 20"/>
          <p:cNvSpPr/>
          <p:nvPr/>
        </p:nvSpPr>
        <p:spPr>
          <a:xfrm>
            <a:off x="4709160" y="960120"/>
            <a:ext cx="416052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Complexity Analysis</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709160" y="1371600"/>
          <a:ext cx="4160520" cy="914400"/>
        </p:xfrm>
        <a:graphic>
          <a:graphicData uri="http://schemas.openxmlformats.org/drawingml/2006/table">
            <a:tbl>
              <a:tblPr/>
              <a:tblGrid>
                <a:gridCol w="1417320"/>
                <a:gridCol w="1508760"/>
                <a:gridCol w="1234440"/>
              </a:tblGrid>
              <a:tr h="347472">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Approach</a:t>
                      </a:r>
                      <a:endParaRPr lang="en-US" sz="1200" dirty="0">
                        <a:latin typeface="Georgia" charset="0"/>
                        <a:ea typeface="Georgia" charset="0"/>
                        <a:cs typeface="Georgia"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864"/>
                    </a:solidFill>
                  </a:tcPr>
                </a:tc>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Time</a:t>
                      </a:r>
                      <a:endParaRPr lang="en-US" sz="1200" dirty="0">
                        <a:latin typeface="Georgia" charset="0"/>
                        <a:ea typeface="Georgia" charset="0"/>
                        <a:cs typeface="Georgia"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864"/>
                    </a:solidFill>
                  </a:tcPr>
                </a:tc>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Space</a:t>
                      </a:r>
                      <a:endParaRPr lang="en-US" sz="1200" dirty="0">
                        <a:latin typeface="Georgia" charset="0"/>
                        <a:ea typeface="Georgia" charset="0"/>
                        <a:cs typeface="Georgia"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864"/>
                    </a:solidFill>
                  </a:tcPr>
                </a:tc>
              </a:tr>
              <a:tr h="347472">
                <a:tc>
                  <a:txBody>
                    <a:bodyPr/>
                    <a:lstStyle/>
                    <a:p>
                      <a:pPr algn="ctr" indent="0" marL="0">
                        <a:buNone/>
                      </a:pPr>
                      <a:r>
                        <a:rPr lang="en-US" sz="1100" dirty="0">
                          <a:solidFill>
                            <a:srgbClr val="333333"/>
                          </a:solidFill>
                          <a:latin typeface="Arial" pitchFamily="34" charset="0"/>
                          <a:ea typeface="Arial" pitchFamily="34" charset="-122"/>
                          <a:cs typeface="Arial" pitchFamily="34" charset="-120"/>
                        </a:rPr>
                        <a:t>BFS</a:t>
                      </a:r>
                      <a:endParaRPr lang="en-US" sz="1100" dirty="0">
                        <a:latin typeface="Arial" charset="0"/>
                        <a:ea typeface="Arial" charset="0"/>
                        <a:cs typeface="Arial"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C5F2D"/>
                          </a:solidFill>
                          <a:latin typeface="Consolas" pitchFamily="34" charset="0"/>
                          <a:ea typeface="Consolas" pitchFamily="34" charset="-122"/>
                          <a:cs typeface="Consolas" pitchFamily="34" charset="-120"/>
                        </a:rPr>
                        <a:t>O(m × n)</a:t>
                      </a:r>
                      <a:endParaRPr lang="en-US" sz="1100" dirty="0">
                        <a:latin typeface="Consolas" charset="0"/>
                        <a:ea typeface="Consolas" charset="0"/>
                        <a:cs typeface="Consolas"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Arial" pitchFamily="34" charset="0"/>
                          <a:ea typeface="Arial" pitchFamily="34" charset="-122"/>
                          <a:cs typeface="Arial" pitchFamily="34" charset="-120"/>
                        </a:rPr>
                        <a:t>O(min(m,n))</a:t>
                      </a:r>
                      <a:endParaRPr lang="en-US" sz="1100" dirty="0">
                        <a:latin typeface="Arial" charset="0"/>
                        <a:ea typeface="Arial" charset="0"/>
                        <a:cs typeface="Arial"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47472">
                <a:tc>
                  <a:txBody>
                    <a:bodyPr/>
                    <a:lstStyle/>
                    <a:p>
                      <a:pPr algn="ctr" indent="0" marL="0">
                        <a:buNone/>
                      </a:pPr>
                      <a:r>
                        <a:rPr lang="en-US" sz="1100" dirty="0">
                          <a:solidFill>
                            <a:srgbClr val="333333"/>
                          </a:solidFill>
                          <a:latin typeface="Arial" pitchFamily="34" charset="0"/>
                          <a:ea typeface="Arial" pitchFamily="34" charset="-122"/>
                          <a:cs typeface="Arial" pitchFamily="34" charset="-120"/>
                        </a:rPr>
                        <a:t>DFS (recursive)</a:t>
                      </a:r>
                      <a:endParaRPr lang="en-US" sz="1100" dirty="0">
                        <a:latin typeface="Arial" charset="0"/>
                        <a:ea typeface="Arial" charset="0"/>
                        <a:cs typeface="Arial"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c>
                  <a:txBody>
                    <a:bodyPr/>
                    <a:lstStyle/>
                    <a:p>
                      <a:pPr algn="ctr" indent="0" marL="0">
                        <a:buNone/>
                      </a:pPr>
                      <a:r>
                        <a:rPr lang="en-US" sz="1100" b="1" dirty="0">
                          <a:solidFill>
                            <a:srgbClr val="2C5F2D"/>
                          </a:solidFill>
                          <a:latin typeface="Consolas" pitchFamily="34" charset="0"/>
                          <a:ea typeface="Consolas" pitchFamily="34" charset="-122"/>
                          <a:cs typeface="Consolas" pitchFamily="34" charset="-120"/>
                        </a:rPr>
                        <a:t>O(m × n)</a:t>
                      </a:r>
                      <a:endParaRPr lang="en-US" sz="1100" dirty="0">
                        <a:latin typeface="Consolas" charset="0"/>
                        <a:ea typeface="Consolas" charset="0"/>
                        <a:cs typeface="Consolas"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333333"/>
                          </a:solidFill>
                          <a:latin typeface="Arial" pitchFamily="34" charset="0"/>
                          <a:ea typeface="Arial" pitchFamily="34" charset="-122"/>
                          <a:cs typeface="Arial" pitchFamily="34" charset="-120"/>
                        </a:rPr>
                        <a:t>O(m × n)</a:t>
                      </a:r>
                      <a:endParaRPr lang="en-US" sz="1100" dirty="0">
                        <a:latin typeface="Arial" charset="0"/>
                        <a:ea typeface="Arial" charset="0"/>
                        <a:cs typeface="Arial"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r>
              <a:tr h="347472">
                <a:tc>
                  <a:txBody>
                    <a:bodyPr/>
                    <a:lstStyle/>
                    <a:p>
                      <a:pPr algn="ctr" indent="0" marL="0">
                        <a:buNone/>
                      </a:pPr>
                      <a:r>
                        <a:rPr lang="en-US" sz="1100" dirty="0">
                          <a:solidFill>
                            <a:srgbClr val="333333"/>
                          </a:solidFill>
                          <a:latin typeface="Arial" pitchFamily="34" charset="0"/>
                          <a:ea typeface="Arial" pitchFamily="34" charset="-122"/>
                          <a:cs typeface="Arial" pitchFamily="34" charset="-120"/>
                        </a:rPr>
                        <a:t>DFS (iterative)</a:t>
                      </a:r>
                      <a:endParaRPr lang="en-US" sz="1100" dirty="0">
                        <a:latin typeface="Arial" charset="0"/>
                        <a:ea typeface="Arial" charset="0"/>
                        <a:cs typeface="Arial"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C5F2D"/>
                          </a:solidFill>
                          <a:latin typeface="Consolas" pitchFamily="34" charset="0"/>
                          <a:ea typeface="Consolas" pitchFamily="34" charset="-122"/>
                          <a:cs typeface="Consolas" pitchFamily="34" charset="-120"/>
                        </a:rPr>
                        <a:t>O(m × n)</a:t>
                      </a:r>
                      <a:endParaRPr lang="en-US" sz="1100" dirty="0">
                        <a:latin typeface="Consolas" charset="0"/>
                        <a:ea typeface="Consolas" charset="0"/>
                        <a:cs typeface="Consolas"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Arial" pitchFamily="34" charset="0"/>
                          <a:ea typeface="Arial" pitchFamily="34" charset="-122"/>
                          <a:cs typeface="Arial" pitchFamily="34" charset="-120"/>
                        </a:rPr>
                        <a:t>O(m × n)</a:t>
                      </a:r>
                      <a:endParaRPr lang="en-US" sz="1100" dirty="0">
                        <a:latin typeface="Arial" charset="0"/>
                        <a:ea typeface="Arial" charset="0"/>
                        <a:cs typeface="Arial"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25" name="Shape 21"/>
          <p:cNvSpPr/>
          <p:nvPr/>
        </p:nvSpPr>
        <p:spPr>
          <a:xfrm>
            <a:off x="4709160" y="2834640"/>
            <a:ext cx="4160520" cy="637032"/>
          </a:xfrm>
          <a:prstGeom prst="rect">
            <a:avLst/>
          </a:prstGeom>
          <a:solidFill>
            <a:srgbClr val="FFFFFF"/>
          </a:solidFill>
          <a:ln w="12700">
            <a:solidFill>
              <a:srgbClr val="B22234"/>
            </a:solidFill>
            <a:prstDash val="solid"/>
          </a:ln>
        </p:spPr>
      </p:sp>
      <p:sp>
        <p:nvSpPr>
          <p:cNvPr id="26" name="Shape 22"/>
          <p:cNvSpPr/>
          <p:nvPr/>
        </p:nvSpPr>
        <p:spPr>
          <a:xfrm>
            <a:off x="4709160" y="2834640"/>
            <a:ext cx="64008" cy="637032"/>
          </a:xfrm>
          <a:prstGeom prst="rect">
            <a:avLst/>
          </a:prstGeom>
          <a:solidFill>
            <a:srgbClr val="B22234"/>
          </a:solidFill>
          <a:ln w="12700">
            <a:solidFill>
              <a:srgbClr val="B22234"/>
            </a:solidFill>
            <a:prstDash val="solid"/>
          </a:ln>
        </p:spPr>
      </p:sp>
      <p:sp>
        <p:nvSpPr>
          <p:cNvPr id="27" name="Text 23"/>
          <p:cNvSpPr/>
          <p:nvPr/>
        </p:nvSpPr>
        <p:spPr>
          <a:xfrm>
            <a:off x="4873752" y="2871216"/>
            <a:ext cx="3922776" cy="563880"/>
          </a:xfrm>
          <a:prstGeom prst="rect">
            <a:avLst/>
          </a:prstGeom>
          <a:noFill/>
          <a:ln/>
        </p:spPr>
        <p:txBody>
          <a:bodyPr wrap="square" rtlCol="0" anchor="ctr"/>
          <a:lstStyle/>
          <a:p>
            <a:pPr algn="l" indent="0" marL="0">
              <a:buNone/>
            </a:pPr>
            <a:r>
              <a:rPr lang="en-US" sz="1050" b="1" dirty="0">
                <a:solidFill>
                  <a:srgbClr val="B22234"/>
                </a:solidFill>
                <a:latin typeface="Arial" pitchFamily="34" charset="0"/>
                <a:ea typeface="Arial" pitchFamily="34" charset="-122"/>
                <a:cs typeface="Arial" pitchFamily="34" charset="-120"/>
              </a:rPr>
              <a:t>Mark Visited Immediately: </a:t>
            </a:r>
            <a:pPr algn="l" indent="0" marL="0">
              <a:buNone/>
            </a:pPr>
            <a:r>
              <a:rPr lang="en-US" sz="1050" dirty="0">
                <a:solidFill>
                  <a:srgbClr val="333333"/>
                </a:solidFill>
                <a:latin typeface="Arial" pitchFamily="34" charset="0"/>
                <a:ea typeface="Arial" pitchFamily="34" charset="-122"/>
                <a:cs typeface="Arial" pitchFamily="34" charset="-120"/>
              </a:rPr>
              <a:t>Set grid[i][j] = '0' the moment you enqueue or recurse — otherwise neighbours will re-enqueue the same cell and inflate runtime.</a:t>
            </a:r>
            <a:endParaRPr lang="en-US" sz="1050" dirty="0"/>
          </a:p>
        </p:txBody>
      </p:sp>
      <p:sp>
        <p:nvSpPr>
          <p:cNvPr id="28" name="Shape 24"/>
          <p:cNvSpPr/>
          <p:nvPr/>
        </p:nvSpPr>
        <p:spPr>
          <a:xfrm>
            <a:off x="4709160" y="3544824"/>
            <a:ext cx="4160520" cy="637032"/>
          </a:xfrm>
          <a:prstGeom prst="rect">
            <a:avLst/>
          </a:prstGeom>
          <a:solidFill>
            <a:srgbClr val="FFFFFF"/>
          </a:solidFill>
          <a:ln w="12700">
            <a:solidFill>
              <a:srgbClr val="2C5F2D"/>
            </a:solidFill>
            <a:prstDash val="solid"/>
          </a:ln>
        </p:spPr>
      </p:sp>
      <p:sp>
        <p:nvSpPr>
          <p:cNvPr id="29" name="Shape 25"/>
          <p:cNvSpPr/>
          <p:nvPr/>
        </p:nvSpPr>
        <p:spPr>
          <a:xfrm>
            <a:off x="4709160" y="3544824"/>
            <a:ext cx="64008" cy="637032"/>
          </a:xfrm>
          <a:prstGeom prst="rect">
            <a:avLst/>
          </a:prstGeom>
          <a:solidFill>
            <a:srgbClr val="2C5F2D"/>
          </a:solidFill>
          <a:ln w="12700">
            <a:solidFill>
              <a:srgbClr val="2C5F2D"/>
            </a:solidFill>
            <a:prstDash val="solid"/>
          </a:ln>
        </p:spPr>
      </p:sp>
      <p:sp>
        <p:nvSpPr>
          <p:cNvPr id="30" name="Text 26"/>
          <p:cNvSpPr/>
          <p:nvPr/>
        </p:nvSpPr>
        <p:spPr>
          <a:xfrm>
            <a:off x="4873752" y="3581400"/>
            <a:ext cx="3922776" cy="563880"/>
          </a:xfrm>
          <a:prstGeom prst="rect">
            <a:avLst/>
          </a:prstGeom>
          <a:noFill/>
          <a:ln/>
        </p:spPr>
        <p:txBody>
          <a:bodyPr wrap="square" rtlCol="0" anchor="ctr"/>
          <a:lstStyle/>
          <a:p>
            <a:pPr algn="l" indent="0" marL="0">
              <a:buNone/>
            </a:pPr>
            <a:r>
              <a:rPr lang="en-US" sz="1050" b="1" dirty="0">
                <a:solidFill>
                  <a:srgbClr val="2C5F2D"/>
                </a:solidFill>
                <a:latin typeface="Arial" pitchFamily="34" charset="0"/>
                <a:ea typeface="Arial" pitchFamily="34" charset="-122"/>
                <a:cs typeface="Arial" pitchFamily="34" charset="-120"/>
              </a:rPr>
              <a:t>BFS for Shortest Path: </a:t>
            </a:r>
            <a:pPr algn="l" indent="0" marL="0">
              <a:buNone/>
            </a:pPr>
            <a:r>
              <a:rPr lang="en-US" sz="1050" dirty="0">
                <a:solidFill>
                  <a:srgbClr val="333333"/>
                </a:solidFill>
                <a:latin typeface="Arial" pitchFamily="34" charset="0"/>
                <a:ea typeface="Arial" pitchFamily="34" charset="-122"/>
                <a:cs typeface="Arial" pitchFamily="34" charset="-120"/>
              </a:rPr>
              <a:t>On unweighted graphs, BFS guarantees the minimum edge count from source to any reachable vertex.</a:t>
            </a:r>
            <a:endParaRPr lang="en-US" sz="1050" dirty="0"/>
          </a:p>
        </p:txBody>
      </p:sp>
      <p:sp>
        <p:nvSpPr>
          <p:cNvPr id="31" name="Shape 27"/>
          <p:cNvSpPr/>
          <p:nvPr/>
        </p:nvSpPr>
        <p:spPr>
          <a:xfrm>
            <a:off x="4709160" y="4255008"/>
            <a:ext cx="4160520" cy="637032"/>
          </a:xfrm>
          <a:prstGeom prst="rect">
            <a:avLst/>
          </a:prstGeom>
          <a:solidFill>
            <a:srgbClr val="FFFFFF"/>
          </a:solidFill>
          <a:ln w="12700">
            <a:solidFill>
              <a:srgbClr val="1F3864"/>
            </a:solidFill>
            <a:prstDash val="solid"/>
          </a:ln>
        </p:spPr>
      </p:sp>
      <p:sp>
        <p:nvSpPr>
          <p:cNvPr id="32" name="Shape 28"/>
          <p:cNvSpPr/>
          <p:nvPr/>
        </p:nvSpPr>
        <p:spPr>
          <a:xfrm>
            <a:off x="4709160" y="4255008"/>
            <a:ext cx="64008" cy="637032"/>
          </a:xfrm>
          <a:prstGeom prst="rect">
            <a:avLst/>
          </a:prstGeom>
          <a:solidFill>
            <a:srgbClr val="1F3864"/>
          </a:solidFill>
          <a:ln w="12700">
            <a:solidFill>
              <a:srgbClr val="1F3864"/>
            </a:solidFill>
            <a:prstDash val="solid"/>
          </a:ln>
        </p:spPr>
      </p:sp>
      <p:sp>
        <p:nvSpPr>
          <p:cNvPr id="33" name="Text 29"/>
          <p:cNvSpPr/>
          <p:nvPr/>
        </p:nvSpPr>
        <p:spPr>
          <a:xfrm>
            <a:off x="4873752" y="4291584"/>
            <a:ext cx="3922776" cy="563880"/>
          </a:xfrm>
          <a:prstGeom prst="rect">
            <a:avLst/>
          </a:prstGeom>
          <a:noFill/>
          <a:ln/>
        </p:spPr>
        <p:txBody>
          <a:bodyPr wrap="square" rtlCol="0" anchor="ctr"/>
          <a:lstStyle/>
          <a:p>
            <a:pPr algn="l" indent="0" marL="0">
              <a:buNone/>
            </a:pPr>
            <a:r>
              <a:rPr lang="en-US" sz="1050" b="1" dirty="0">
                <a:solidFill>
                  <a:srgbClr val="1F3864"/>
                </a:solidFill>
                <a:latin typeface="Arial" pitchFamily="34" charset="0"/>
                <a:ea typeface="Arial" pitchFamily="34" charset="-122"/>
                <a:cs typeface="Arial" pitchFamily="34" charset="-120"/>
              </a:rPr>
              <a:t>DFS for Connectivity: </a:t>
            </a:r>
            <a:pPr algn="l" indent="0" marL="0">
              <a:buNone/>
            </a:pPr>
            <a:r>
              <a:rPr lang="en-US" sz="1050" dirty="0">
                <a:solidFill>
                  <a:srgbClr val="333333"/>
                </a:solidFill>
                <a:latin typeface="Arial" pitchFamily="34" charset="0"/>
                <a:ea typeface="Arial" pitchFamily="34" charset="-122"/>
                <a:cs typeface="Arial" pitchFamily="34" charset="-120"/>
              </a:rPr>
              <a:t>DFS is the engine behind topological sort, strongly connected components (Tarjan / Kosaraju), and biconnectivity checks.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Pseudocode</a:t>
            </a:r>
            <a:endParaRPr lang="en-US" sz="2800" dirty="0"/>
          </a:p>
        </p:txBody>
      </p:sp>
      <p:sp>
        <p:nvSpPr>
          <p:cNvPr id="4" name="Shape 1"/>
          <p:cNvSpPr/>
          <p:nvPr/>
        </p:nvSpPr>
        <p:spPr>
          <a:xfrm>
            <a:off x="274320" y="960120"/>
            <a:ext cx="4160520" cy="3977640"/>
          </a:xfrm>
          <a:prstGeom prst="rect">
            <a:avLst/>
          </a:prstGeom>
          <a:solidFill>
            <a:srgbClr val="111827"/>
          </a:solidFill>
          <a:ln w="12700">
            <a:solidFill>
              <a:srgbClr val="111827"/>
            </a:solidFill>
            <a:prstDash val="solid"/>
          </a:ln>
        </p:spPr>
      </p:sp>
      <p:sp>
        <p:nvSpPr>
          <p:cNvPr id="5" name="Shape 2"/>
          <p:cNvSpPr/>
          <p:nvPr/>
        </p:nvSpPr>
        <p:spPr>
          <a:xfrm>
            <a:off x="274320" y="960120"/>
            <a:ext cx="4160520" cy="365760"/>
          </a:xfrm>
          <a:prstGeom prst="rect">
            <a:avLst/>
          </a:prstGeom>
          <a:solidFill>
            <a:srgbClr val="B22234"/>
          </a:solidFill>
          <a:ln w="12700">
            <a:solidFill>
              <a:srgbClr val="B22234"/>
            </a:solidFill>
            <a:prstDash val="solid"/>
          </a:ln>
        </p:spPr>
      </p:sp>
      <p:sp>
        <p:nvSpPr>
          <p:cNvPr id="6" name="Text 3"/>
          <p:cNvSpPr/>
          <p:nvPr/>
        </p:nvSpPr>
        <p:spPr>
          <a:xfrm>
            <a:off x="274320" y="960120"/>
            <a:ext cx="41605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BFS  —  O(V + E)</a:t>
            </a:r>
            <a:endParaRPr lang="en-US" sz="1300" dirty="0"/>
          </a:p>
        </p:txBody>
      </p:sp>
      <p:sp>
        <p:nvSpPr>
          <p:cNvPr id="7" name="Text 4"/>
          <p:cNvSpPr/>
          <p:nvPr/>
        </p:nvSpPr>
        <p:spPr>
          <a:xfrm>
            <a:off x="411480" y="1417320"/>
            <a:ext cx="3886200" cy="3429000"/>
          </a:xfrm>
          <a:prstGeom prst="rect">
            <a:avLst/>
          </a:prstGeom>
          <a:noFill/>
          <a:ln/>
        </p:spPr>
        <p:txBody>
          <a:bodyPr wrap="square" rtlCol="0" anchor="t"/>
          <a:lstStyle/>
          <a:p>
            <a:pPr algn="l" indent="0" marL="0">
              <a:buNone/>
            </a:pPr>
            <a:pPr algn="l" indent="0" marL="0">
              <a:buNone/>
            </a:pPr>
            <a:r>
              <a:rPr lang="en-US" sz="950" b="1" dirty="0">
                <a:solidFill>
                  <a:srgbClr val="60A5FA"/>
                </a:solidFill>
                <a:latin typeface="Consolas" pitchFamily="34" charset="0"/>
                <a:ea typeface="Consolas" pitchFamily="34" charset="-122"/>
                <a:cs typeface="Consolas" pitchFamily="34" charset="-120"/>
              </a:rPr>
              <a:t>function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bfs</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graph</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source</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visited</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set</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queue</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b="1" dirty="0">
                <a:solidFill>
                  <a:srgbClr val="60A5FA"/>
                </a:solidFill>
                <a:latin typeface="Consolas" pitchFamily="34" charset="0"/>
                <a:ea typeface="Consolas" pitchFamily="34" charset="-122"/>
                <a:cs typeface="Consolas" pitchFamily="34" charset="-120"/>
              </a:rPr>
              <a:t>Queue</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queue</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enqueue</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source</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visited</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add</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source</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while</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queue</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is</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not</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empty</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u</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queue</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dequeue</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process</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u</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for</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graph</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u</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if</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not</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visited</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visited</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add</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v</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queue</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enqueue</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v</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endParaRPr lang="en-US" sz="950" dirty="0"/>
          </a:p>
          <a:p>
            <a:pPr algn="l" indent="0" marL="0">
              <a:buNone/>
            </a:pPr>
            <a:r>
              <a:rPr lang="en-US" sz="950" dirty="0">
                <a:solidFill>
                  <a:srgbClr val="9CA3AF"/>
                </a:solidFill>
                <a:latin typeface="Consolas" pitchFamily="34" charset="0"/>
                <a:ea typeface="Consolas" pitchFamily="34" charset="-122"/>
                <a:cs typeface="Consolas" pitchFamily="34" charset="-120"/>
              </a:rPr>
              <a:t>// For grid problems: enqueue (i, j),</a:t>
            </a:r>
            <a:endParaRPr lang="en-US" sz="950" dirty="0"/>
          </a:p>
          <a:p>
            <a:pPr algn="l" indent="0" marL="0">
              <a:buNone/>
            </a:pPr>
            <a:r>
              <a:rPr lang="en-US" sz="950" dirty="0">
                <a:solidFill>
                  <a:srgbClr val="9CA3AF"/>
                </a:solidFill>
                <a:latin typeface="Consolas" pitchFamily="34" charset="0"/>
                <a:ea typeface="Consolas" pitchFamily="34" charset="-122"/>
                <a:cs typeface="Consolas" pitchFamily="34" charset="-120"/>
              </a:rPr>
              <a:t>// expand 4 directions: (i+1,j) (i-1,j)</a:t>
            </a:r>
            <a:endParaRPr lang="en-US" sz="950" dirty="0"/>
          </a:p>
          <a:p>
            <a:pPr algn="l" indent="0" marL="0">
              <a:buNone/>
            </a:pPr>
            <a:r>
              <a:rPr lang="en-US" sz="950" dirty="0">
                <a:solidFill>
                  <a:srgbClr val="9CA3AF"/>
                </a:solidFill>
                <a:latin typeface="Consolas" pitchFamily="34" charset="0"/>
                <a:ea typeface="Consolas" pitchFamily="34" charset="-122"/>
                <a:cs typeface="Consolas" pitchFamily="34" charset="-120"/>
              </a:rPr>
              <a:t>// (i,j+1) (i,j-1) and mark visited on</a:t>
            </a:r>
            <a:endParaRPr lang="en-US" sz="950" dirty="0"/>
          </a:p>
          <a:p>
            <a:pPr algn="l" indent="0" marL="0">
              <a:buNone/>
            </a:pPr>
            <a:r>
              <a:rPr lang="en-US" sz="950" dirty="0">
                <a:solidFill>
                  <a:srgbClr val="9CA3AF"/>
                </a:solidFill>
                <a:latin typeface="Consolas" pitchFamily="34" charset="0"/>
                <a:ea typeface="Consolas" pitchFamily="34" charset="-122"/>
                <a:cs typeface="Consolas" pitchFamily="34" charset="-120"/>
              </a:rPr>
              <a:t>// enqueue, not on dequeue.</a:t>
            </a:r>
            <a:endParaRPr lang="en-US" sz="950" dirty="0"/>
          </a:p>
        </p:txBody>
      </p:sp>
      <p:sp>
        <p:nvSpPr>
          <p:cNvPr id="8" name="Shape 5"/>
          <p:cNvSpPr/>
          <p:nvPr/>
        </p:nvSpPr>
        <p:spPr>
          <a:xfrm>
            <a:off x="4709160" y="960120"/>
            <a:ext cx="4160520" cy="3977640"/>
          </a:xfrm>
          <a:prstGeom prst="rect">
            <a:avLst/>
          </a:prstGeom>
          <a:solidFill>
            <a:srgbClr val="111827"/>
          </a:solidFill>
          <a:ln w="12700">
            <a:solidFill>
              <a:srgbClr val="111827"/>
            </a:solidFill>
            <a:prstDash val="solid"/>
          </a:ln>
        </p:spPr>
      </p:sp>
      <p:sp>
        <p:nvSpPr>
          <p:cNvPr id="9" name="Shape 6"/>
          <p:cNvSpPr/>
          <p:nvPr/>
        </p:nvSpPr>
        <p:spPr>
          <a:xfrm>
            <a:off x="4709160" y="960120"/>
            <a:ext cx="4160520" cy="365760"/>
          </a:xfrm>
          <a:prstGeom prst="rect">
            <a:avLst/>
          </a:prstGeom>
          <a:solidFill>
            <a:srgbClr val="1F3864"/>
          </a:solidFill>
          <a:ln w="12700">
            <a:solidFill>
              <a:srgbClr val="1F3864"/>
            </a:solidFill>
            <a:prstDash val="solid"/>
          </a:ln>
        </p:spPr>
      </p:sp>
      <p:sp>
        <p:nvSpPr>
          <p:cNvPr id="10" name="Text 7"/>
          <p:cNvSpPr/>
          <p:nvPr/>
        </p:nvSpPr>
        <p:spPr>
          <a:xfrm>
            <a:off x="4709160" y="960120"/>
            <a:ext cx="41605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DFS  —  O(V + E)</a:t>
            </a:r>
            <a:endParaRPr lang="en-US" sz="1300" dirty="0"/>
          </a:p>
        </p:txBody>
      </p:sp>
      <p:sp>
        <p:nvSpPr>
          <p:cNvPr id="11" name="Text 8"/>
          <p:cNvSpPr/>
          <p:nvPr/>
        </p:nvSpPr>
        <p:spPr>
          <a:xfrm>
            <a:off x="4846320" y="1417320"/>
            <a:ext cx="3886200" cy="3429000"/>
          </a:xfrm>
          <a:prstGeom prst="rect">
            <a:avLst/>
          </a:prstGeom>
          <a:noFill/>
          <a:ln/>
        </p:spPr>
        <p:txBody>
          <a:bodyPr wrap="square" rtlCol="0" anchor="t"/>
          <a:lstStyle/>
          <a:p>
            <a:pPr algn="l" indent="0" marL="0">
              <a:buNone/>
            </a:pPr>
            <a:pPr algn="l" indent="0" marL="0">
              <a:buNone/>
            </a:pPr>
            <a:r>
              <a:rPr lang="en-US" sz="950" b="1" dirty="0">
                <a:solidFill>
                  <a:srgbClr val="60A5FA"/>
                </a:solidFill>
                <a:latin typeface="Consolas" pitchFamily="34" charset="0"/>
                <a:ea typeface="Consolas" pitchFamily="34" charset="-122"/>
                <a:cs typeface="Consolas" pitchFamily="34" charset="-120"/>
              </a:rPr>
              <a:t>function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dfs</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graph</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u</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visited</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visited</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add</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u</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process</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u</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for</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graph</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u</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if</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not</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visited</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dfs</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graph</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visited</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endParaRPr lang="en-US" sz="950" dirty="0"/>
          </a:p>
          <a:p>
            <a:pPr algn="l" indent="0" marL="0">
              <a:buNone/>
            </a:pPr>
            <a:r>
              <a:rPr lang="en-US" sz="950" dirty="0">
                <a:solidFill>
                  <a:srgbClr val="9CA3AF"/>
                </a:solidFill>
                <a:latin typeface="Consolas" pitchFamily="34" charset="0"/>
                <a:ea typeface="Consolas" pitchFamily="34" charset="-122"/>
                <a:cs typeface="Consolas" pitchFamily="34" charset="-120"/>
              </a:rPr>
              <a:t>// Iterative version using stack:</a:t>
            </a:r>
            <a:endParaRPr lang="en-US" sz="950" dirty="0"/>
          </a:p>
          <a:p>
            <a:pPr algn="l" indent="0" marL="0">
              <a:buNone/>
            </a:pPr>
            <a:pPr algn="l" indent="0" marL="0">
              <a:buNone/>
            </a:pPr>
            <a:r>
              <a:rPr lang="en-US" sz="950" b="1" dirty="0">
                <a:solidFill>
                  <a:srgbClr val="60A5FA"/>
                </a:solidFill>
                <a:latin typeface="Consolas" pitchFamily="34" charset="0"/>
                <a:ea typeface="Consolas" pitchFamily="34" charset="-122"/>
                <a:cs typeface="Consolas" pitchFamily="34" charset="-120"/>
              </a:rPr>
              <a:t>function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dfs_iter</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graph</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source</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visited</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set</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stack</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source</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while</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stack</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is</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not</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empty</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u</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stack</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pop</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if</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u</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visited</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continue</a:t>
            </a:r>
            <a:pPr algn="l" indent="0" marL="0">
              <a:buNone/>
            </a:pP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visited</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add</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u</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process</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u</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for</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graph</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u</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if</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not</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visited</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stack</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push</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v</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Code Implementation</a:t>
            </a:r>
            <a:endParaRPr lang="en-US" sz="2800" dirty="0"/>
          </a:p>
        </p:txBody>
      </p:sp>
      <p:sp>
        <p:nvSpPr>
          <p:cNvPr id="4" name="Shape 1"/>
          <p:cNvSpPr/>
          <p:nvPr/>
        </p:nvSpPr>
        <p:spPr>
          <a:xfrm>
            <a:off x="274320" y="960120"/>
            <a:ext cx="2834640" cy="3977640"/>
          </a:xfrm>
          <a:prstGeom prst="rect">
            <a:avLst/>
          </a:prstGeom>
          <a:solidFill>
            <a:srgbClr val="111827"/>
          </a:solidFill>
          <a:ln w="12700">
            <a:solidFill>
              <a:srgbClr val="111827"/>
            </a:solidFill>
            <a:prstDash val="solid"/>
          </a:ln>
        </p:spPr>
      </p:sp>
      <p:sp>
        <p:nvSpPr>
          <p:cNvPr id="5" name="Shape 2"/>
          <p:cNvSpPr/>
          <p:nvPr/>
        </p:nvSpPr>
        <p:spPr>
          <a:xfrm>
            <a:off x="274320" y="960120"/>
            <a:ext cx="2834640" cy="365760"/>
          </a:xfrm>
          <a:prstGeom prst="rect">
            <a:avLst/>
          </a:prstGeom>
          <a:solidFill>
            <a:srgbClr val="1F3864"/>
          </a:solidFill>
          <a:ln w="12700">
            <a:solidFill>
              <a:srgbClr val="1F3864"/>
            </a:solidFill>
            <a:prstDash val="solid"/>
          </a:ln>
        </p:spPr>
      </p:sp>
      <p:sp>
        <p:nvSpPr>
          <p:cNvPr id="6" name="Text 3"/>
          <p:cNvSpPr/>
          <p:nvPr/>
        </p:nvSpPr>
        <p:spPr>
          <a:xfrm>
            <a:off x="274320" y="960120"/>
            <a:ext cx="28346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C++</a:t>
            </a:r>
            <a:endParaRPr lang="en-US" sz="1200" dirty="0"/>
          </a:p>
        </p:txBody>
      </p:sp>
      <p:sp>
        <p:nvSpPr>
          <p:cNvPr id="7" name="Text 4"/>
          <p:cNvSpPr/>
          <p:nvPr/>
        </p:nvSpPr>
        <p:spPr>
          <a:xfrm>
            <a:off x="365760" y="1399032"/>
            <a:ext cx="2651760" cy="3465576"/>
          </a:xfrm>
          <a:prstGeom prst="rect">
            <a:avLst/>
          </a:prstGeom>
          <a:noFill/>
          <a:ln/>
        </p:spPr>
        <p:txBody>
          <a:bodyPr wrap="square" rtlCol="0" anchor="t"/>
          <a:lstStyle/>
          <a:p>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include</a:t>
            </a:r>
            <a:pPr algn="l" indent="0" marL="0">
              <a:buNone/>
            </a:pPr>
            <a:r>
              <a:rPr lang="en-US" sz="850" dirty="0">
                <a:solidFill>
                  <a:srgbClr val="E5E7EB"/>
                </a:solidFill>
                <a:latin typeface="Consolas" pitchFamily="34" charset="0"/>
                <a:ea typeface="Consolas" pitchFamily="34" charset="-122"/>
                <a:cs typeface="Consolas" pitchFamily="34" charset="-120"/>
              </a:rPr>
              <a:t> &lt;</a:t>
            </a:r>
            <a:pPr algn="l" indent="0" marL="0">
              <a:buNone/>
            </a:pPr>
            <a:r>
              <a:rPr lang="en-US" sz="850" dirty="0">
                <a:solidFill>
                  <a:srgbClr val="E5E7EB"/>
                </a:solidFill>
                <a:latin typeface="Consolas" pitchFamily="34" charset="0"/>
                <a:ea typeface="Consolas" pitchFamily="34" charset="-122"/>
                <a:cs typeface="Consolas" pitchFamily="34" charset="-120"/>
              </a:rPr>
              <a:t>vector</a:t>
            </a:r>
            <a:pPr algn="l" indent="0" marL="0">
              <a:buNone/>
            </a:pPr>
            <a:r>
              <a:rPr lang="en-US" sz="850" dirty="0">
                <a:solidFill>
                  <a:srgbClr val="E5E7EB"/>
                </a:solidFill>
                <a:latin typeface="Consolas" pitchFamily="34" charset="0"/>
                <a:ea typeface="Consolas" pitchFamily="34" charset="-122"/>
                <a:cs typeface="Consolas" pitchFamily="34" charset="-120"/>
              </a:rPr>
              <a:t>&gt;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include</a:t>
            </a:r>
            <a:pPr algn="l" indent="0" marL="0">
              <a:buNone/>
            </a:pPr>
            <a:r>
              <a:rPr lang="en-US" sz="850" dirty="0">
                <a:solidFill>
                  <a:srgbClr val="E5E7EB"/>
                </a:solidFill>
                <a:latin typeface="Consolas" pitchFamily="34" charset="0"/>
                <a:ea typeface="Consolas" pitchFamily="34" charset="-122"/>
                <a:cs typeface="Consolas" pitchFamily="34" charset="-120"/>
              </a:rPr>
              <a:t> &lt;</a:t>
            </a:r>
            <a:pPr algn="l" indent="0" marL="0">
              <a:buNone/>
            </a:pPr>
            <a:r>
              <a:rPr lang="en-US" sz="850" dirty="0">
                <a:solidFill>
                  <a:srgbClr val="E5E7EB"/>
                </a:solidFill>
                <a:latin typeface="Consolas" pitchFamily="34" charset="0"/>
                <a:ea typeface="Consolas" pitchFamily="34" charset="-122"/>
                <a:cs typeface="Consolas" pitchFamily="34" charset="-120"/>
              </a:rPr>
              <a:t>queue</a:t>
            </a:r>
            <a:pPr algn="l" indent="0" marL="0">
              <a:buNone/>
            </a:pPr>
            <a:r>
              <a:rPr lang="en-US" sz="850" dirty="0">
                <a:solidFill>
                  <a:srgbClr val="E5E7EB"/>
                </a:solidFill>
                <a:latin typeface="Consolas" pitchFamily="34" charset="0"/>
                <a:ea typeface="Consolas" pitchFamily="34" charset="-122"/>
                <a:cs typeface="Consolas" pitchFamily="34" charset="-120"/>
              </a:rPr>
              <a:t>&gt;</a:t>
            </a:r>
            <a:endParaRPr lang="en-US" sz="850" dirty="0"/>
          </a:p>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using</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namespace</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std</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class</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Solution</a:t>
            </a:r>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public</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void</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dfs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vector</a:t>
            </a:r>
            <a:pPr algn="l" indent="0" marL="0">
              <a:buNone/>
            </a:pPr>
            <a:r>
              <a:rPr lang="en-US" sz="850" dirty="0">
                <a:solidFill>
                  <a:srgbClr val="E5E7EB"/>
                </a:solidFill>
                <a:latin typeface="Consolas" pitchFamily="34" charset="0"/>
                <a:ea typeface="Consolas" pitchFamily="34" charset="-122"/>
                <a:cs typeface="Consolas" pitchFamily="34" charset="-120"/>
              </a:rPr>
              <a:t>&lt;</a:t>
            </a:r>
            <a:pPr algn="l" indent="0" marL="0">
              <a:buNone/>
            </a:pPr>
            <a:r>
              <a:rPr lang="en-US" sz="850" dirty="0">
                <a:solidFill>
                  <a:srgbClr val="E5E7EB"/>
                </a:solidFill>
                <a:latin typeface="Consolas" pitchFamily="34" charset="0"/>
                <a:ea typeface="Consolas" pitchFamily="34" charset="-122"/>
                <a:cs typeface="Consolas" pitchFamily="34" charset="-120"/>
              </a:rPr>
              <a:t>vector</a:t>
            </a:r>
            <a:pPr algn="l" indent="0" marL="0">
              <a:buNone/>
            </a:pPr>
            <a:r>
              <a:rPr lang="en-US" sz="850" dirty="0">
                <a:solidFill>
                  <a:srgbClr val="E5E7EB"/>
                </a:solidFill>
                <a:latin typeface="Consolas" pitchFamily="34" charset="0"/>
                <a:ea typeface="Consolas" pitchFamily="34" charset="-122"/>
                <a:cs typeface="Consolas" pitchFamily="34" charset="-120"/>
              </a:rPr>
              <a:t>&lt;</a:t>
            </a:r>
            <a:pPr algn="l" indent="0" marL="0">
              <a:buNone/>
            </a:pPr>
            <a:r>
              <a:rPr lang="en-US" sz="850" b="1" dirty="0">
                <a:solidFill>
                  <a:srgbClr val="60A5FA"/>
                </a:solidFill>
                <a:latin typeface="Consolas" pitchFamily="34" charset="0"/>
                <a:ea typeface="Consolas" pitchFamily="34" charset="-122"/>
                <a:cs typeface="Consolas" pitchFamily="34" charset="-120"/>
              </a:rPr>
              <a:t>char</a:t>
            </a:r>
            <a:pPr algn="l" indent="0" marL="0">
              <a:buNone/>
            </a:pPr>
            <a:r>
              <a:rPr lang="en-US" sz="850" dirty="0">
                <a:solidFill>
                  <a:srgbClr val="E5E7EB"/>
                </a:solidFill>
                <a:latin typeface="Consolas" pitchFamily="34" charset="0"/>
                <a:ea typeface="Consolas" pitchFamily="34" charset="-122"/>
                <a:cs typeface="Consolas" pitchFamily="34" charset="-120"/>
              </a:rPr>
              <a:t>&gt;&gt;&amp; </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m</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size</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size</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&lt;</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&lt;</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&gt;=</a:t>
            </a:r>
            <a:pPr algn="l" indent="0" marL="0">
              <a:buNone/>
            </a:pPr>
            <a:r>
              <a:rPr lang="en-US" sz="850" dirty="0">
                <a:solidFill>
                  <a:srgbClr val="E5E7EB"/>
                </a:solidFill>
                <a:latin typeface="Consolas" pitchFamily="34" charset="0"/>
                <a:ea typeface="Consolas" pitchFamily="34" charset="-122"/>
                <a:cs typeface="Consolas" pitchFamily="34" charset="-120"/>
              </a:rPr>
              <a:t>m</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&gt;=</a:t>
            </a:r>
            <a:pPr algn="l" indent="0" marL="0">
              <a:buNone/>
            </a:pPr>
            <a:r>
              <a:rPr lang="en-US" sz="850" dirty="0">
                <a:solidFill>
                  <a:srgbClr val="E5E7EB"/>
                </a:solidFill>
                <a:latin typeface="Consolas" pitchFamily="34" charset="0"/>
                <a:ea typeface="Consolas" pitchFamily="34" charset="-122"/>
                <a:cs typeface="Consolas" pitchFamily="34" charset="-120"/>
              </a:rPr>
              <a:t>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dfs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dfs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dfs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dfs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numIslands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vector</a:t>
            </a:r>
            <a:pPr algn="l" indent="0" marL="0">
              <a:buNone/>
            </a:pPr>
            <a:r>
              <a:rPr lang="en-US" sz="850" dirty="0">
                <a:solidFill>
                  <a:srgbClr val="E5E7EB"/>
                </a:solidFill>
                <a:latin typeface="Consolas" pitchFamily="34" charset="0"/>
                <a:ea typeface="Consolas" pitchFamily="34" charset="-122"/>
                <a:cs typeface="Consolas" pitchFamily="34" charset="-120"/>
              </a:rPr>
              <a:t>&lt;</a:t>
            </a:r>
            <a:pPr algn="l" indent="0" marL="0">
              <a:buNone/>
            </a:pPr>
            <a:r>
              <a:rPr lang="en-US" sz="850" dirty="0">
                <a:solidFill>
                  <a:srgbClr val="E5E7EB"/>
                </a:solidFill>
                <a:latin typeface="Consolas" pitchFamily="34" charset="0"/>
                <a:ea typeface="Consolas" pitchFamily="34" charset="-122"/>
                <a:cs typeface="Consolas" pitchFamily="34" charset="-120"/>
              </a:rPr>
              <a:t>vector</a:t>
            </a:r>
            <a:pPr algn="l" indent="0" marL="0">
              <a:buNone/>
            </a:pPr>
            <a:r>
              <a:rPr lang="en-US" sz="850" dirty="0">
                <a:solidFill>
                  <a:srgbClr val="E5E7EB"/>
                </a:solidFill>
                <a:latin typeface="Consolas" pitchFamily="34" charset="0"/>
                <a:ea typeface="Consolas" pitchFamily="34" charset="-122"/>
                <a:cs typeface="Consolas" pitchFamily="34" charset="-120"/>
              </a:rPr>
              <a:t>&lt;</a:t>
            </a:r>
            <a:pPr algn="l" indent="0" marL="0">
              <a:buNone/>
            </a:pPr>
            <a:r>
              <a:rPr lang="en-US" sz="850" b="1" dirty="0">
                <a:solidFill>
                  <a:srgbClr val="60A5FA"/>
                </a:solidFill>
                <a:latin typeface="Consolas" pitchFamily="34" charset="0"/>
                <a:ea typeface="Consolas" pitchFamily="34" charset="-122"/>
                <a:cs typeface="Consolas" pitchFamily="34" charset="-120"/>
              </a:rPr>
              <a:t>char</a:t>
            </a:r>
            <a:pPr algn="l" indent="0" marL="0">
              <a:buNone/>
            </a:pPr>
            <a:r>
              <a:rPr lang="en-US" sz="850" dirty="0">
                <a:solidFill>
                  <a:srgbClr val="E5E7EB"/>
                </a:solidFill>
                <a:latin typeface="Consolas" pitchFamily="34" charset="0"/>
                <a:ea typeface="Consolas" pitchFamily="34" charset="-122"/>
                <a:cs typeface="Consolas" pitchFamily="34" charset="-120"/>
              </a:rPr>
              <a:t>&gt;&gt;&amp; </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count</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for</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size</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for</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size</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count</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dfs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count</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p:txBody>
      </p:sp>
      <p:sp>
        <p:nvSpPr>
          <p:cNvPr id="8" name="Shape 5"/>
          <p:cNvSpPr/>
          <p:nvPr/>
        </p:nvSpPr>
        <p:spPr>
          <a:xfrm>
            <a:off x="3182112" y="960120"/>
            <a:ext cx="2834640" cy="3977640"/>
          </a:xfrm>
          <a:prstGeom prst="rect">
            <a:avLst/>
          </a:prstGeom>
          <a:solidFill>
            <a:srgbClr val="111827"/>
          </a:solidFill>
          <a:ln w="12700">
            <a:solidFill>
              <a:srgbClr val="111827"/>
            </a:solidFill>
            <a:prstDash val="solid"/>
          </a:ln>
        </p:spPr>
      </p:sp>
      <p:sp>
        <p:nvSpPr>
          <p:cNvPr id="9" name="Shape 6"/>
          <p:cNvSpPr/>
          <p:nvPr/>
        </p:nvSpPr>
        <p:spPr>
          <a:xfrm>
            <a:off x="3182112" y="960120"/>
            <a:ext cx="2834640" cy="365760"/>
          </a:xfrm>
          <a:prstGeom prst="rect">
            <a:avLst/>
          </a:prstGeom>
          <a:solidFill>
            <a:srgbClr val="2C5F2D"/>
          </a:solidFill>
          <a:ln w="12700">
            <a:solidFill>
              <a:srgbClr val="2C5F2D"/>
            </a:solidFill>
            <a:prstDash val="solid"/>
          </a:ln>
        </p:spPr>
      </p:sp>
      <p:sp>
        <p:nvSpPr>
          <p:cNvPr id="10" name="Text 7"/>
          <p:cNvSpPr/>
          <p:nvPr/>
        </p:nvSpPr>
        <p:spPr>
          <a:xfrm>
            <a:off x="3182112" y="960120"/>
            <a:ext cx="28346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Java  (Functional Style)</a:t>
            </a:r>
            <a:endParaRPr lang="en-US" sz="1200" dirty="0"/>
          </a:p>
        </p:txBody>
      </p:sp>
      <p:sp>
        <p:nvSpPr>
          <p:cNvPr id="11" name="Text 8"/>
          <p:cNvSpPr/>
          <p:nvPr/>
        </p:nvSpPr>
        <p:spPr>
          <a:xfrm>
            <a:off x="3273552" y="1399032"/>
            <a:ext cx="2651760" cy="3465576"/>
          </a:xfrm>
          <a:prstGeom prst="rect">
            <a:avLst/>
          </a:prstGeom>
          <a:noFill/>
          <a:ln/>
        </p:spPr>
        <p:txBody>
          <a:bodyPr wrap="square" rtlCol="0" anchor="t"/>
          <a:lstStyle/>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public</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class</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Solution</a:t>
            </a:r>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void</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dfs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b="1" dirty="0">
                <a:solidFill>
                  <a:srgbClr val="60A5FA"/>
                </a:solidFill>
                <a:latin typeface="Consolas" pitchFamily="34" charset="0"/>
                <a:ea typeface="Consolas" pitchFamily="34" charset="-122"/>
                <a:cs typeface="Consolas" pitchFamily="34" charset="-120"/>
              </a:rPr>
              <a:t>char</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m</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length</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length</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&gt;= </a:t>
            </a:r>
            <a:pPr algn="l" indent="0" marL="0">
              <a:buNone/>
            </a:pPr>
            <a:r>
              <a:rPr lang="en-US" sz="850" dirty="0">
                <a:solidFill>
                  <a:srgbClr val="E5E7EB"/>
                </a:solidFill>
                <a:latin typeface="Consolas" pitchFamily="34" charset="0"/>
                <a:ea typeface="Consolas" pitchFamily="34" charset="-122"/>
                <a:cs typeface="Consolas" pitchFamily="34" charset="-120"/>
              </a:rPr>
              <a:t>m</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&gt;= </a:t>
            </a:r>
            <a:pPr algn="l" indent="0" marL="0">
              <a:buNone/>
            </a:pPr>
            <a:r>
              <a:rPr lang="en-US" sz="850" dirty="0">
                <a:solidFill>
                  <a:srgbClr val="E5E7EB"/>
                </a:solidFill>
                <a:latin typeface="Consolas" pitchFamily="34" charset="0"/>
                <a:ea typeface="Consolas" pitchFamily="34" charset="-122"/>
                <a:cs typeface="Consolas" pitchFamily="34" charset="-120"/>
              </a:rPr>
              <a:t>n</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dfs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dfs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dfs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dfs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public</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numIslands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b="1" dirty="0">
                <a:solidFill>
                  <a:srgbClr val="60A5FA"/>
                </a:solidFill>
                <a:latin typeface="Consolas" pitchFamily="34" charset="0"/>
                <a:ea typeface="Consolas" pitchFamily="34" charset="-122"/>
                <a:cs typeface="Consolas" pitchFamily="34" charset="-120"/>
              </a:rPr>
              <a:t>char</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count</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for</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length</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for</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length</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count</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dfs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g</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count</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p:txBody>
      </p:sp>
      <p:sp>
        <p:nvSpPr>
          <p:cNvPr id="12" name="Shape 9"/>
          <p:cNvSpPr/>
          <p:nvPr/>
        </p:nvSpPr>
        <p:spPr>
          <a:xfrm>
            <a:off x="6089904" y="960120"/>
            <a:ext cx="2834640" cy="3977640"/>
          </a:xfrm>
          <a:prstGeom prst="rect">
            <a:avLst/>
          </a:prstGeom>
          <a:solidFill>
            <a:srgbClr val="111827"/>
          </a:solidFill>
          <a:ln w="12700">
            <a:solidFill>
              <a:srgbClr val="111827"/>
            </a:solidFill>
            <a:prstDash val="solid"/>
          </a:ln>
        </p:spPr>
      </p:sp>
      <p:sp>
        <p:nvSpPr>
          <p:cNvPr id="13" name="Shape 10"/>
          <p:cNvSpPr/>
          <p:nvPr/>
        </p:nvSpPr>
        <p:spPr>
          <a:xfrm>
            <a:off x="6089904" y="960120"/>
            <a:ext cx="2834640" cy="365760"/>
          </a:xfrm>
          <a:prstGeom prst="rect">
            <a:avLst/>
          </a:prstGeom>
          <a:solidFill>
            <a:srgbClr val="B22234"/>
          </a:solidFill>
          <a:ln w="12700">
            <a:solidFill>
              <a:srgbClr val="B22234"/>
            </a:solidFill>
            <a:prstDash val="solid"/>
          </a:ln>
        </p:spPr>
      </p:sp>
      <p:sp>
        <p:nvSpPr>
          <p:cNvPr id="14" name="Text 11"/>
          <p:cNvSpPr/>
          <p:nvPr/>
        </p:nvSpPr>
        <p:spPr>
          <a:xfrm>
            <a:off x="6089904" y="960120"/>
            <a:ext cx="28346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Python</a:t>
            </a:r>
            <a:endParaRPr lang="en-US" sz="1200" dirty="0"/>
          </a:p>
        </p:txBody>
      </p:sp>
      <p:sp>
        <p:nvSpPr>
          <p:cNvPr id="15" name="Text 12"/>
          <p:cNvSpPr/>
          <p:nvPr/>
        </p:nvSpPr>
        <p:spPr>
          <a:xfrm>
            <a:off x="6181344" y="1399032"/>
            <a:ext cx="2651760" cy="3465576"/>
          </a:xfrm>
          <a:prstGeom prst="rect">
            <a:avLst/>
          </a:prstGeom>
          <a:noFill/>
          <a:ln/>
        </p:spPr>
        <p:txBody>
          <a:bodyPr wrap="square" rtlCol="0" anchor="t"/>
          <a:lstStyle/>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from</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collections</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import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deque</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class</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Solution</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def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numIslands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self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grid</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not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grid</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m</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b="1" dirty="0">
                <a:solidFill>
                  <a:srgbClr val="60A5FA"/>
                </a:solidFill>
                <a:latin typeface="Consolas" pitchFamily="34" charset="0"/>
                <a:ea typeface="Consolas" pitchFamily="34" charset="-122"/>
                <a:cs typeface="Consolas" pitchFamily="34" charset="-120"/>
              </a:rPr>
              <a:t>len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grid</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len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grid</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count</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def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bfs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q</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deque</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grid</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while</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q</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c</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q</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popleft</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for</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dr</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dc</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nr</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nc</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dr</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c</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dc</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nr</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m</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and</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nc</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and</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grid</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nr</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nc</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grid</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nr</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nc</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q</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append</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nr</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nc</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for</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range</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m</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for</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range</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n</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grid</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count</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bfs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count</a:t>
            </a:r>
            <a:pPr algn="l" indent="0" marL="0">
              <a:buNone/>
            </a:pP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Learning Outcomes</a:t>
            </a:r>
            <a:endParaRPr lang="en-US" sz="2800" dirty="0"/>
          </a:p>
        </p:txBody>
      </p:sp>
      <p:sp>
        <p:nvSpPr>
          <p:cNvPr id="4" name="Shape 1"/>
          <p:cNvSpPr/>
          <p:nvPr/>
        </p:nvSpPr>
        <p:spPr>
          <a:xfrm>
            <a:off x="365760" y="1005840"/>
            <a:ext cx="4160520" cy="1600200"/>
          </a:xfrm>
          <a:prstGeom prst="rect">
            <a:avLst/>
          </a:prstGeom>
          <a:solidFill>
            <a:srgbClr val="FFFFFF"/>
          </a:solidFill>
          <a:ln w="15875">
            <a:solidFill>
              <a:srgbClr val="B22234"/>
            </a:solidFill>
            <a:prstDash val="solid"/>
          </a:ln>
        </p:spPr>
      </p:sp>
      <p:sp>
        <p:nvSpPr>
          <p:cNvPr id="5" name="Shape 2"/>
          <p:cNvSpPr/>
          <p:nvPr/>
        </p:nvSpPr>
        <p:spPr>
          <a:xfrm>
            <a:off x="365760" y="1005840"/>
            <a:ext cx="164592" cy="1600200"/>
          </a:xfrm>
          <a:prstGeom prst="rect">
            <a:avLst/>
          </a:prstGeom>
          <a:solidFill>
            <a:srgbClr val="B22234"/>
          </a:solidFill>
          <a:ln w="12700">
            <a:solidFill>
              <a:srgbClr val="B22234"/>
            </a:solidFill>
            <a:prstDash val="solid"/>
          </a:ln>
        </p:spPr>
      </p:sp>
      <p:sp>
        <p:nvSpPr>
          <p:cNvPr id="6" name="Text 3"/>
          <p:cNvSpPr/>
          <p:nvPr/>
        </p:nvSpPr>
        <p:spPr>
          <a:xfrm>
            <a:off x="640080" y="1143000"/>
            <a:ext cx="868680" cy="1325880"/>
          </a:xfrm>
          <a:prstGeom prst="rect">
            <a:avLst/>
          </a:prstGeom>
          <a:noFill/>
          <a:ln/>
        </p:spPr>
        <p:txBody>
          <a:bodyPr wrap="square" lIns="0" tIns="0" rIns="0" bIns="0" rtlCol="0" anchor="ctr"/>
          <a:lstStyle/>
          <a:p>
            <a:pPr algn="l" indent="0" marL="0">
              <a:buNone/>
            </a:pPr>
            <a:r>
              <a:rPr lang="en-US" sz="3200" b="1" dirty="0">
                <a:solidFill>
                  <a:srgbClr val="B22234"/>
                </a:solidFill>
                <a:latin typeface="Georgia" pitchFamily="34" charset="0"/>
                <a:ea typeface="Georgia" pitchFamily="34" charset="-122"/>
                <a:cs typeface="Georgia" pitchFamily="34" charset="-120"/>
              </a:rPr>
              <a:t>01</a:t>
            </a:r>
            <a:endParaRPr lang="en-US" sz="3200" dirty="0"/>
          </a:p>
        </p:txBody>
      </p:sp>
      <p:sp>
        <p:nvSpPr>
          <p:cNvPr id="7" name="Text 4"/>
          <p:cNvSpPr/>
          <p:nvPr/>
        </p:nvSpPr>
        <p:spPr>
          <a:xfrm>
            <a:off x="1554480" y="1188720"/>
            <a:ext cx="2880360" cy="1234440"/>
          </a:xfrm>
          <a:prstGeom prst="rect">
            <a:avLst/>
          </a:prstGeom>
          <a:noFill/>
          <a:ln/>
        </p:spPr>
        <p:txBody>
          <a:bodyPr wrap="square" rtlCol="0" anchor="ctr"/>
          <a:lstStyle/>
          <a:p>
            <a:pPr algn="l" indent="0" marL="0">
              <a:buNone/>
            </a:pPr>
            <a:r>
              <a:rPr lang="en-US" sz="1200" dirty="0">
                <a:solidFill>
                  <a:srgbClr val="333333"/>
                </a:solidFill>
                <a:latin typeface="Arial" pitchFamily="34" charset="0"/>
                <a:ea typeface="Arial" pitchFamily="34" charset="-122"/>
                <a:cs typeface="Arial" pitchFamily="34" charset="-120"/>
              </a:rPr>
              <a:t>CO1: Represent a graph using both adjacency list and adjacency matrix and choose the right one.</a:t>
            </a:r>
            <a:endParaRPr lang="en-US" sz="1200" dirty="0"/>
          </a:p>
        </p:txBody>
      </p:sp>
      <p:sp>
        <p:nvSpPr>
          <p:cNvPr id="8" name="Shape 5"/>
          <p:cNvSpPr/>
          <p:nvPr/>
        </p:nvSpPr>
        <p:spPr>
          <a:xfrm>
            <a:off x="4709160" y="1005840"/>
            <a:ext cx="4160520" cy="1600200"/>
          </a:xfrm>
          <a:prstGeom prst="rect">
            <a:avLst/>
          </a:prstGeom>
          <a:solidFill>
            <a:srgbClr val="FFFFFF"/>
          </a:solidFill>
          <a:ln w="15875">
            <a:solidFill>
              <a:srgbClr val="1F3864"/>
            </a:solidFill>
            <a:prstDash val="solid"/>
          </a:ln>
        </p:spPr>
      </p:sp>
      <p:sp>
        <p:nvSpPr>
          <p:cNvPr id="9" name="Shape 6"/>
          <p:cNvSpPr/>
          <p:nvPr/>
        </p:nvSpPr>
        <p:spPr>
          <a:xfrm>
            <a:off x="4709160" y="1005840"/>
            <a:ext cx="164592" cy="1600200"/>
          </a:xfrm>
          <a:prstGeom prst="rect">
            <a:avLst/>
          </a:prstGeom>
          <a:solidFill>
            <a:srgbClr val="1F3864"/>
          </a:solidFill>
          <a:ln w="12700">
            <a:solidFill>
              <a:srgbClr val="1F3864"/>
            </a:solidFill>
            <a:prstDash val="solid"/>
          </a:ln>
        </p:spPr>
      </p:sp>
      <p:sp>
        <p:nvSpPr>
          <p:cNvPr id="10" name="Text 7"/>
          <p:cNvSpPr/>
          <p:nvPr/>
        </p:nvSpPr>
        <p:spPr>
          <a:xfrm>
            <a:off x="4983480" y="1143000"/>
            <a:ext cx="868680" cy="1325880"/>
          </a:xfrm>
          <a:prstGeom prst="rect">
            <a:avLst/>
          </a:prstGeom>
          <a:noFill/>
          <a:ln/>
        </p:spPr>
        <p:txBody>
          <a:bodyPr wrap="square" lIns="0" tIns="0" rIns="0" bIns="0" rtlCol="0" anchor="ctr"/>
          <a:lstStyle/>
          <a:p>
            <a:pPr algn="l" indent="0" marL="0">
              <a:buNone/>
            </a:pPr>
            <a:r>
              <a:rPr lang="en-US" sz="3200" b="1" dirty="0">
                <a:solidFill>
                  <a:srgbClr val="1F3864"/>
                </a:solidFill>
                <a:latin typeface="Georgia" pitchFamily="34" charset="0"/>
                <a:ea typeface="Georgia" pitchFamily="34" charset="-122"/>
                <a:cs typeface="Georgia" pitchFamily="34" charset="-120"/>
              </a:rPr>
              <a:t>02</a:t>
            </a:r>
            <a:endParaRPr lang="en-US" sz="3200" dirty="0"/>
          </a:p>
        </p:txBody>
      </p:sp>
      <p:sp>
        <p:nvSpPr>
          <p:cNvPr id="11" name="Text 8"/>
          <p:cNvSpPr/>
          <p:nvPr/>
        </p:nvSpPr>
        <p:spPr>
          <a:xfrm>
            <a:off x="5897880" y="1188720"/>
            <a:ext cx="2880360" cy="1234440"/>
          </a:xfrm>
          <a:prstGeom prst="rect">
            <a:avLst/>
          </a:prstGeom>
          <a:noFill/>
          <a:ln/>
        </p:spPr>
        <p:txBody>
          <a:bodyPr wrap="square" rtlCol="0" anchor="ctr"/>
          <a:lstStyle/>
          <a:p>
            <a:pPr algn="l" indent="0" marL="0">
              <a:buNone/>
            </a:pPr>
            <a:r>
              <a:rPr lang="en-US" sz="1200" dirty="0">
                <a:solidFill>
                  <a:srgbClr val="333333"/>
                </a:solidFill>
                <a:latin typeface="Arial" pitchFamily="34" charset="0"/>
                <a:ea typeface="Arial" pitchFamily="34" charset="-122"/>
                <a:cs typeface="Arial" pitchFamily="34" charset="-120"/>
              </a:rPr>
              <a:t>CO2: Implement BFS using a queue and DFS using recursion or an explicit stack.</a:t>
            </a:r>
            <a:endParaRPr lang="en-US" sz="1200" dirty="0"/>
          </a:p>
        </p:txBody>
      </p:sp>
      <p:sp>
        <p:nvSpPr>
          <p:cNvPr id="12" name="Shape 9"/>
          <p:cNvSpPr/>
          <p:nvPr/>
        </p:nvSpPr>
        <p:spPr>
          <a:xfrm>
            <a:off x="365760" y="2788920"/>
            <a:ext cx="4160520" cy="1600200"/>
          </a:xfrm>
          <a:prstGeom prst="rect">
            <a:avLst/>
          </a:prstGeom>
          <a:solidFill>
            <a:srgbClr val="FFFFFF"/>
          </a:solidFill>
          <a:ln w="15875">
            <a:solidFill>
              <a:srgbClr val="2C5F2D"/>
            </a:solidFill>
            <a:prstDash val="solid"/>
          </a:ln>
        </p:spPr>
      </p:sp>
      <p:sp>
        <p:nvSpPr>
          <p:cNvPr id="13" name="Shape 10"/>
          <p:cNvSpPr/>
          <p:nvPr/>
        </p:nvSpPr>
        <p:spPr>
          <a:xfrm>
            <a:off x="365760" y="2788920"/>
            <a:ext cx="164592" cy="1600200"/>
          </a:xfrm>
          <a:prstGeom prst="rect">
            <a:avLst/>
          </a:prstGeom>
          <a:solidFill>
            <a:srgbClr val="2C5F2D"/>
          </a:solidFill>
          <a:ln w="12700">
            <a:solidFill>
              <a:srgbClr val="2C5F2D"/>
            </a:solidFill>
            <a:prstDash val="solid"/>
          </a:ln>
        </p:spPr>
      </p:sp>
      <p:sp>
        <p:nvSpPr>
          <p:cNvPr id="14" name="Text 11"/>
          <p:cNvSpPr/>
          <p:nvPr/>
        </p:nvSpPr>
        <p:spPr>
          <a:xfrm>
            <a:off x="640080" y="2926080"/>
            <a:ext cx="868680" cy="1325880"/>
          </a:xfrm>
          <a:prstGeom prst="rect">
            <a:avLst/>
          </a:prstGeom>
          <a:noFill/>
          <a:ln/>
        </p:spPr>
        <p:txBody>
          <a:bodyPr wrap="square" lIns="0" tIns="0" rIns="0" bIns="0" rtlCol="0" anchor="ctr"/>
          <a:lstStyle/>
          <a:p>
            <a:pPr algn="l" indent="0" marL="0">
              <a:buNone/>
            </a:pPr>
            <a:r>
              <a:rPr lang="en-US" sz="3200" b="1" dirty="0">
                <a:solidFill>
                  <a:srgbClr val="2C5F2D"/>
                </a:solidFill>
                <a:latin typeface="Georgia" pitchFamily="34" charset="0"/>
                <a:ea typeface="Georgia" pitchFamily="34" charset="-122"/>
                <a:cs typeface="Georgia" pitchFamily="34" charset="-120"/>
              </a:rPr>
              <a:t>03</a:t>
            </a:r>
            <a:endParaRPr lang="en-US" sz="3200" dirty="0"/>
          </a:p>
        </p:txBody>
      </p:sp>
      <p:sp>
        <p:nvSpPr>
          <p:cNvPr id="15" name="Text 12"/>
          <p:cNvSpPr/>
          <p:nvPr/>
        </p:nvSpPr>
        <p:spPr>
          <a:xfrm>
            <a:off x="1554480" y="2971800"/>
            <a:ext cx="2880360" cy="1234440"/>
          </a:xfrm>
          <a:prstGeom prst="rect">
            <a:avLst/>
          </a:prstGeom>
          <a:noFill/>
          <a:ln/>
        </p:spPr>
        <p:txBody>
          <a:bodyPr wrap="square" rtlCol="0" anchor="ctr"/>
          <a:lstStyle/>
          <a:p>
            <a:pPr algn="l" indent="0" marL="0">
              <a:buNone/>
            </a:pPr>
            <a:r>
              <a:rPr lang="en-US" sz="1200" dirty="0">
                <a:solidFill>
                  <a:srgbClr val="333333"/>
                </a:solidFill>
                <a:latin typeface="Arial" pitchFamily="34" charset="0"/>
                <a:ea typeface="Arial" pitchFamily="34" charset="-122"/>
                <a:cs typeface="Arial" pitchFamily="34" charset="-120"/>
              </a:rPr>
              <a:t>CO3: Apply graph traversal to solve flood-fill, connected components, and reachability problems.</a:t>
            </a:r>
            <a:endParaRPr lang="en-US" sz="1200" dirty="0"/>
          </a:p>
        </p:txBody>
      </p:sp>
      <p:sp>
        <p:nvSpPr>
          <p:cNvPr id="16" name="Shape 13"/>
          <p:cNvSpPr/>
          <p:nvPr/>
        </p:nvSpPr>
        <p:spPr>
          <a:xfrm>
            <a:off x="4709160" y="2788920"/>
            <a:ext cx="4160520" cy="1600200"/>
          </a:xfrm>
          <a:prstGeom prst="rect">
            <a:avLst/>
          </a:prstGeom>
          <a:solidFill>
            <a:srgbClr val="FFFFFF"/>
          </a:solidFill>
          <a:ln w="15875">
            <a:solidFill>
              <a:srgbClr val="6B2D8C"/>
            </a:solidFill>
            <a:prstDash val="solid"/>
          </a:ln>
        </p:spPr>
      </p:sp>
      <p:sp>
        <p:nvSpPr>
          <p:cNvPr id="17" name="Shape 14"/>
          <p:cNvSpPr/>
          <p:nvPr/>
        </p:nvSpPr>
        <p:spPr>
          <a:xfrm>
            <a:off x="4709160" y="2788920"/>
            <a:ext cx="164592" cy="1600200"/>
          </a:xfrm>
          <a:prstGeom prst="rect">
            <a:avLst/>
          </a:prstGeom>
          <a:solidFill>
            <a:srgbClr val="6B2D8C"/>
          </a:solidFill>
          <a:ln w="12700">
            <a:solidFill>
              <a:srgbClr val="6B2D8C"/>
            </a:solidFill>
            <a:prstDash val="solid"/>
          </a:ln>
        </p:spPr>
      </p:sp>
      <p:sp>
        <p:nvSpPr>
          <p:cNvPr id="18" name="Text 15"/>
          <p:cNvSpPr/>
          <p:nvPr/>
        </p:nvSpPr>
        <p:spPr>
          <a:xfrm>
            <a:off x="4983480" y="2926080"/>
            <a:ext cx="868680" cy="1325880"/>
          </a:xfrm>
          <a:prstGeom prst="rect">
            <a:avLst/>
          </a:prstGeom>
          <a:noFill/>
          <a:ln/>
        </p:spPr>
        <p:txBody>
          <a:bodyPr wrap="square" lIns="0" tIns="0" rIns="0" bIns="0" rtlCol="0" anchor="ctr"/>
          <a:lstStyle/>
          <a:p>
            <a:pPr algn="l" indent="0" marL="0">
              <a:buNone/>
            </a:pPr>
            <a:r>
              <a:rPr lang="en-US" sz="3200" b="1" dirty="0">
                <a:solidFill>
                  <a:srgbClr val="6B2D8C"/>
                </a:solidFill>
                <a:latin typeface="Georgia" pitchFamily="34" charset="0"/>
                <a:ea typeface="Georgia" pitchFamily="34" charset="-122"/>
                <a:cs typeface="Georgia" pitchFamily="34" charset="-120"/>
              </a:rPr>
              <a:t>04</a:t>
            </a:r>
            <a:endParaRPr lang="en-US" sz="3200" dirty="0"/>
          </a:p>
        </p:txBody>
      </p:sp>
      <p:sp>
        <p:nvSpPr>
          <p:cNvPr id="19" name="Text 16"/>
          <p:cNvSpPr/>
          <p:nvPr/>
        </p:nvSpPr>
        <p:spPr>
          <a:xfrm>
            <a:off x="5897880" y="2971800"/>
            <a:ext cx="2880360" cy="1234440"/>
          </a:xfrm>
          <a:prstGeom prst="rect">
            <a:avLst/>
          </a:prstGeom>
          <a:noFill/>
          <a:ln/>
        </p:spPr>
        <p:txBody>
          <a:bodyPr wrap="square" rtlCol="0" anchor="ctr"/>
          <a:lstStyle/>
          <a:p>
            <a:pPr algn="l" indent="0" marL="0">
              <a:buNone/>
            </a:pPr>
            <a:r>
              <a:rPr lang="en-US" sz="1200" dirty="0">
                <a:solidFill>
                  <a:srgbClr val="333333"/>
                </a:solidFill>
                <a:latin typeface="Arial" pitchFamily="34" charset="0"/>
                <a:ea typeface="Arial" pitchFamily="34" charset="-122"/>
                <a:cs typeface="Arial" pitchFamily="34" charset="-120"/>
              </a:rPr>
              <a:t>CO4: Analyze time and space complexity for both traversal strategies.</a:t>
            </a:r>
            <a:endParaRPr lang="en-US" sz="1200" dirty="0"/>
          </a:p>
        </p:txBody>
      </p:sp>
      <p:sp>
        <p:nvSpPr>
          <p:cNvPr id="20" name="Shape 17"/>
          <p:cNvSpPr/>
          <p:nvPr/>
        </p:nvSpPr>
        <p:spPr>
          <a:xfrm>
            <a:off x="2194560" y="4709160"/>
            <a:ext cx="4754880" cy="365760"/>
          </a:xfrm>
          <a:prstGeom prst="rect">
            <a:avLst/>
          </a:prstGeom>
          <a:solidFill>
            <a:srgbClr val="B22234"/>
          </a:solidFill>
          <a:ln w="12700">
            <a:solidFill>
              <a:srgbClr val="B22234"/>
            </a:solidFill>
            <a:prstDash val="solid"/>
          </a:ln>
        </p:spPr>
      </p:sp>
      <p:sp>
        <p:nvSpPr>
          <p:cNvPr id="21" name="Text 18"/>
          <p:cNvSpPr/>
          <p:nvPr/>
        </p:nvSpPr>
        <p:spPr>
          <a:xfrm>
            <a:off x="2194560" y="4709160"/>
            <a:ext cx="475488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CO Mapping: CO2 — Graph Traversal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Experiment 05 — Implementation of Graph Traversal Techniques (BFS &amp; DFS)</dc:title>
  <dc:subject>PptxGenJS Presentation</dc:subject>
  <dc:creator>Chandigarh University — DSA Lab</dc:creator>
  <cp:lastModifiedBy>Chandigarh University — DSA Lab</cp:lastModifiedBy>
  <cp:revision>1</cp:revision>
  <dcterms:created xsi:type="dcterms:W3CDTF">2026-05-13T03:22:05Z</dcterms:created>
  <dcterms:modified xsi:type="dcterms:W3CDTF">2026-05-13T03:22:05Z</dcterms:modified>
</cp:coreProperties>
</file>
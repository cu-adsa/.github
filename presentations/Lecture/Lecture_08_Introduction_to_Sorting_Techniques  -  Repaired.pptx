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309" r:id="rId2"/>
    <p:sldId id="310" r:id="rId3"/>
    <p:sldId id="311" r:id="rId4"/>
    <p:sldId id="312" r:id="rId5"/>
    <p:sldId id="313" r:id="rId6"/>
    <p:sldId id="314" r:id="rId7"/>
    <p:sldId id="315" r:id="rId8"/>
    <p:sldId id="316" r:id="rId9"/>
    <p:sldId id="317" r:id="rId10"/>
    <p:sldId id="318" r:id="rId11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3"/>
    </p:embeddedFon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Vladimir Script" panose="03050402040407070305" pitchFamily="66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62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4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  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visualgo.net/en/sorting" TargetMode="External"/><Relationship Id="rId2" Type="http://schemas.openxmlformats.org/officeDocument/2006/relationships/hyperlink" Target="https://www.geeksforgeeks.org/sorting-algorithms/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9199" y="394320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63765" y="802415"/>
            <a:ext cx="8065886" cy="4285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</a:t>
            </a:r>
            <a:r>
              <a:rPr lang="en-US" sz="32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ENGINEERING AND TECHNOLOGY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TT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Engineering (B.E.) – CSE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Advanced Data Structures / Semester 3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(CS221)</a:t>
            </a:r>
            <a:endParaRPr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1                      Chapter No. 1.1                   Lecture No. 8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Introduction to Sorting Techniques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Abhishek Thakur (E19789)				Technical Trainer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Soura</a:t>
            </a:r>
            <a:r>
              <a:rPr lang="en-US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v Jaiswal (E19756)-MSC				Technical Trainer</a:t>
            </a:r>
            <a:endParaRPr lang="en-US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July-Dec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50842" y="218172"/>
            <a:ext cx="8974401" cy="444600"/>
            <a:chOff x="-452851" y="6299"/>
            <a:chExt cx="6033785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-452851" y="28003"/>
              <a:ext cx="6012081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C2BF4C75-B6D5-0F71-7046-B3B05669B5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2F60C0-9493-6D30-C2FB-A190B5DAFBD4}"/>
              </a:ext>
            </a:extLst>
          </p:cNvPr>
          <p:cNvSpPr txBox="1"/>
          <p:nvPr/>
        </p:nvSpPr>
        <p:spPr>
          <a:xfrm>
            <a:off x="83125" y="1082770"/>
            <a:ext cx="894211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Understand what sorting is and why it is fundamental in computer science.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Classify sorting algorithms into comparison-based and non-comparison-based.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Identify in-place vs. out-of-place and stable vs. unstable sorting algorithms.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Compare the time and space complexities of major sorting algorithms.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-258657" y="273173"/>
            <a:ext cx="9402657" cy="463311"/>
            <a:chOff x="0" y="6299"/>
            <a:chExt cx="5814314" cy="463311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76788" y="68418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What is Sorting and Why it Matters?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201881" y="1060135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Sorting: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The process of arranging data elements in a specific order — ascending or descending.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Importance: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Sorted data enables binary search (O(log n) vs O(n)), simplifies data analysis, and is prerequisite for many algorithms.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In-place: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Algorithm sorts within the original array using O(1) extra space (e.g. Bubble, Quick Sort).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Stable: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 stable sort preserves the relative order of equal elements (e.g. Merge Sort, Insertion Sort).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Adaptive: </a:t>
            </a:r>
            <a:r>
              <a:rPr lang="en-US" sz="28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R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uns faster on partially sorted input.</a:t>
            </a: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353" y="3616349"/>
            <a:ext cx="6153293" cy="15271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84166334-C828-AD3D-C0BC-F44CA2987782}"/>
              </a:ext>
            </a:extLst>
          </p:cNvPr>
          <p:cNvGrpSpPr/>
          <p:nvPr/>
        </p:nvGrpSpPr>
        <p:grpSpPr>
          <a:xfrm>
            <a:off x="83127" y="404163"/>
            <a:ext cx="884711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D9B08A7-769B-C34B-B089-27CB3484F37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16722A6-EB51-DD67-909C-CF9EC7E57A48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Sorting Algorithms — Complete Complexity Comparison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3079442-C689-D16E-FD88-DB3177282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796" y="1422025"/>
            <a:ext cx="7369704" cy="33778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118755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Classification of Sorting Algorithms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83127" y="1101387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Comparison-based: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Compare elements to determine order. Lower bound is O(n log n). Examples: Bubble, Merge, Quick, Heap Sort.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Non-comparison: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Use element values directly (not comparisons). Can achieve O(n). Examples: Counting Sort, Radix Sort, Bucket Sort.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Internal sorting: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All data fits in main memory during sorting (most algorithms discussed here).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External sorting: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Data too large for RAM; stored on disk. Merge Sort is commonly adapted for external sorting</a:t>
            </a:r>
            <a:r>
              <a:rPr lang="en-US" sz="2800" dirty="0">
                <a:solidFill>
                  <a:schemeClr val="bg2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8E7EC62-47A6-0446-A91D-ECD79632D1B7}"/>
              </a:ext>
            </a:extLst>
          </p:cNvPr>
          <p:cNvGrpSpPr/>
          <p:nvPr/>
        </p:nvGrpSpPr>
        <p:grpSpPr>
          <a:xfrm>
            <a:off x="83127" y="218172"/>
            <a:ext cx="894211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4C941DB-8239-E100-09AC-A9EFDD19976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6925805-914E-BA70-5D3C-8341ECCFCA4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Summary of the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DA8A9E1A-C5D3-C012-9EAF-104944754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F2DF282-8D00-4EFA-4D08-6B9ABBAA7A52}"/>
              </a:ext>
            </a:extLst>
          </p:cNvPr>
          <p:cNvSpPr txBox="1"/>
          <p:nvPr/>
        </p:nvSpPr>
        <p:spPr>
          <a:xfrm>
            <a:off x="83127" y="1101387"/>
            <a:ext cx="89421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Sorting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arranges elements in order; it is a prerequisite for binary search and many algorithms.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In-place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algorithms use O(1) extra space; stable algorithms preserve the order of equal elements.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Comparison-based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sorts have a lower bound of O(n log n); non-comparison sorts can be O(n).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Bubble, Insertion, Selection Sort are O(n sq.) — simple but slow for large datasets.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Quick Sort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and </a:t>
            </a: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Merge Sort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 are O(n log n) on average — preferred for large datasets.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5D0218A6-9BF1-9083-EB88-7F511EEA18C0}"/>
              </a:ext>
            </a:extLst>
          </p:cNvPr>
          <p:cNvGrpSpPr/>
          <p:nvPr/>
        </p:nvGrpSpPr>
        <p:grpSpPr>
          <a:xfrm>
            <a:off x="0" y="218172"/>
            <a:ext cx="9025246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7463C9E-EE99-A9D7-FCED-1185005F48F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7989E15-3DCD-C8F4-3603-7387C0C582C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Next Lecture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021A92BF-2EAE-86ED-1A52-97FD472F56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7EC51C08-00CA-303F-88CF-6761C177812F}"/>
              </a:ext>
            </a:extLst>
          </p:cNvPr>
          <p:cNvSpPr txBox="1"/>
          <p:nvPr/>
        </p:nvSpPr>
        <p:spPr>
          <a:xfrm>
            <a:off x="83127" y="1101387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Bubble Sort — detailed algorithm, step-by-step trace, and complexity analysis.</a:t>
            </a:r>
          </a:p>
        </p:txBody>
      </p:sp>
      <p:pic>
        <p:nvPicPr>
          <p:cNvPr id="114" name="Picture 1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806" y="2623130"/>
            <a:ext cx="5916388" cy="18777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68752" y="218172"/>
            <a:ext cx="8956493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FAQ's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Q1. What is the difference between a stable and an unstable sorting algorithm? Give one example each.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Q2. Why is the theoretical lower bound for comparison-based sorting O(n log n)?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Q3. When would you choose Insertion Sort over Merge Sort despite its O(n sq.) worst case?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0" y="218172"/>
            <a:ext cx="902524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References/ Articles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101387"/>
            <a:ext cx="8942119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Cormen et al., Introduction to Algorithms (CLRS), 3rd Ed., MIT Press, Ch. 2, 6-9.</a:t>
            </a: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GeeksforGeeks — Sorting Algorithms: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2"/>
              </a:rPr>
              <a:t>https://www.geeksforgeeks.org/sorting-algorithms/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  <a:p>
            <a:pPr marL="457200" marR="0" lvl="0" indent="-4572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</a:rPr>
              <a:t>Visualgo — Sorting: 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/>
                <a:ea typeface="Calibri"/>
                <a:cs typeface="Calibri"/>
                <a:sym typeface="Arial"/>
                <a:hlinkClick r:id="rId3"/>
              </a:rPr>
              <a:t>https://visualgo.net/en/sorting</a:t>
            </a:r>
            <a:endParaRPr lang="en-US" sz="2800" b="0" i="0" u="none" strike="noStrike" cap="none" dirty="0">
              <a:solidFill>
                <a:schemeClr val="bg2"/>
              </a:solidFill>
              <a:latin typeface="Calibri"/>
              <a:ea typeface="Calibri"/>
              <a:cs typeface="Calibri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abhishek.e19789@cumail.in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593</Words>
  <Application>Microsoft Office PowerPoint</Application>
  <PresentationFormat>On-screen Show (16:9)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Times New Roman</vt:lpstr>
      <vt:lpstr>Lato</vt:lpstr>
      <vt:lpstr>Calibri</vt:lpstr>
      <vt:lpstr>Vladimir Script</vt:lpstr>
      <vt:lpstr>Arial</vt:lpstr>
      <vt:lpstr>Cambria</vt:lpstr>
      <vt:lpstr>Arial Black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Abhishek Thakur</cp:lastModifiedBy>
  <cp:revision>74</cp:revision>
  <dcterms:modified xsi:type="dcterms:W3CDTF">2026-05-15T07:42:31Z</dcterms:modified>
</cp:coreProperties>
</file>
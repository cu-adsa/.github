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309" r:id="rId2"/>
    <p:sldId id="310" r:id="rId3"/>
    <p:sldId id="311" r:id="rId4"/>
    <p:sldId id="312" r:id="rId5"/>
    <p:sldId id="313" r:id="rId6"/>
    <p:sldId id="314" r:id="rId7"/>
    <p:sldId id="315" r:id="rId8"/>
    <p:sldId id="316" r:id="rId9"/>
    <p:sldId id="317" r:id="rId10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12"/>
    </p:embeddedFont>
    <p:embeddedFont>
      <p:font typeface="Cambria" panose="02040503050406030204" pitchFamily="18" charset="0"/>
      <p:regular r:id="rId13"/>
      <p:bold r:id="rId14"/>
      <p:italic r:id="rId15"/>
      <p:boldItalic r:id="rId16"/>
    </p:embeddedFont>
    <p:embeddedFont>
      <p:font typeface="Lato" panose="020F0502020204030203" pitchFamily="34" charset="0"/>
      <p:regular r:id="rId17"/>
      <p:bold r:id="rId18"/>
      <p:italic r:id="rId19"/>
      <p:boldItalic r:id="rId20"/>
    </p:embeddedFont>
    <p:embeddedFont>
      <p:font typeface="Vladimir Script" panose="03050402040407070305" pitchFamily="66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62" y="9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4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  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linear-search/" TargetMode="External"/><Relationship Id="rId2" Type="http://schemas.openxmlformats.org/officeDocument/2006/relationships/hyperlink" Target="https://visualgo.net/en/sorting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9199" y="394320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563765" y="802415"/>
            <a:ext cx="8065886" cy="4285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</a:t>
            </a:r>
            <a: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ENGINEERING AND TECHNOLOGY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TT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Bachelor of Engineering (B.E.) – CSE</a:t>
            </a:r>
            <a:endParaRPr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Advanced Data Structures / Semester 3</a:t>
            </a:r>
            <a:endParaRPr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(CS221)</a:t>
            </a:r>
            <a:endParaRPr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1                      Chapter No. 1.1                   Lecture No. 6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 Searching – Linear Search and Complexity Analysis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Abhishek Thakur (E19789)				Technical Trainer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Soura</a:t>
            </a:r>
            <a:r>
              <a:rPr lang="en-US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v Jaiswal (E19756)-MSC				Technical Trainer</a:t>
            </a:r>
            <a:endParaRPr lang="en-US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2026-27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ODD Semester July-Dec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50842" y="218172"/>
            <a:ext cx="8974401" cy="444600"/>
            <a:chOff x="-452851" y="6299"/>
            <a:chExt cx="6033785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-452851" y="28003"/>
              <a:ext cx="6012081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2BF4C75-B6D5-0F71-7046-B3B05669B5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82F60C0-9493-6D30-C2FB-A190B5DAFBD4}"/>
              </a:ext>
            </a:extLst>
          </p:cNvPr>
          <p:cNvSpPr txBox="1"/>
          <p:nvPr/>
        </p:nvSpPr>
        <p:spPr>
          <a:xfrm>
            <a:off x="83125" y="1082770"/>
            <a:ext cx="8942119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Understand the linear search algorithm and its step-by-step working.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Analyse best, average, and worst-case time complexity of linear search.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Implement linear search in pseudocode and trace through an example.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Identify conditions where linear search is the preferred technique.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0" y="218172"/>
            <a:ext cx="902524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Linear Search – Algorithm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83127" y="1101387"/>
            <a:ext cx="8942119" cy="241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Definition: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Linear search scans each element from left to right until the key is found or the array is exhausted.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Algorithm: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LINEAR_SEARCH(A,n,key): k=0; while k&lt;n: if A[k]==key: return k; k++; return -1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No precondition: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Works on both sorted and unsorted arrays equally well.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Return value: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Returns the index of the first match, or -1 if not found.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Use case: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Preferred for small arrays, unsorted data, or one-time searches.</a:t>
            </a:r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353" y="3616349"/>
            <a:ext cx="6153293" cy="15271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84166334-C828-AD3D-C0BC-F44CA2987782}"/>
              </a:ext>
            </a:extLst>
          </p:cNvPr>
          <p:cNvGrpSpPr/>
          <p:nvPr/>
        </p:nvGrpSpPr>
        <p:grpSpPr>
          <a:xfrm>
            <a:off x="83127" y="218172"/>
            <a:ext cx="9060872" cy="561194"/>
            <a:chOff x="0" y="6299"/>
            <a:chExt cx="5715775" cy="561194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D9B08A7-769B-C34B-B089-27CB3484F37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16722A6-EB51-DD67-909C-CF9EC7E57A48}"/>
                </a:ext>
              </a:extLst>
            </p:cNvPr>
            <p:cNvSpPr txBox="1"/>
            <p:nvPr/>
          </p:nvSpPr>
          <p:spPr>
            <a:xfrm>
              <a:off x="178249" y="166301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Linear Search – Step-by-Step Trace &amp; Complexity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3079442-C689-D16E-FD88-DB31772825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45CA01FA-06C1-B691-2467-D2AFA3915D19}"/>
              </a:ext>
            </a:extLst>
          </p:cNvPr>
          <p:cNvSpPr txBox="1"/>
          <p:nvPr/>
        </p:nvSpPr>
        <p:spPr>
          <a:xfrm>
            <a:off x="83127" y="1089512"/>
            <a:ext cx="5270719" cy="3582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/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16" y="1283065"/>
            <a:ext cx="7720338" cy="3538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28E7EC62-47A6-0446-A91D-ECD79632D1B7}"/>
              </a:ext>
            </a:extLst>
          </p:cNvPr>
          <p:cNvGrpSpPr/>
          <p:nvPr/>
        </p:nvGrpSpPr>
        <p:grpSpPr>
          <a:xfrm>
            <a:off x="83127" y="218172"/>
            <a:ext cx="894211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4C941DB-8239-E100-09AC-A9EFDD199765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76925805-914E-BA70-5D3C-8341ECCFCA4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Summary of the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DA8A9E1A-C5D3-C012-9EAF-104944754B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8F2DF282-8D00-4EFA-4D08-6B9ABBAA7A52}"/>
              </a:ext>
            </a:extLst>
          </p:cNvPr>
          <p:cNvSpPr txBox="1"/>
          <p:nvPr/>
        </p:nvSpPr>
        <p:spPr>
          <a:xfrm>
            <a:off x="83127" y="1101387"/>
            <a:ext cx="8942119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Linear search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checks each element sequentially without requiring sorted input.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Best case: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O(1) — key found at index 0. Worst case: O(n) — at end or absent.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Average case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is O(n/2) which simplifies to O(n) in Big-O notation.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Suitable for </a:t>
            </a: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small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datasets or when sorting overhead is not justified.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For </a:t>
            </a: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large sorted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datasets, Binary Search O(log n) is far more efficient.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5D0218A6-9BF1-9083-EB88-7F511EEA18C0}"/>
              </a:ext>
            </a:extLst>
          </p:cNvPr>
          <p:cNvGrpSpPr/>
          <p:nvPr/>
        </p:nvGrpSpPr>
        <p:grpSpPr>
          <a:xfrm>
            <a:off x="0" y="218172"/>
            <a:ext cx="9025246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7463C9E-EE99-A9D7-FCED-1185005F48F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7989E15-3DCD-C8F4-3603-7387C0C582C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Next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021A92BF-2EAE-86ED-1A52-97FD472F56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7EC51C08-00CA-303F-88CF-6761C177812F}"/>
              </a:ext>
            </a:extLst>
          </p:cNvPr>
          <p:cNvSpPr txBox="1"/>
          <p:nvPr/>
        </p:nvSpPr>
        <p:spPr>
          <a:xfrm>
            <a:off x="83127" y="1101387"/>
            <a:ext cx="8942119" cy="48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Binary Search – algorithm, step-by-step trace, and O(log n) complexity derivation.</a:t>
            </a:r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975" y="2669573"/>
            <a:ext cx="6263296" cy="19878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68752" y="218172"/>
            <a:ext cx="8956493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Quiz/ FAQ's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Q1. Trace linear search on A=[4,8,12,16,20] for key=12. Count comparisons.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Q2. What is the worst-case complexity of linear search? When exactly does it occur?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Q3. In what three situations is linear search preferred over binary search?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0" y="218172"/>
            <a:ext cx="902524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References</a:t>
              </a:r>
              <a:r>
                <a:rPr lang="en-US" sz="4000" b="1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/ Articles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hlinkClick r:id="rId2"/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83127" y="1101387"/>
            <a:ext cx="8942119" cy="241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Seymour Lipschutz, Data Structures, Schaum's Outlines, McGraw-Hill.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GeeksforGeeks – Linear Search: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  <a:hlinkClick r:id="rId3"/>
              </a:rPr>
              <a:t>https://www.geeksforgeeks.org/linear-search/</a:t>
            </a:r>
            <a:endParaRPr lang="en-US" sz="2800" b="0" i="0" u="none" strike="noStrike" cap="none" dirty="0">
              <a:solidFill>
                <a:schemeClr val="bg2"/>
              </a:solidFill>
              <a:latin typeface="Calibri"/>
              <a:ea typeface="Calibri"/>
              <a:cs typeface="Calibri"/>
              <a:sym typeface="Arial"/>
            </a:endParaRP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Visualgo – Sorting/Searching: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  <a:hlinkClick r:id="rId2"/>
              </a:rPr>
              <a:t>https://visualgo.net/en/sorting</a:t>
            </a:r>
            <a:endParaRPr lang="en-US" sz="2800" b="0" i="0" u="none" strike="noStrike" cap="none" dirty="0">
              <a:solidFill>
                <a:schemeClr val="bg2"/>
              </a:solidFill>
              <a:latin typeface="Calibri"/>
              <a:ea typeface="Calibri"/>
              <a:cs typeface="Calibri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abhishek.e19789@cumail.in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904</TotalTime>
  <Words>471</Words>
  <Application>Microsoft Office PowerPoint</Application>
  <PresentationFormat>On-screen Show (16:9)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Times New Roman</vt:lpstr>
      <vt:lpstr>Calibri</vt:lpstr>
      <vt:lpstr>Vladimir Script</vt:lpstr>
      <vt:lpstr>Arial</vt:lpstr>
      <vt:lpstr>Cambria</vt:lpstr>
      <vt:lpstr>Lato</vt:lpstr>
      <vt:lpstr>Arial Black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Abhishek Thakur</cp:lastModifiedBy>
  <cp:revision>75</cp:revision>
  <dcterms:modified xsi:type="dcterms:W3CDTF">2026-05-15T07:35:19Z</dcterms:modified>
</cp:coreProperties>
</file>
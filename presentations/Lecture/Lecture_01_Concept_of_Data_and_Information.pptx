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83" r:id="rId3"/>
    <p:sldId id="306" r:id="rId4"/>
    <p:sldId id="285" r:id="rId5"/>
    <p:sldId id="308" r:id="rId6"/>
    <p:sldId id="286" r:id="rId7"/>
    <p:sldId id="307" r:id="rId8"/>
    <p:sldId id="292" r:id="rId9"/>
    <p:sldId id="287" r:id="rId10"/>
    <p:sldId id="288" r:id="rId11"/>
    <p:sldId id="300" r:id="rId12"/>
    <p:sldId id="305" r:id="rId13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5"/>
    </p:embeddedFont>
    <p:embeddedFont>
      <p:font typeface="Cambria" panose="02040503050406030204" pitchFamily="18" charset="0"/>
      <p:regular r:id="rId16"/>
      <p:bold r:id="rId17"/>
      <p:italic r:id="rId18"/>
      <p:boldItalic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Vladimir Script" panose="03050402040407070305" pitchFamily="66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81FFFD3-658D-2E61-0935-024D9CC9A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5B37D81-61A3-7F92-D526-9127F71693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CE81CB5-77BC-9F2C-7D4D-96644ACF16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9472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2D7C363-8D9B-662D-D35E-EF694C15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73556C4-1FD6-C1D5-F772-CCFCA35CB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B74E6DD-E044-75B0-83F3-00BA217DA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2290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7D8E3E9-8762-CB21-031A-16903EDF0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892A4CB-A29D-A838-1A7A-1F820A932A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AA389AD-57C3-AA6D-0AEB-01BA930C14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57899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89BB20D-1518-9F15-1CCE-CE578D87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B2C4164-46C2-3D2D-CC97-C7EB21B41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45A4AC1-BC45-B230-13DC-073DE8430F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8590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E3C6B5E-FCDB-9EF8-CC17-386914C3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9253D92-9448-ACDA-7653-E48E9D40B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0C9986F-9DA2-F02D-1CFE-06C0DD4719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65213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  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ata-vs-information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9199" y="394320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63765" y="802415"/>
            <a:ext cx="8065886" cy="4285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 AND TECHNOLOGY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TT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 (B.E.) – CSE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Advanced Data Structures / Semester 3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(CS221)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 Chapter No. 1.1                   Lecture No. 1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Concept of Data and Information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Abhishek Thakur (E19789)				Technical Trainer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Soura</a:t>
            </a:r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v Jaiswal (E19756)-MSC				Technical Trainer</a:t>
            </a:r>
            <a:endParaRPr lang="en-US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July-Dec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50842" y="218172"/>
            <a:ext cx="8974401" cy="444600"/>
            <a:chOff x="-452851" y="6299"/>
            <a:chExt cx="6033785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-452851" y="28003"/>
              <a:ext cx="6012081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2F60C0-9493-6D30-C2FB-A190B5DAFBD4}"/>
              </a:ext>
            </a:extLst>
          </p:cNvPr>
          <p:cNvSpPr txBox="1"/>
          <p:nvPr/>
        </p:nvSpPr>
        <p:spPr>
          <a:xfrm>
            <a:off x="83125" y="1082770"/>
            <a:ext cx="894211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Understand the difference between data and information.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Identify real-world examples of data and information.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Explain how raw data is transformed into meaningful information.</a:t>
            </a: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Data vs. Information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241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Data: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Raw, unprocessed facts (numbers, characters, symbols) with no context.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Information: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Processed data that is meaningful, organised, and useful for decision-making.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Example: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'98', '65', '72' are data; 'Average score = 78%' is information.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F18744-B070-4F2C-ADEC-F8DF88D836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63" b="10720"/>
          <a:stretch>
            <a:fillRect/>
          </a:stretch>
        </p:blipFill>
        <p:spPr>
          <a:xfrm>
            <a:off x="1495353" y="3616349"/>
            <a:ext cx="6153293" cy="152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Types &amp; Characteristics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A9B100B-BAD8-99A1-3211-6CBBD09F1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516A7AF-FEFF-1208-4D57-1C31C5F7E7B9}"/>
              </a:ext>
            </a:extLst>
          </p:cNvPr>
          <p:cNvSpPr txBox="1"/>
          <p:nvPr/>
        </p:nvSpPr>
        <p:spPr>
          <a:xfrm>
            <a:off x="83127" y="1089517"/>
            <a:ext cx="8910068" cy="28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Numeric data:</a:t>
            </a: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integers, real numbers used in calculations.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Alphanumeric data:</a:t>
            </a: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combinations of letters and digits (e.g., roll numbers).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Qualitative vs. Quantitative data</a:t>
            </a: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– key distinctions.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Information quality attributes:</a:t>
            </a: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accuracy, timeliness, completeness, relevance.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B9E54B-44F2-9A87-DFCE-6E2D7BC33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146" y="3727806"/>
            <a:ext cx="5672029" cy="141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7A6B57B-2F27-3013-5363-4E8387954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CFC1863-0737-B9A8-E1D1-EB204948EC1C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A31924B-0BB1-6833-A89E-9B68D71FF3A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E4C6D128-B0E2-277A-A7EA-F75A7B69B8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Qualitative vs. Quantitative data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6E5980-11E6-EFC3-CBBF-FA77DA25B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123229"/>
              </p:ext>
            </p:extLst>
          </p:nvPr>
        </p:nvGraphicFramePr>
        <p:xfrm>
          <a:off x="983151" y="1106905"/>
          <a:ext cx="7150194" cy="3623224"/>
        </p:xfrm>
        <a:graphic>
          <a:graphicData uri="http://schemas.openxmlformats.org/drawingml/2006/table">
            <a:tbl>
              <a:tblPr/>
              <a:tblGrid>
                <a:gridCol w="2383398">
                  <a:extLst>
                    <a:ext uri="{9D8B030D-6E8A-4147-A177-3AD203B41FA5}">
                      <a16:colId xmlns:a16="http://schemas.microsoft.com/office/drawing/2014/main" val="2199913654"/>
                    </a:ext>
                  </a:extLst>
                </a:gridCol>
                <a:gridCol w="2383398">
                  <a:extLst>
                    <a:ext uri="{9D8B030D-6E8A-4147-A177-3AD203B41FA5}">
                      <a16:colId xmlns:a16="http://schemas.microsoft.com/office/drawing/2014/main" val="1025434614"/>
                    </a:ext>
                  </a:extLst>
                </a:gridCol>
                <a:gridCol w="2383398">
                  <a:extLst>
                    <a:ext uri="{9D8B030D-6E8A-4147-A177-3AD203B41FA5}">
                      <a16:colId xmlns:a16="http://schemas.microsoft.com/office/drawing/2014/main" val="2297237805"/>
                    </a:ext>
                  </a:extLst>
                </a:gridCol>
              </a:tblGrid>
              <a:tr h="262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bg2"/>
                          </a:solidFill>
                        </a:rPr>
                        <a:t>Feature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bg2"/>
                          </a:solidFill>
                        </a:rPr>
                        <a:t>Qualitative Data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bg2"/>
                          </a:solidFill>
                        </a:rPr>
                        <a:t>Quantitative Data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075472"/>
                  </a:ext>
                </a:extLst>
              </a:tr>
              <a:tr h="446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chemeClr val="bg2"/>
                          </a:solidFill>
                        </a:rPr>
                        <a:t>Definition</a:t>
                      </a:r>
                      <a:endParaRPr lang="en-IN" sz="1100" dirty="0">
                        <a:solidFill>
                          <a:schemeClr val="bg2"/>
                        </a:solidFill>
                      </a:endParaRP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2"/>
                          </a:solidFill>
                        </a:rPr>
                        <a:t>Descriptive, non-numerical data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chemeClr val="bg2"/>
                          </a:solidFill>
                        </a:rPr>
                        <a:t>Numerical data that can be measured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213039"/>
                  </a:ext>
                </a:extLst>
              </a:tr>
              <a:tr h="262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chemeClr val="bg2"/>
                          </a:solidFill>
                        </a:rPr>
                        <a:t>Nature</a:t>
                      </a:r>
                      <a:endParaRPr lang="en-IN" sz="1100" dirty="0">
                        <a:solidFill>
                          <a:schemeClr val="bg2"/>
                        </a:solidFill>
                      </a:endParaRP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2"/>
                          </a:solidFill>
                        </a:rPr>
                        <a:t>Subjective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2"/>
                          </a:solidFill>
                        </a:rPr>
                        <a:t>Objective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256398"/>
                  </a:ext>
                </a:extLst>
              </a:tr>
              <a:tr h="262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chemeClr val="bg2"/>
                          </a:solidFill>
                        </a:rPr>
                        <a:t>Type of Values</a:t>
                      </a:r>
                      <a:endParaRPr lang="en-IN" sz="1100" dirty="0">
                        <a:solidFill>
                          <a:schemeClr val="bg2"/>
                        </a:solidFill>
                      </a:endParaRP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2"/>
                          </a:solidFill>
                        </a:rPr>
                        <a:t>Words, labels, categories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2"/>
                          </a:solidFill>
                        </a:rPr>
                        <a:t>Numbers, counts, measurements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37087"/>
                  </a:ext>
                </a:extLst>
              </a:tr>
              <a:tr h="262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chemeClr val="bg2"/>
                          </a:solidFill>
                        </a:rPr>
                        <a:t>Examples</a:t>
                      </a:r>
                      <a:endParaRPr lang="en-IN" sz="1100" dirty="0">
                        <a:solidFill>
                          <a:schemeClr val="bg2"/>
                        </a:solidFill>
                      </a:endParaRP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2"/>
                          </a:solidFill>
                        </a:rPr>
                        <a:t>Color, gender, opinions, feedback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2"/>
                          </a:solidFill>
                        </a:rPr>
                        <a:t>Age, height, marks, salary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014677"/>
                  </a:ext>
                </a:extLst>
              </a:tr>
              <a:tr h="446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chemeClr val="bg2"/>
                          </a:solidFill>
                        </a:rPr>
                        <a:t>Data Type</a:t>
                      </a:r>
                      <a:endParaRPr lang="en-IN" sz="1100" dirty="0">
                        <a:solidFill>
                          <a:schemeClr val="bg2"/>
                        </a:solidFill>
                      </a:endParaRP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2"/>
                          </a:solidFill>
                        </a:rPr>
                        <a:t>Categorical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2"/>
                          </a:solidFill>
                        </a:rPr>
                        <a:t>Numerical (Discrete / Continuous)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417684"/>
                  </a:ext>
                </a:extLst>
              </a:tr>
              <a:tr h="262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chemeClr val="bg2"/>
                          </a:solidFill>
                        </a:rPr>
                        <a:t>Analysis Method</a:t>
                      </a:r>
                      <a:endParaRPr lang="en-IN" sz="1100" dirty="0">
                        <a:solidFill>
                          <a:schemeClr val="bg2"/>
                        </a:solidFill>
                      </a:endParaRP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2"/>
                          </a:solidFill>
                        </a:rPr>
                        <a:t>Thematic analysis, grouping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2"/>
                          </a:solidFill>
                        </a:rPr>
                        <a:t>Statistical analysis, calculations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005802"/>
                  </a:ext>
                </a:extLst>
              </a:tr>
              <a:tr h="262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chemeClr val="bg2"/>
                          </a:solidFill>
                        </a:rPr>
                        <a:t>Representation</a:t>
                      </a:r>
                      <a:endParaRPr lang="en-IN" sz="1100" dirty="0">
                        <a:solidFill>
                          <a:schemeClr val="bg2"/>
                        </a:solidFill>
                      </a:endParaRP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2"/>
                          </a:solidFill>
                        </a:rPr>
                        <a:t>Charts, graphs, text descriptions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2"/>
                          </a:solidFill>
                        </a:rPr>
                        <a:t>Graphs, histograms, bar charts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589543"/>
                  </a:ext>
                </a:extLst>
              </a:tr>
              <a:tr h="446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chemeClr val="bg2"/>
                          </a:solidFill>
                        </a:rPr>
                        <a:t>Purpose</a:t>
                      </a:r>
                      <a:endParaRPr lang="en-IN" sz="1100" dirty="0">
                        <a:solidFill>
                          <a:schemeClr val="bg2"/>
                        </a:solidFill>
                      </a:endParaRP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2"/>
                          </a:solidFill>
                        </a:rPr>
                        <a:t>Understand qualities or characteristics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2"/>
                          </a:solidFill>
                        </a:rPr>
                        <a:t>Measure quantity or amount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385688"/>
                  </a:ext>
                </a:extLst>
              </a:tr>
              <a:tr h="446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chemeClr val="bg2"/>
                          </a:solidFill>
                        </a:rPr>
                        <a:t>Collection Methods</a:t>
                      </a:r>
                      <a:endParaRPr lang="en-IN" sz="1100" dirty="0">
                        <a:solidFill>
                          <a:schemeClr val="bg2"/>
                        </a:solidFill>
                      </a:endParaRP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2"/>
                          </a:solidFill>
                        </a:rPr>
                        <a:t>Interviews, observations, surveys (open-ended)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2"/>
                          </a:solidFill>
                        </a:rPr>
                        <a:t>Experiments, surveys (close-ended), sensors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093275"/>
                  </a:ext>
                </a:extLst>
              </a:tr>
              <a:tr h="262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chemeClr val="bg2"/>
                          </a:solidFill>
                        </a:rPr>
                        <a:t>Accuracy</a:t>
                      </a:r>
                      <a:endParaRPr lang="en-IN" sz="1100" dirty="0">
                        <a:solidFill>
                          <a:schemeClr val="bg2"/>
                        </a:solidFill>
                      </a:endParaRP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bg2"/>
                          </a:solidFill>
                        </a:rPr>
                        <a:t>Less precise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bg2"/>
                          </a:solidFill>
                        </a:rPr>
                        <a:t>More precise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235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2455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CA46449-103B-2CB3-E783-17367956C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83127" y="218172"/>
            <a:ext cx="884711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Applications of the Topic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Databases store raw data; DBMS converts it to useful information.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Healthcare: patient vitals (data) → medical reports (information).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E-commerce: click logs (data) → purchase recommendations (information).</a:t>
            </a:r>
          </a:p>
        </p:txBody>
      </p:sp>
      <p:pic>
        <p:nvPicPr>
          <p:cNvPr id="2" name="Picture 2" descr="Two colleagues planning on board with sticky notes">
            <a:extLst>
              <a:ext uri="{FF2B5EF4-FFF2-40B4-BE49-F238E27FC236}">
                <a16:creationId xmlns:a16="http://schemas.microsoft.com/office/drawing/2014/main" id="{3A66A1F7-D041-98E7-B1AD-F6FD39151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5545644" y="1219587"/>
            <a:ext cx="3426106" cy="2285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499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AA13F2B-9B15-AAFB-8790-07A50A2A6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CA001766-CD5B-365F-16F6-67DCD3F1A73F}"/>
              </a:ext>
            </a:extLst>
          </p:cNvPr>
          <p:cNvGrpSpPr/>
          <p:nvPr/>
        </p:nvGrpSpPr>
        <p:grpSpPr>
          <a:xfrm>
            <a:off x="83127" y="218172"/>
            <a:ext cx="884711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04F286E0-3649-1458-998E-1CB393F3936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9A311CF-FD31-854E-94DA-10BB323542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Applications of the Topic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7482B28-EC33-EE75-2C79-B14BA2CE91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155032"/>
            <a:ext cx="508715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stock market Investors combine quantitative data (price, volume) with qualitative data (news, sentiment).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helps in:</a:t>
            </a:r>
          </a:p>
          <a:p>
            <a:pPr marL="342900" indent="-342900" algn="just">
              <a:lnSpc>
                <a:spcPct val="100000"/>
              </a:lnSpc>
            </a:pPr>
            <a:r>
              <a:rPr lang="en-IN" dirty="0">
                <a:solidFill>
                  <a:schemeClr val="bg2"/>
                </a:solidFill>
              </a:rPr>
              <a:t>Predicting stock trends.</a:t>
            </a:r>
          </a:p>
          <a:p>
            <a:pPr marL="342900" indent="-342900" algn="just">
              <a:lnSpc>
                <a:spcPct val="100000"/>
              </a:lnSpc>
            </a:pPr>
            <a:r>
              <a:rPr lang="en-IN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</a:t>
            </a:r>
            <a:r>
              <a:rPr lang="en-IN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 Buy/Sell decisions</a:t>
            </a:r>
          </a:p>
          <a:p>
            <a:pPr marL="342900" indent="-342900" algn="just">
              <a:lnSpc>
                <a:spcPct val="100000"/>
              </a:lnSpc>
            </a:pP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Assessments</a:t>
            </a:r>
          </a:p>
          <a:p>
            <a:pPr marL="342900" indent="-342900" algn="just">
              <a:lnSpc>
                <a:spcPct val="100000"/>
              </a:lnSpc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Portfolio Management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2" descr="Numbers on a digital display">
            <a:extLst>
              <a:ext uri="{FF2B5EF4-FFF2-40B4-BE49-F238E27FC236}">
                <a16:creationId xmlns:a16="http://schemas.microsoft.com/office/drawing/2014/main" id="{84FC7D74-882E-4A13-7B16-CDDCAFD67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5546898" y="1219587"/>
            <a:ext cx="3423598" cy="2285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9601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0069C43-A6C1-2A5A-FF86-50FF7E832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E7EC62-47A6-0446-A91D-ECD79632D1B7}"/>
              </a:ext>
            </a:extLst>
          </p:cNvPr>
          <p:cNvGrpSpPr/>
          <p:nvPr/>
        </p:nvGrpSpPr>
        <p:grpSpPr>
          <a:xfrm>
            <a:off x="83127" y="218172"/>
            <a:ext cx="894211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C941DB-8239-E100-09AC-A9EFDD19976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6925805-914E-BA70-5D3C-8341ECCFCA4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the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A8A9E1A-C5D3-C012-9EAF-104944754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F2DF282-8D00-4EFA-4D08-6B9ABBAA7A52}"/>
              </a:ext>
            </a:extLst>
          </p:cNvPr>
          <p:cNvSpPr txBox="1"/>
          <p:nvPr/>
        </p:nvSpPr>
        <p:spPr>
          <a:xfrm>
            <a:off x="83127" y="1101387"/>
            <a:ext cx="8942119" cy="167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Data is raw, unprocessed facts; information is processed and meaningful.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IPO cycle transforms data into information through processing.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Quality of information depends on accuracy, timeliness, and relevance.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3566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1A71372-B014-307D-6154-2C9E638CD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D0218A6-9BF1-9083-EB88-7F511EEA18C0}"/>
              </a:ext>
            </a:extLst>
          </p:cNvPr>
          <p:cNvGrpSpPr/>
          <p:nvPr/>
        </p:nvGrpSpPr>
        <p:grpSpPr>
          <a:xfrm>
            <a:off x="0" y="218172"/>
            <a:ext cx="902524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463C9E-EE99-A9D7-FCED-1185005F48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989E15-3DCD-C8F4-3603-7387C0C582C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Next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21A92BF-2EAE-86ED-1A52-97FD472F5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83127" y="1101387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Introduction to Data Structures – definition, need, and classification.</a:t>
            </a:r>
            <a:endParaRPr lang="en-US" sz="28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3" name="Picture 2" descr="One big red thumbtack in front of many smaller black thumbtacks">
            <a:extLst>
              <a:ext uri="{FF2B5EF4-FFF2-40B4-BE49-F238E27FC236}">
                <a16:creationId xmlns:a16="http://schemas.microsoft.com/office/drawing/2014/main" id="{648F32DC-BF7B-E613-3C16-A5E6435CCC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70" t="32755" r="513" b="24832"/>
          <a:stretch>
            <a:fillRect/>
          </a:stretch>
        </p:blipFill>
        <p:spPr>
          <a:xfrm>
            <a:off x="0" y="2241311"/>
            <a:ext cx="9144000" cy="290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310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68752" y="218172"/>
            <a:ext cx="8956493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Q1. What is the difference between data and information? Give an example.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Q2. List any four characteristics of good information.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Q3. In which step of the IPO cycle is raw data converted to information?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101387"/>
            <a:ext cx="8942119" cy="2834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Seymour Lipschutz, 'Data Structures', Schaum's Outlines, McGraw-Hill.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Reema Thareja, 'Data Structures Using C', Oxford University Press, 2nd Ed.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GeeksforGeeks – Data vs. Information: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3"/>
              </a:rPr>
              <a:t>https://www.geeksforgeeks.org/data-vs-information/</a:t>
            </a:r>
            <a:endParaRPr lang="en-US" sz="28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abhishek.e19789@cumail.in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</TotalTime>
  <Words>584</Words>
  <Application>Microsoft Office PowerPoint</Application>
  <PresentationFormat>On-screen Show (16:9)</PresentationFormat>
  <Paragraphs>102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 Black</vt:lpstr>
      <vt:lpstr>Times New Roman</vt:lpstr>
      <vt:lpstr>Calibri</vt:lpstr>
      <vt:lpstr>Lato</vt:lpstr>
      <vt:lpstr>Vladimir Script</vt:lpstr>
      <vt:lpstr>Arial</vt:lpstr>
      <vt:lpstr>Cambria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Abhishek Thakur</cp:lastModifiedBy>
  <cp:revision>73</cp:revision>
  <dcterms:modified xsi:type="dcterms:W3CDTF">2026-05-14T09:40:11Z</dcterms:modified>
</cp:coreProperties>
</file>
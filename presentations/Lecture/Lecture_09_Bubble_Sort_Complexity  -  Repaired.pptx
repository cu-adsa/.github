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309" r:id="rId2"/>
    <p:sldId id="310" r:id="rId3"/>
    <p:sldId id="311" r:id="rId4"/>
    <p:sldId id="312" r:id="rId5"/>
    <p:sldId id="313" r:id="rId6"/>
    <p:sldId id="314" r:id="rId7"/>
    <p:sldId id="315" r:id="rId8"/>
    <p:sldId id="316" r:id="rId9"/>
    <p:sldId id="317" r:id="rId10"/>
    <p:sldId id="318" r:id="rId11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3"/>
    </p:embeddedFont>
    <p:embeddedFont>
      <p:font typeface="Cambria" panose="02040503050406030204" pitchFamily="18" charset="0"/>
      <p:regular r:id="rId14"/>
      <p:bold r:id="rId15"/>
      <p:italic r:id="rId16"/>
      <p:boldItalic r:id="rId17"/>
    </p:embeddedFon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Vladimir Script" panose="03050402040407070305" pitchFamily="66" charset="0"/>
      <p:regular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0" autoAdjust="0"/>
    <p:restoredTop sz="94660"/>
  </p:normalViewPr>
  <p:slideViewPr>
    <p:cSldViewPr snapToGrid="0">
      <p:cViewPr>
        <p:scale>
          <a:sx n="123" d="100"/>
          <a:sy n="123" d="100"/>
        </p:scale>
        <p:origin x="235" y="10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  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visualgo.net/en/sorting" TargetMode="External"/><Relationship Id="rId2" Type="http://schemas.openxmlformats.org/officeDocument/2006/relationships/hyperlink" Target="https://www.geeksforgeeks.org/bubble-sort/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9199" y="394320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563765" y="802415"/>
            <a:ext cx="8065886" cy="4285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</a:t>
            </a: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ENGINEERING AND TECHNOLOGY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TT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Bachelor of Engineering (B.E.) – CSE</a:t>
            </a:r>
            <a:endParaRPr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Advanced Data Structures / Semester 3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(CS220)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1                      Chapter No. 1.1                   Lecture No. 9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Bubble Sort and Complexity Analysis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Abhishek Thakur (E19789)				Technical Trainer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Soura</a:t>
            </a:r>
            <a:r>
              <a:rPr lang="en-US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v Jaiswal (E19756)-MSC				Technical Trainer</a:t>
            </a:r>
            <a:endParaRPr lang="en-US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2026-27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ODD Semester July-Dec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50842" y="218172"/>
            <a:ext cx="8974401" cy="444600"/>
            <a:chOff x="-452851" y="6299"/>
            <a:chExt cx="6033785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-452851" y="28003"/>
              <a:ext cx="6012081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2BF4C75-B6D5-0F71-7046-B3B05669B5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82F60C0-9493-6D30-C2FB-A190B5DAFBD4}"/>
              </a:ext>
            </a:extLst>
          </p:cNvPr>
          <p:cNvSpPr txBox="1"/>
          <p:nvPr/>
        </p:nvSpPr>
        <p:spPr>
          <a:xfrm>
            <a:off x="83125" y="1082770"/>
            <a:ext cx="8942119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Understand the Bubble Sort algorithm and its step-by-step working.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Trace Bubble Sort on a given array and count comparisons and swaps.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Analyse best, average, and worst-case time complexity of Bubble Sort.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Implement the optimised Bubble Sort using an early-exit flag.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0" y="218172"/>
            <a:ext cx="902524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Bubble Sort — Algorithm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83127" y="1101387"/>
            <a:ext cx="8942119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Idea: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Repeatedly compare adjacent elements and swap if they are in the wrong order. Largest element "bubbles" to the end each pass.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Algorithm: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For i = 0 to n-2: For j = 0 to n-2-i: If A[j] &gt; A[j+1]: Swap A[j] and A[j+1]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Passes needed: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At most n-1 passes for n elements. Each pass places the next largest in its correct position.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Optimisation: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Add a boolean flag "swapped". If no swap occurs in a pass, array is sorted — exit early.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Best case (optimised):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O(n) — already sorted input.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84166334-C828-AD3D-C0BC-F44CA2987782}"/>
              </a:ext>
            </a:extLst>
          </p:cNvPr>
          <p:cNvGrpSpPr/>
          <p:nvPr/>
        </p:nvGrpSpPr>
        <p:grpSpPr>
          <a:xfrm>
            <a:off x="83127" y="218172"/>
            <a:ext cx="8847117" cy="495009"/>
            <a:chOff x="0" y="6299"/>
            <a:chExt cx="5580934" cy="495009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D9B08A7-769B-C34B-B089-27CB3484F37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16722A6-EB51-DD67-909C-CF9EC7E57A48}"/>
                </a:ext>
              </a:extLst>
            </p:cNvPr>
            <p:cNvSpPr txBox="1"/>
            <p:nvPr/>
          </p:nvSpPr>
          <p:spPr>
            <a:xfrm>
              <a:off x="21703" y="100116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Bubble Sort — Step-by-Step 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Visual Trace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3079442-C689-D16E-FD88-DB3177282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45CA01FA-06C1-B691-2467-D2AFA3915D19}"/>
              </a:ext>
            </a:extLst>
          </p:cNvPr>
          <p:cNvSpPr txBox="1"/>
          <p:nvPr/>
        </p:nvSpPr>
        <p:spPr>
          <a:xfrm>
            <a:off x="83127" y="1089512"/>
            <a:ext cx="5270719" cy="3582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/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824" y="1018160"/>
            <a:ext cx="8121718" cy="37225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0" y="218172"/>
            <a:ext cx="902524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Bubble Sort — Complexity Analysis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83127" y="1101387"/>
            <a:ext cx="8942119" cy="241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Best case: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O(n) — with optimised flag, already sorted array needs only 1 pass and n-1 comparisons.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Worst case: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O(n sq.) — reverse-sorted input requires n(n-1)/2 comparisons and swaps.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Average case: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O(n sq.) — on random input, approximately n(n-1)/4 swaps on average.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Space complexity: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O(1) — in-place algorithm, only a temp variable needed for swapping.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Stability: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Stable — equal adjacent elements are never swapped; their relative order is preserved.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28E7EC62-47A6-0446-A91D-ECD79632D1B7}"/>
              </a:ext>
            </a:extLst>
          </p:cNvPr>
          <p:cNvGrpSpPr/>
          <p:nvPr/>
        </p:nvGrpSpPr>
        <p:grpSpPr>
          <a:xfrm>
            <a:off x="83127" y="218172"/>
            <a:ext cx="894211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4C941DB-8239-E100-09AC-A9EFDD199765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76925805-914E-BA70-5D3C-8341ECCFCA4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Summary of the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DA8A9E1A-C5D3-C012-9EAF-104944754B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8F2DF282-8D00-4EFA-4D08-6B9ABBAA7A52}"/>
              </a:ext>
            </a:extLst>
          </p:cNvPr>
          <p:cNvSpPr txBox="1"/>
          <p:nvPr/>
        </p:nvSpPr>
        <p:spPr>
          <a:xfrm>
            <a:off x="83127" y="1101387"/>
            <a:ext cx="8942119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Bubble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Sort compares adjacent elements and swaps them if out of order, pass by pass.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After k passes, the k largest elements are in their correct sorted positions.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Optimised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Bubble Sort with swapped flag achieves O(n) best case on sorted input.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Worst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and </a:t>
            </a: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average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case: O(n sq.) — inefficient for large arrays.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Space: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O(1). Stability: Stable. Use only for small or nearly-sorted datasets.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5D0218A6-9BF1-9083-EB88-7F511EEA18C0}"/>
              </a:ext>
            </a:extLst>
          </p:cNvPr>
          <p:cNvGrpSpPr/>
          <p:nvPr/>
        </p:nvGrpSpPr>
        <p:grpSpPr>
          <a:xfrm>
            <a:off x="0" y="218172"/>
            <a:ext cx="9025246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7463C9E-EE99-A9D7-FCED-1185005F48F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7989E15-3DCD-C8F4-3603-7387C0C582C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Next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021A92BF-2EAE-86ED-1A52-97FD472F56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7EC51C08-00CA-303F-88CF-6761C177812F}"/>
              </a:ext>
            </a:extLst>
          </p:cNvPr>
          <p:cNvSpPr txBox="1"/>
          <p:nvPr/>
        </p:nvSpPr>
        <p:spPr>
          <a:xfrm>
            <a:off x="83127" y="1101387"/>
            <a:ext cx="8942119" cy="48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Quick Sort — divide-and-conquer approach, partitioning, and O(n log n) complexity.</a:t>
            </a:r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725" y="2604498"/>
            <a:ext cx="6033796" cy="19150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68752" y="218172"/>
            <a:ext cx="8956493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Quiz/ FAQ's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Q1. Trace Bubble Sort on A = [5, 1, 4, 2, 8]. Show all passes and count total swaps.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Q2. How does the optimised Bubble Sort achieve O(n) best case? Explain with pseudocode.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Q3. In Bubble Sort, after the k-th pass, what can you say about the last k elements?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0" y="218172"/>
            <a:ext cx="902524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References/ Articles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83127" y="1101387"/>
            <a:ext cx="8942119" cy="241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Cormen et al., Introduction to Algorithms (CLRS), 3rd Ed., MIT Press.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GeeksforGeeks — Bubble Sort: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  <a:hlinkClick r:id="rId2"/>
              </a:rPr>
              <a:t>https://www.geeksforgeeks.org/bubble-sort/</a:t>
            </a:r>
            <a:endParaRPr lang="en-US" sz="2800" b="0" i="0" u="none" strike="noStrike" cap="none" dirty="0">
              <a:solidFill>
                <a:schemeClr val="bg2"/>
              </a:solidFill>
              <a:latin typeface="Calibri"/>
              <a:ea typeface="Calibri"/>
              <a:cs typeface="Calibri"/>
              <a:sym typeface="Arial"/>
            </a:endParaRP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Visualgo — Sorting Visualisation: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  <a:hlinkClick r:id="rId3"/>
              </a:rPr>
              <a:t>https://visualgo.net/en/sorting</a:t>
            </a:r>
            <a:endParaRPr lang="en-US" sz="2800" b="0" i="0" u="none" strike="noStrike" cap="none" dirty="0">
              <a:solidFill>
                <a:schemeClr val="bg2"/>
              </a:solidFill>
              <a:latin typeface="Calibri"/>
              <a:ea typeface="Calibri"/>
              <a:cs typeface="Calibri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abhishek.e19789@cumail.in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904</TotalTime>
  <Words>620</Words>
  <Application>Microsoft Office PowerPoint</Application>
  <PresentationFormat>On-screen Show (16:9)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Times New Roman</vt:lpstr>
      <vt:lpstr>Lato</vt:lpstr>
      <vt:lpstr>Calibri</vt:lpstr>
      <vt:lpstr>Vladimir Script</vt:lpstr>
      <vt:lpstr>Arial</vt:lpstr>
      <vt:lpstr>Cambria</vt:lpstr>
      <vt:lpstr>Arial Black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Abhishek Thakur</cp:lastModifiedBy>
  <cp:revision>74</cp:revision>
  <dcterms:modified xsi:type="dcterms:W3CDTF">2026-05-15T07:45:46Z</dcterms:modified>
</cp:coreProperties>
</file>
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309" r:id="rId2"/>
    <p:sldId id="310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18" r:id="rId11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3"/>
    </p:embeddedFont>
    <p:embeddedFont>
      <p:font typeface="Cambria" panose="02040503050406030204" pitchFamily="18" charset="0"/>
      <p:regular r:id="rId14"/>
      <p:bold r:id="rId15"/>
      <p:italic r:id="rId16"/>
      <p:boldItalic r:id="rId17"/>
    </p:embeddedFon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Vladimir Script" panose="03050402040407070305" pitchFamily="66" charset="0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62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  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hanacademy.org/computing/computer-science/algorithms" TargetMode="External"/><Relationship Id="rId2" Type="http://schemas.openxmlformats.org/officeDocument/2006/relationships/hyperlink" Target="https://www.geeksforgeeks.org/asymptotic-notations/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9199" y="394320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63765" y="802415"/>
            <a:ext cx="8065886" cy="4285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ENGINEERING AND TECHNOLOGY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TT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Engineering (B.E.) – CSE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Advanced Data Structures / Semester 3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(CS221)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1                      Chapter No. 1.1                   Lecture No. 3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Introduction to Sorting; Algorithm Complexity, Time-Space Tradeoff &amp; Asymptotic Notations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Abhishek Thakur (E19789)				Technical Trainer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Soura</a:t>
            </a:r>
            <a:r>
              <a:rPr 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v Jaiswal (E19756)-MSC				Technical Trainer</a:t>
            </a:r>
            <a:endParaRPr lang="en-US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2026-27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ODD Semester July-Dec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50842" y="218172"/>
            <a:ext cx="8974401" cy="444600"/>
            <a:chOff x="-452851" y="6299"/>
            <a:chExt cx="6033785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-452851" y="28003"/>
              <a:ext cx="6012081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2BF4C75-B6D5-0F71-7046-B3B05669B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82F60C0-9493-6D30-C2FB-A190B5DAFBD4}"/>
              </a:ext>
            </a:extLst>
          </p:cNvPr>
          <p:cNvSpPr txBox="1"/>
          <p:nvPr/>
        </p:nvSpPr>
        <p:spPr>
          <a:xfrm>
            <a:off x="83125" y="1082770"/>
            <a:ext cx="8942119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Understand sorting and why it is essential in computing.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Explain algorithm complexity in terms of time and space.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Describe the Time-Space Tradeoff with practical programming examples.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Apply Big-O, Omega, and Theta notations to classify algorithm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Introduction to Sorting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7" y="1101387"/>
            <a:ext cx="8942119" cy="241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Sorting: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Arranging data elements in a specific order — ascending or descending.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Why sort: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Binary search requires sorted data; sorted data enables faster processing.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Comparison-based: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Bubble, Selection, Insertion — O(n²); Merge, Quick Sort — O(n log n).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Non-comparison: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Counting Sort, Radix Sort, Bucket Sort — can achieve O(n).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Stability: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 stable sort preserves the relative order of equal elements.</a:t>
            </a:r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353" y="3616349"/>
            <a:ext cx="6153293" cy="15271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83127" y="218172"/>
            <a:ext cx="8977745" cy="711186"/>
            <a:chOff x="0" y="6299"/>
            <a:chExt cx="5663337" cy="711186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125811" y="31629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Asymptotic Notations: Big-O, Omega, Theta &amp; Time-Space Tradeoff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3079442-C689-D16E-FD88-DB3177282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340" y="1688611"/>
            <a:ext cx="6874690" cy="31509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83127" y="218172"/>
            <a:ext cx="8847117" cy="562717"/>
            <a:chOff x="0" y="6299"/>
            <a:chExt cx="5580934" cy="562717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21703" y="167824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Common Time Complexities — Reference Table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3079442-C689-D16E-FD88-DB3177282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5CA01FA-06C1-B691-2467-D2AFA3915D19}"/>
              </a:ext>
            </a:extLst>
          </p:cNvPr>
          <p:cNvSpPr txBox="1"/>
          <p:nvPr/>
        </p:nvSpPr>
        <p:spPr>
          <a:xfrm>
            <a:off x="83127" y="1089512"/>
            <a:ext cx="52707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/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04" y="1138112"/>
            <a:ext cx="7871592" cy="36078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8E7EC62-47A6-0446-A91D-ECD79632D1B7}"/>
              </a:ext>
            </a:extLst>
          </p:cNvPr>
          <p:cNvGrpSpPr/>
          <p:nvPr/>
        </p:nvGrpSpPr>
        <p:grpSpPr>
          <a:xfrm>
            <a:off x="83127" y="218172"/>
            <a:ext cx="894211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4C941DB-8239-E100-09AC-A9EFDD19976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6925805-914E-BA70-5D3C-8341ECCFCA4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Summary of the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A8A9E1A-C5D3-C012-9EAF-104944754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F2DF282-8D00-4EFA-4D08-6B9ABBAA7A52}"/>
              </a:ext>
            </a:extLst>
          </p:cNvPr>
          <p:cNvSpPr txBox="1"/>
          <p:nvPr/>
        </p:nvSpPr>
        <p:spPr>
          <a:xfrm>
            <a:off x="83127" y="1101387"/>
            <a:ext cx="894211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Sorting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arranges data for efficient searching, analysis, and further processing.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Time complexity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counts operations; space complexity measures memory as n grows.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Big-O: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upper bound (worst case). </a:t>
            </a: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Omega: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lower bound (best case). </a:t>
            </a: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Theta: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tight bound.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Time-Space Tradeoff: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extra memory can reduce execution time (e.g. memoisation/DP).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Selecting the right </a:t>
            </a: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algorithm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requires balancing time and space for the given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5D0218A6-9BF1-9083-EB88-7F511EEA18C0}"/>
              </a:ext>
            </a:extLst>
          </p:cNvPr>
          <p:cNvGrpSpPr/>
          <p:nvPr/>
        </p:nvGrpSpPr>
        <p:grpSpPr>
          <a:xfrm>
            <a:off x="0" y="218172"/>
            <a:ext cx="9025246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7463C9E-EE99-A9D7-FCED-1185005F48F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7989E15-3DCD-C8F4-3603-7387C0C582C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Next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21A92BF-2EAE-86ED-1A52-97FD472F5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EC51C08-00CA-303F-88CF-6761C177812F}"/>
              </a:ext>
            </a:extLst>
          </p:cNvPr>
          <p:cNvSpPr txBox="1"/>
          <p:nvPr/>
        </p:nvSpPr>
        <p:spPr>
          <a:xfrm>
            <a:off x="83127" y="1101387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Linear Arrays – memory representation, address computation, and traversal algorithm.</a:t>
            </a:r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478" y="2571750"/>
            <a:ext cx="6167043" cy="19573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68752" y="218172"/>
            <a:ext cx="8956493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FAQ's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Q1. Explain Big-O, Omega, and Theta notations with one example each.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Q2. What is the Time-Space Tradeoff? Give a real programming example.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Q3. Which sorting algorithm has O(n²) worst case? Which has O(n log n) worst case?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References/ Articles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101387"/>
            <a:ext cx="8942119" cy="2834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Cormen et al., Introduction to Algorithms (CLRS), 3rd Ed., MIT Press.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GeeksforGeeks – Asymptotic Notations: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  <a:hlinkClick r:id="rId2"/>
              </a:rPr>
              <a:t>https://www.geeksforgeeks.org/asymptotic-notations/</a:t>
            </a:r>
            <a:endParaRPr lang="en-US" sz="280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Arial"/>
            </a:endParaRP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Khan Academy – Algorithms: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  <a:hlinkClick r:id="rId3"/>
              </a:rPr>
              <a:t>https://www.khanacademy.org/computing/computer-science/algorithms</a:t>
            </a:r>
            <a:endParaRPr lang="en-US" sz="280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abhishek.e19789@cumail.in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</TotalTime>
  <Words>463</Words>
  <Application>Microsoft Office PowerPoint</Application>
  <PresentationFormat>On-screen Show (16:9)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Times New Roman</vt:lpstr>
      <vt:lpstr>Calibri</vt:lpstr>
      <vt:lpstr>Vladimir Script</vt:lpstr>
      <vt:lpstr>Arial</vt:lpstr>
      <vt:lpstr>Cambria</vt:lpstr>
      <vt:lpstr>Arial Black</vt:lpstr>
      <vt:lpstr>Lato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Abhishek Thakur</cp:lastModifiedBy>
  <cp:revision>75</cp:revision>
  <dcterms:modified xsi:type="dcterms:W3CDTF">2026-05-15T07:28:02Z</dcterms:modified>
</cp:coreProperties>
</file>
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309" r:id="rId2"/>
    <p:sldId id="310" r:id="rId3"/>
    <p:sldId id="333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4" r:id="rId24"/>
    <p:sldId id="330" r:id="rId25"/>
    <p:sldId id="331" r:id="rId26"/>
    <p:sldId id="332" r:id="rId2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Vladimir Script" panose="03050402040407070305" pitchFamily="66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 autoAdjust="0"/>
    <p:restoredTop sz="94660"/>
  </p:normalViewPr>
  <p:slideViewPr>
    <p:cSldViewPr snapToGrid="0">
      <p:cViewPr>
        <p:scale>
          <a:sx n="123" d="100"/>
          <a:sy n="123" d="100"/>
        </p:scale>
        <p:origin x="235" y="1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ocw.mit.edu/6-006" TargetMode="External"/><Relationship Id="rId2" Type="http://schemas.openxmlformats.org/officeDocument/2006/relationships/hyperlink" Target="https://www.geeksforgeeks.org/advanced-data-structures/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(CS220)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 Study — Unit 1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Algorithm Analysis and Tree Data Structures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Self Study Topics — Unit 1 Overview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Amortized Analysis: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Aggregate, Accounting, and Potential Methods — analysing average cost over a sequence of operations.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Advanced Recurrences: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Master Theorem (3 cases), Substitution Method, Akra-Bazzi Method, Recursion Tree.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Threaded Binary Trees: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Replacing NULL pointers with threads for stack-free inorder traversal.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Red-Black Trees: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Self-balancing BST with 5 properties, rotations, and O(log n) guaranteed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56F1D-EA00-1C03-243E-5578B8BBF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EF66E48-A8FA-EF26-BAC1-CA412FED3C2E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2721B99-6FAB-8966-1C66-AB3583544B7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278CD6E-575F-C1DC-D074-1214057F6573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Self Study Topics — Unit 1 Overview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1DB9AC8-87BC-68B8-A5BB-F454138E04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67960AC-7541-326F-84C3-63CB0E3A6DF9}"/>
              </a:ext>
            </a:extLst>
          </p:cNvPr>
          <p:cNvSpPr txBox="1"/>
          <p:nvPr/>
        </p:nvSpPr>
        <p:spPr>
          <a:xfrm>
            <a:off x="83125" y="1082770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B-Trees and B+ Trees: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Multi-way balanced trees; B+ leaf-linking for efficient range queries (used in databases).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Splay Trees: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Self-adjusting BST; recently accessed nodes splayed to root for temporal locality.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Expression Trees: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Binary trees representing expressions; traversals yield prefix, infix, postfix notations.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Huffman Trees: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Optimal prefix-free encoding built greedily using min-heap; used in data compression.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Space-Time Trade-offs: 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Memoisation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, hash tables, in-place sorting — choosing the right balance for context.</a:t>
            </a:r>
          </a:p>
        </p:txBody>
      </p:sp>
    </p:spTree>
    <p:extLst>
      <p:ext uri="{BB962C8B-B14F-4D97-AF65-F5344CB8AC3E}">
        <p14:creationId xmlns:p14="http://schemas.microsoft.com/office/powerpoint/2010/main" val="287128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Amortized Analysis — Concept and Motivation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Definition: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Amortized analysis gives the average cost per operation over a worst-case sequence of n operations — not a probabilistic average.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Why needed: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Some operations are occasionally expensive (e.g. dynamic array doubling) but rarely so. Worst-case per-op analysis is too pessimistic.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Aggregate method: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Compute total cost T(n) of n operations; amortized cost = T(n)/n.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Accounting method: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Assign amortized charges; excess charge = credit stored for future expensive operations</a:t>
            </a:r>
            <a:r>
              <a:rPr lang="en-US" sz="28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315379" y="349156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Amortized Analysis — Three Methods with Dynamic Array Example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9" y="1236424"/>
            <a:ext cx="8001001" cy="366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Advanced Recurrence Relations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Master Theorem: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Solves T(n) = aT(n/b) + f(n). Three cases based on comparison of f(n) with n^(log_b a).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Case 1: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If f(n) = O(n^c) where c &lt; log_b(a), then T(n) = Theta(n^(log_b a)). Recursion dominates.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Case 2: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If f(n) = Theta(n^c * log^k n) where c = log_b(a), then T(n) = Theta(n^c * log^(k+1) n).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Case 3: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If f(n) = Omega(n^c) where c &gt; log_b(a) (and regularity holds), then T(n) = Theta(f(n)).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Beyond MT: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Substitution (guess + induction) and Akra-Bazzi for non-uniform sub-problem sizes.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385500" y="284821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Master Theorem, Cases and Recursion Tree Method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77" y="1067808"/>
            <a:ext cx="7785816" cy="3568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Threaded Binary Trees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Problem: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 a binary tree with n nodes, n+1 out of 2n pointer fields are NULL — wasted memory.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Threading: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Replace NULL right pointer with pointer to inorder successor; NULL left pointer with inorder predecessor.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Right-threaded: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Only right NULLs are replaced. Enables efficient inorder traversal without a stack.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Full threading: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Both left and right NULLs replaced. A header node is used as sentinel.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9142393" cy="504488"/>
            <a:chOff x="0" y="6299"/>
            <a:chExt cx="5767200" cy="504488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29674" y="1095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Threaded Binary Tree — Normal BST vs Threaded BST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09" y="1140484"/>
            <a:ext cx="7704951" cy="35315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152790"/>
            <a:ext cx="9238964" cy="509982"/>
            <a:chOff x="0" y="-59083"/>
            <a:chExt cx="5713091" cy="50998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175565" y="-5908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Red-Black Trees — Self-Balancing BST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Definition: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 BST where each node is coloured RED or BLACK, satisfying 5 properties that keep the tree balanced.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Height guarantee: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Height is at most 2*log2(n+1), ensuring O(log n) for search, insert, delete.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Insert fix-up: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New node inserted as RED. Fix violations using recolouring and rotations (at most 2).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Delete fix-up: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Removing a BLACK node may violate black-height. Fixed by at most 3 rotations.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309746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Red-Black Tree — Properties and Rebalancing Operations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65" y="1206251"/>
            <a:ext cx="7680069" cy="35201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144001" cy="485381"/>
            <a:chOff x="0" y="6299"/>
            <a:chExt cx="5654369" cy="485381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116843" y="90488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B-Trees and B+ Trees — Multi-way Balanced Trees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B-Tree of order 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Every node has at most m children. All leaves at the same depth. Min ceil(m/2) children per non-root node.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B-Tree search: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O(log_m n) I/O operations. Wide branching factor minimises disk accesses.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B+ Tree difference: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Internal nodes store only keys (routing); ALL data records stored only in leaf nodes.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Leaf linking: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Leaf nodes of B+ tree are connected as a doubly linked list — enables fast range queries.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309746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B-Tree vs B+ Tree — Structure, Properties and Comparison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76" y="1089512"/>
            <a:ext cx="8215024" cy="37652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Splay Trees — Self-Adjusting BST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Splay operation: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After accessing a node x, rotate x to the root using a sequence of zig, zig-zig, or zig-zag steps.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Temporal locality: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Recently accessed nodes stay near the root — fast re-access. Exploits real-world access patterns.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Zig: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x is child of root; single rotation brings x to root.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Zig-zig: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x and parent are both left (or both right) children; rotate parent first, then x.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Zig-zag: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x and parent are opposite children; rotate x twice (same as AVL double rotation).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385500" y="289441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Splay Tree — Splaying a Deep Node to Root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69" y="1079793"/>
            <a:ext cx="7860461" cy="36027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640702" y="218172"/>
            <a:ext cx="8384543" cy="522422"/>
            <a:chOff x="0" y="6299"/>
            <a:chExt cx="5580934" cy="52242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3" y="12752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Expression Trees and Tree Applications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Expression tree: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 binary tree where leaves are operands (numbers/variables) and internal nodes are operators.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Building: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Parse postfix expression using a stack. Push operands; for each operator pop two, create subtree, push back.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Evaluation: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Postorder traversal evaluates the expression (left subtree, right subtree, apply operator at root).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Traversal results: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Inorder = infix (with parentheses); Preorder = prefix; Postorder = postfix (RPN).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632439" y="218172"/>
            <a:ext cx="8297805" cy="485331"/>
            <a:chOff x="0" y="6299"/>
            <a:chExt cx="5580934" cy="485331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3" y="90438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Expression Tree — Build, Traverse and Evaluate (3+5)*(8-2)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39" y="1089512"/>
            <a:ext cx="7879122" cy="36113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509982"/>
            <a:chOff x="0" y="6299"/>
            <a:chExt cx="5580934" cy="50998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11508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Huffman Trees — Optimal Data Compression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Goal: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Assign shorter codes to more frequent characters and longer codes to rarer characters (variable-length encoding).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Prefix-free: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No code is a prefix of another code — enables unambiguous decoding without separators.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Use a min-priority queue. Repeatedly merge two lowest-frequency nodes into a new internal node.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Greedy proof: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Huffman coding is provably optimal — no prefix-free code produces a shorter total encoding.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696686" y="309746"/>
            <a:ext cx="8233558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Huffman Tree — Frequency Table, Tree Build and Code Assignment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00" y="1089512"/>
            <a:ext cx="8001000" cy="36671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144001" cy="463311"/>
            <a:chOff x="0" y="6299"/>
            <a:chExt cx="5654369" cy="463311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116843" y="68418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Space-Time Trade-offs in Algorithms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Core idea: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Algorithms can often be made faster by using more memory, or more memory-efficient by doing more computation.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More space, less time: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Memoisation (DP), hash tables, precomputed lookup tables, indexed data structures.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Less space, more time: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In-place sorting (Bubble, Heap Sort), streaming algorithms, compression with decompression on access.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KMP example: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O(m) failure function table built once, enables O(n+m) pattern matching vs O(nm) naive.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8977745" cy="511288"/>
            <a:chOff x="0" y="6299"/>
            <a:chExt cx="5663337" cy="511288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125811" y="1163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Space-Time Trade-offs — Taxonomy, Examples and Decision Framework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50" y="1089512"/>
            <a:ext cx="8303500" cy="38058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Self Study Topics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Amortized Analysis: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aggregate, accounting, and potential methods give O(1) amortized cost for dynamic array pushes.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Master Theorem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solves T(n)=aT(n/b)+f(n) in 3 cases; substitution and Akra-Bazzi handle other forms.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Threaded Binary Trees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replace NULL pointers with inorder successor/predecessor links for O(1)-space traversal.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Red-Black Trees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guarantee O(log n) via 5 colouring properties and at most 3 rotations per operation.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B2C9-68F0-1F86-B25A-3A0F9886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8F1252D-B4B6-9C10-C6CB-E803171135B5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94384DC-840F-9F9E-1900-88059983B77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B011E01-DF98-ACCE-478E-3E2DEA730A9F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Self Study Topics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3E421D5-D0C4-7207-EF9B-223433321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5F189FD9-A2B2-C27E-B9FB-1E08FC83C71A}"/>
              </a:ext>
            </a:extLst>
          </p:cNvPr>
          <p:cNvSpPr txBox="1"/>
          <p:nvPr/>
        </p:nvSpPr>
        <p:spPr>
          <a:xfrm>
            <a:off x="83127" y="1101387"/>
            <a:ext cx="89421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Splay Trees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achieve O(log n) amortized by splaying accessed nodes to root; exploits temporal locality.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Expression Trees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encode arithmetic expressions; traversals produce prefix, infix, and postfix notations.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Huffman Trees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build optimal prefix-free codes greedily; used in ZIP, JPEG, MP3 compression.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Space-Time Trade-offs: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choose memoisation, hash tables, or in-place algorithms based on resource constraints.</a:t>
            </a:r>
          </a:p>
        </p:txBody>
      </p:sp>
    </p:spTree>
    <p:extLst>
      <p:ext uri="{BB962C8B-B14F-4D97-AF65-F5344CB8AC3E}">
        <p14:creationId xmlns:p14="http://schemas.microsoft.com/office/powerpoint/2010/main" val="2182528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Self Study Questions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Prove that the amortized cost of a push on a dynamic array (with doubling) is O(1) using the accounting method.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Apply the Master Theorem to: (a) T(n)=4T(n/2)+n  (b) T(n)=2T(n/2)+n log n  (c) T(n)=3T(n/3)+n^2.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Explain the 5 properties of a Red-Black Tree. Show a valid RB Tree with 7 nodes.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Q4. Differentiate B-Tree and B+ Tree with respect to data storage, leaf linking, and range query efficiency.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Q5. Build a Huffman Tree for: a=5, b=2, c=1, d=3, e=8. Write the binary codes for each character.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Q6. Describe the zig, zig-zig, and zig-zag splay cases. What is the amortized complexity of a splay operation?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Q7. Given the postfix expression: 3 4 + 2 * 7 -, draw the expression tree and evaluate it.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Q8. Compare in-place sorting (Bubble Sort) vs Merge Sort in terms of the space-time trade-off.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Articles/ Videos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Cormen, Leiserson, Rivest, Stein — Introduction to Algorithms (CLRS), 3rd Ed., MIT Press.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Knuth — The Art of Computer Programming, Vol. 3 (Sorting and Searching).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— Self Study: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https://www.geeksforgeeks.org/advanced-data-structures/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MIT OpenCourseWare 6.006 — Introduction to Algorithms: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3"/>
              </a:rPr>
              <a:t>https://ocw.mit.edu/6-006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Visualgo —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3"/>
              </a:rPr>
              <a:t>Tree Visualisations: https://visualgo.net/en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</TotalTime>
  <Words>1800</Words>
  <Application>Microsoft Office PowerPoint</Application>
  <PresentationFormat>On-screen Show (16:9)</PresentationFormat>
  <Paragraphs>136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Times New Roman</vt:lpstr>
      <vt:lpstr>Calibri</vt:lpstr>
      <vt:lpstr>Vladimir Script</vt:lpstr>
      <vt:lpstr>Lato</vt:lpstr>
      <vt:lpstr>Arial</vt:lpstr>
      <vt:lpstr>Cambria</vt:lpstr>
      <vt:lpstr>Arial Black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74</cp:revision>
  <dcterms:modified xsi:type="dcterms:W3CDTF">2026-05-15T08:08:24Z</dcterms:modified>
</cp:coreProperties>
</file>